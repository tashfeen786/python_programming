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8229600" cx="14630400"/>
  <p:notesSz cx="8229600" cy="14630400"/>
  <p:embeddedFontLst>
    <p:embeddedFont>
      <p:font typeface="Platypi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RPSt9gxquuevqBNAOusHRrJTN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latypiMedium-bold.fntdata"/><Relationship Id="rId21" Type="http://schemas.openxmlformats.org/officeDocument/2006/relationships/font" Target="fonts/PlatypiMedium-regular.fntdata"/><Relationship Id="rId24" Type="http://schemas.openxmlformats.org/officeDocument/2006/relationships/font" Target="fonts/PlatypiMedium-boldItalic.fntdata"/><Relationship Id="rId23" Type="http://schemas.openxmlformats.org/officeDocument/2006/relationships/font" Target="fonts/Platypi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/>
          <p:nvPr/>
        </p:nvSpPr>
        <p:spPr>
          <a:xfrm>
            <a:off x="6280190" y="201203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09:</a:t>
            </a:r>
            <a:endParaRPr b="0" i="0" sz="4450" u="none" cap="none" strike="noStrike"/>
          </a:p>
        </p:txBody>
      </p:sp>
      <p:sp>
        <p:nvSpPr>
          <p:cNvPr id="66" name="Google Shape;66;p1"/>
          <p:cNvSpPr/>
          <p:nvPr/>
        </p:nvSpPr>
        <p:spPr>
          <a:xfrm>
            <a:off x="6280190" y="30609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User-Defined Functions in Python</a:t>
            </a:r>
            <a:endParaRPr b="0" i="0" sz="4450" u="none" cap="none" strike="noStrike"/>
          </a:p>
        </p:txBody>
      </p:sp>
      <p:pic>
        <p:nvPicPr>
          <p:cNvPr descr="preencoded.png" id="67" name="Google Shape;6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4818698"/>
            <a:ext cx="1398746" cy="1398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" name="Google Shape;6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793790" y="229469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a Function?</a:t>
            </a:r>
            <a:endParaRPr b="0" i="0" sz="445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793790" y="359878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972503" y="3683794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78" name="Google Shape;78;p2"/>
          <p:cNvSpPr/>
          <p:nvPr/>
        </p:nvSpPr>
        <p:spPr>
          <a:xfrm>
            <a:off x="1530906" y="3598783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is a reusable block of code designed to perform a specific task.</a:t>
            </a:r>
            <a:endParaRPr b="0" i="0" sz="1750" u="none" cap="none" strike="noStrike"/>
          </a:p>
        </p:txBody>
      </p:sp>
      <p:sp>
        <p:nvSpPr>
          <p:cNvPr id="79" name="Google Shape;79;p2"/>
          <p:cNvSpPr/>
          <p:nvPr/>
        </p:nvSpPr>
        <p:spPr>
          <a:xfrm>
            <a:off x="4685467" y="359878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4830723" y="3683794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81" name="Google Shape;81;p2"/>
          <p:cNvSpPr/>
          <p:nvPr/>
        </p:nvSpPr>
        <p:spPr>
          <a:xfrm>
            <a:off x="5422583" y="3598783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Functions help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reduce repetition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and make code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organized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/>
          </a:p>
        </p:txBody>
      </p:sp>
      <p:sp>
        <p:nvSpPr>
          <p:cNvPr id="82" name="Google Shape;82;p2"/>
          <p:cNvSpPr/>
          <p:nvPr/>
        </p:nvSpPr>
        <p:spPr>
          <a:xfrm>
            <a:off x="793790" y="516945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942737" y="5254466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84" name="Google Shape;84;p2"/>
          <p:cNvSpPr/>
          <p:nvPr/>
        </p:nvSpPr>
        <p:spPr>
          <a:xfrm>
            <a:off x="1530906" y="516945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They can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take inputs (parameters)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and return outputs (results).</a:t>
            </a:r>
            <a:endParaRPr b="0" i="0" sz="1750" u="none" cap="none" strike="noStrike"/>
          </a:p>
        </p:txBody>
      </p:sp>
      <p:pic>
        <p:nvPicPr>
          <p:cNvPr descr="preencoded.png" id="85" name="Google Shape;8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793790" y="1346359"/>
            <a:ext cx="995898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to Define a Function in Python</a:t>
            </a:r>
            <a:endParaRPr b="0" i="0" sz="445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793790" y="2508766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020604" y="27355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1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</a:t>
            </a:r>
            <a:endParaRPr b="0" i="0" sz="2200" u="none" cap="none" strike="noStrike"/>
          </a:p>
        </p:txBody>
      </p:sp>
      <p:sp>
        <p:nvSpPr>
          <p:cNvPr id="94" name="Google Shape;94;p3"/>
          <p:cNvSpPr/>
          <p:nvPr/>
        </p:nvSpPr>
        <p:spPr>
          <a:xfrm>
            <a:off x="1020604" y="3225998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Defines the function.</a:t>
            </a:r>
            <a:endParaRPr b="0" i="0" sz="1750" u="none" cap="none" strike="noStrike"/>
          </a:p>
        </p:txBody>
      </p:sp>
      <p:sp>
        <p:nvSpPr>
          <p:cNvPr id="95" name="Google Shape;95;p3"/>
          <p:cNvSpPr/>
          <p:nvPr/>
        </p:nvSpPr>
        <p:spPr>
          <a:xfrm>
            <a:off x="7428667" y="2508766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7655481" y="27355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 Name</a:t>
            </a:r>
            <a:endParaRPr b="0" i="0" sz="2200" u="none" cap="none" strike="noStrike"/>
          </a:p>
        </p:txBody>
      </p:sp>
      <p:sp>
        <p:nvSpPr>
          <p:cNvPr id="97" name="Google Shape;97;p3"/>
          <p:cNvSpPr/>
          <p:nvPr/>
        </p:nvSpPr>
        <p:spPr>
          <a:xfrm>
            <a:off x="7655481" y="3225998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Unique identifier for the function.</a:t>
            </a:r>
            <a:endParaRPr b="0" i="0" sz="1750" u="none" cap="none" strike="noStrike"/>
          </a:p>
        </p:txBody>
      </p:sp>
      <p:sp>
        <p:nvSpPr>
          <p:cNvPr id="98" name="Google Shape;98;p3"/>
          <p:cNvSpPr/>
          <p:nvPr/>
        </p:nvSpPr>
        <p:spPr>
          <a:xfrm>
            <a:off x="793790" y="4042529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020604" y="4269343"/>
            <a:ext cx="300799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Parameters (optional)</a:t>
            </a:r>
            <a:endParaRPr b="0" i="0" sz="220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1020604" y="4759762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Inputs to the function.</a:t>
            </a:r>
            <a:endParaRPr b="0" i="0" sz="1750" u="none" cap="none" strike="noStrike"/>
          </a:p>
        </p:txBody>
      </p:sp>
      <p:sp>
        <p:nvSpPr>
          <p:cNvPr id="101" name="Google Shape;101;p3"/>
          <p:cNvSpPr/>
          <p:nvPr/>
        </p:nvSpPr>
        <p:spPr>
          <a:xfrm>
            <a:off x="7428667" y="4042529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655481" y="42693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 Body</a:t>
            </a:r>
            <a:endParaRPr b="0" i="0" sz="220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7655481" y="4759762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Instructions inside the function.</a:t>
            </a:r>
            <a:endParaRPr b="0" i="0" sz="1750" u="none" cap="none" strike="noStrike"/>
          </a:p>
        </p:txBody>
      </p:sp>
      <p:sp>
        <p:nvSpPr>
          <p:cNvPr id="104" name="Google Shape;104;p3"/>
          <p:cNvSpPr/>
          <p:nvPr/>
        </p:nvSpPr>
        <p:spPr>
          <a:xfrm>
            <a:off x="793790" y="5576292"/>
            <a:ext cx="130428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1020604" y="5803106"/>
            <a:ext cx="39131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Return Statement (optional)</a:t>
            </a:r>
            <a:endParaRPr b="0" i="0" sz="2200" u="none" cap="none" strike="noStrike"/>
          </a:p>
        </p:txBody>
      </p:sp>
      <p:sp>
        <p:nvSpPr>
          <p:cNvPr id="106" name="Google Shape;106;p3"/>
          <p:cNvSpPr/>
          <p:nvPr/>
        </p:nvSpPr>
        <p:spPr>
          <a:xfrm>
            <a:off x="1020604" y="6293525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Sends data back to the caller.</a:t>
            </a:r>
            <a:endParaRPr b="0" i="0" sz="1750" u="none" cap="none" strike="noStrike"/>
          </a:p>
        </p:txBody>
      </p:sp>
      <p:pic>
        <p:nvPicPr>
          <p:cNvPr descr="preencoded.pn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793790" y="1879283"/>
            <a:ext cx="851320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 – Defining a Function</a:t>
            </a:r>
            <a:endParaRPr b="0" i="0" sz="4450" u="none" cap="none" strike="noStrike"/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041690"/>
            <a:ext cx="3260646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1020604" y="4289108"/>
            <a:ext cx="28070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 Name</a:t>
            </a:r>
            <a:endParaRPr b="0" i="0" sz="2200" u="none" cap="none" strike="noStrike"/>
          </a:p>
        </p:txBody>
      </p:sp>
      <p:sp>
        <p:nvSpPr>
          <p:cNvPr id="116" name="Google Shape;116;p4"/>
          <p:cNvSpPr/>
          <p:nvPr/>
        </p:nvSpPr>
        <p:spPr>
          <a:xfrm>
            <a:off x="1020604" y="4779526"/>
            <a:ext cx="280701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 function "add" as our reusable logic block</a:t>
            </a:r>
            <a:endParaRPr b="0" i="0" sz="1750" u="none" cap="none" strike="noStrike"/>
          </a:p>
        </p:txBody>
      </p:sp>
      <p:pic>
        <p:nvPicPr>
          <p:cNvPr descr="preencoded.png" id="117" name="Google Shape;1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435" y="3041690"/>
            <a:ext cx="326076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4281249" y="4289108"/>
            <a:ext cx="280713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Parameters</a:t>
            </a:r>
            <a:endParaRPr b="0" i="0" sz="2200" u="none" cap="none" strike="noStrike"/>
          </a:p>
        </p:txBody>
      </p:sp>
      <p:sp>
        <p:nvSpPr>
          <p:cNvPr id="119" name="Google Shape;119;p4"/>
          <p:cNvSpPr/>
          <p:nvPr/>
        </p:nvSpPr>
        <p:spPr>
          <a:xfrm>
            <a:off x="4281249" y="4779526"/>
            <a:ext cx="280713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Accept two inputs: num1 and num2</a:t>
            </a:r>
            <a:endParaRPr b="0" i="0" sz="1750" u="none" cap="none" strike="noStrike"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3041690"/>
            <a:ext cx="3260646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7542014" y="4289108"/>
            <a:ext cx="28070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Operation</a:t>
            </a:r>
            <a:endParaRPr b="0" i="0" sz="2200" u="none" cap="none" strike="noStrike"/>
          </a:p>
        </p:txBody>
      </p:sp>
      <p:sp>
        <p:nvSpPr>
          <p:cNvPr id="122" name="Google Shape;122;p4"/>
          <p:cNvSpPr/>
          <p:nvPr/>
        </p:nvSpPr>
        <p:spPr>
          <a:xfrm>
            <a:off x="7542014" y="4779526"/>
            <a:ext cx="280701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Add num1 and num2 together</a:t>
            </a:r>
            <a:endParaRPr b="0" i="0" sz="1750" u="none" cap="none" strike="noStrike"/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5846" y="3041690"/>
            <a:ext cx="326076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10802660" y="4289108"/>
            <a:ext cx="280713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Return</a:t>
            </a:r>
            <a:endParaRPr b="0" i="0" sz="2200" u="none" cap="none" strike="noStrike"/>
          </a:p>
        </p:txBody>
      </p:sp>
      <p:sp>
        <p:nvSpPr>
          <p:cNvPr id="125" name="Google Shape;125;p4"/>
          <p:cNvSpPr/>
          <p:nvPr/>
        </p:nvSpPr>
        <p:spPr>
          <a:xfrm>
            <a:off x="10802660" y="4779526"/>
            <a:ext cx="280713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Output the sum of the numbers</a:t>
            </a:r>
            <a:endParaRPr b="0" i="0" sz="1750" u="none" cap="none" strike="noStrike"/>
          </a:p>
        </p:txBody>
      </p:sp>
      <p:sp>
        <p:nvSpPr>
          <p:cNvPr id="126" name="Google Shape;126;p4"/>
          <p:cNvSpPr/>
          <p:nvPr/>
        </p:nvSpPr>
        <p:spPr>
          <a:xfrm>
            <a:off x="793790" y="598729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Reusable logic for addition operations</a:t>
            </a:r>
            <a:endParaRPr b="0" i="0" sz="1750" u="none" cap="none" strike="noStrike"/>
          </a:p>
        </p:txBody>
      </p:sp>
      <p:pic>
        <p:nvPicPr>
          <p:cNvPr descr="preencoded.png" id="127" name="Google Shape;12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6280190" y="161698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Calling a Function</a:t>
            </a:r>
            <a:endParaRPr b="0" i="0" sz="445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6280190" y="2665928"/>
            <a:ext cx="7556421" cy="816531"/>
          </a:xfrm>
          <a:prstGeom prst="roundRect">
            <a:avLst>
              <a:gd fmla="val 41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507004" y="2892743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Calling a function executes its code.</a:t>
            </a:r>
            <a:endParaRPr b="0" i="0" sz="1750" u="none" cap="none" strike="noStrike"/>
          </a:p>
        </p:txBody>
      </p:sp>
      <p:sp>
        <p:nvSpPr>
          <p:cNvPr id="137" name="Google Shape;137;p5"/>
          <p:cNvSpPr/>
          <p:nvPr/>
        </p:nvSpPr>
        <p:spPr>
          <a:xfrm>
            <a:off x="6280190" y="3709273"/>
            <a:ext cx="7556421" cy="816531"/>
          </a:xfrm>
          <a:prstGeom prst="roundRect">
            <a:avLst>
              <a:gd fmla="val 41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6507004" y="3936087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add(2, 4) → Returns 6.</a:t>
            </a:r>
            <a:endParaRPr b="0" i="0" sz="1750" u="none" cap="none" strike="noStrike"/>
          </a:p>
        </p:txBody>
      </p:sp>
      <p:sp>
        <p:nvSpPr>
          <p:cNvPr id="139" name="Google Shape;139;p5"/>
          <p:cNvSpPr/>
          <p:nvPr/>
        </p:nvSpPr>
        <p:spPr>
          <a:xfrm>
            <a:off x="6280190" y="4752618"/>
            <a:ext cx="7556421" cy="816531"/>
          </a:xfrm>
          <a:prstGeom prst="roundRect">
            <a:avLst>
              <a:gd fmla="val 41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507004" y="4979432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Helps in reducing redundant code.</a:t>
            </a:r>
            <a:endParaRPr b="0" i="0" sz="1750" u="none" cap="none" strike="noStrike"/>
          </a:p>
        </p:txBody>
      </p:sp>
      <p:sp>
        <p:nvSpPr>
          <p:cNvPr id="141" name="Google Shape;141;p5"/>
          <p:cNvSpPr/>
          <p:nvPr/>
        </p:nvSpPr>
        <p:spPr>
          <a:xfrm>
            <a:off x="6280190" y="5795963"/>
            <a:ext cx="7556421" cy="816531"/>
          </a:xfrm>
          <a:prstGeom prst="roundRect">
            <a:avLst>
              <a:gd fmla="val 41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507004" y="6022777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Simplifies large programs.</a:t>
            </a:r>
            <a:endParaRPr b="0" i="0" sz="1750" u="none" cap="none" strike="noStrike"/>
          </a:p>
        </p:txBody>
      </p:sp>
      <p:pic>
        <p:nvPicPr>
          <p:cNvPr descr="preencoded.png"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793790" y="2830473"/>
            <a:ext cx="861464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Functions Without Parameters</a:t>
            </a:r>
            <a:endParaRPr b="0" i="0" sz="4450" u="none" cap="none" strike="noStrike"/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87941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793790" y="4673203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Functions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be defined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without parameters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/>
          </a:p>
        </p:txBody>
      </p:sp>
      <p:pic>
        <p:nvPicPr>
          <p:cNvPr descr="preencoded.png" id="152" name="Google Shape;1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387941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5254704" y="4673203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greet() → Prints a welcome message.</a:t>
            </a:r>
            <a:endParaRPr b="0" i="0" sz="1750" u="none" cap="none" strike="noStrike"/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387941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9715738" y="4673203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Standard greetings, notifications.</a:t>
            </a:r>
            <a:endParaRPr b="0" i="0" sz="1750" u="none" cap="none" strike="noStrike"/>
          </a:p>
        </p:txBody>
      </p:sp>
      <p:pic>
        <p:nvPicPr>
          <p:cNvPr descr="preencoded.png" id="156" name="Google Shape;15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793790" y="1693664"/>
            <a:ext cx="574178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 Arguments</a:t>
            </a:r>
            <a:endParaRPr b="0" i="0" sz="445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793790" y="285607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Arguments allow functions to be dynamic.</a:t>
            </a:r>
            <a:endParaRPr b="0" i="0" sz="175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793790" y="372927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972503" y="3814286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166" name="Google Shape;166;p7"/>
          <p:cNvSpPr/>
          <p:nvPr/>
        </p:nvSpPr>
        <p:spPr>
          <a:xfrm>
            <a:off x="1530906" y="37292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Default Arguments</a:t>
            </a:r>
            <a:endParaRPr b="0" i="0" sz="2200" u="none" cap="none" strike="noStrike"/>
          </a:p>
        </p:txBody>
      </p:sp>
      <p:sp>
        <p:nvSpPr>
          <p:cNvPr id="167" name="Google Shape;167;p7"/>
          <p:cNvSpPr/>
          <p:nvPr/>
        </p:nvSpPr>
        <p:spPr>
          <a:xfrm>
            <a:off x="1530906" y="4219694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Have preset values.</a:t>
            </a:r>
            <a:endParaRPr b="0" i="0" sz="175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7428667" y="372927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573923" y="3814286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170" name="Google Shape;170;p7"/>
          <p:cNvSpPr/>
          <p:nvPr/>
        </p:nvSpPr>
        <p:spPr>
          <a:xfrm>
            <a:off x="8165783" y="3729276"/>
            <a:ext cx="286773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Keyword Arguments</a:t>
            </a:r>
            <a:endParaRPr b="0" i="0" sz="2200" u="none" cap="none" strike="noStrike"/>
          </a:p>
        </p:txBody>
      </p:sp>
      <p:sp>
        <p:nvSpPr>
          <p:cNvPr id="171" name="Google Shape;171;p7"/>
          <p:cNvSpPr/>
          <p:nvPr/>
        </p:nvSpPr>
        <p:spPr>
          <a:xfrm>
            <a:off x="8165783" y="4219694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Passed by name.</a:t>
            </a:r>
            <a:endParaRPr b="0" i="0" sz="175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793790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942737" y="5149572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174" name="Google Shape;174;p7"/>
          <p:cNvSpPr/>
          <p:nvPr/>
        </p:nvSpPr>
        <p:spPr>
          <a:xfrm>
            <a:off x="1530906" y="5064562"/>
            <a:ext cx="285809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Required Arguments</a:t>
            </a:r>
            <a:endParaRPr b="0" i="0" sz="220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1530906" y="5554980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Must be provided.</a:t>
            </a:r>
            <a:endParaRPr b="0" i="0" sz="175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7428667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7570470" y="5149572"/>
            <a:ext cx="226576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178" name="Google Shape;178;p7"/>
          <p:cNvSpPr/>
          <p:nvPr/>
        </p:nvSpPr>
        <p:spPr>
          <a:xfrm>
            <a:off x="8165783" y="5064562"/>
            <a:ext cx="384643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Variable-Length Arguments</a:t>
            </a:r>
            <a:endParaRPr b="0" i="0" sz="2200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8165783" y="5554980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Accept multiple values.</a:t>
            </a:r>
            <a:endParaRPr b="0" i="0" sz="1750" u="none" cap="none" strike="noStrike"/>
          </a:p>
        </p:txBody>
      </p:sp>
      <p:sp>
        <p:nvSpPr>
          <p:cNvPr id="180" name="Google Shape;180;p7"/>
          <p:cNvSpPr/>
          <p:nvPr/>
        </p:nvSpPr>
        <p:spPr>
          <a:xfrm>
            <a:off x="793790" y="617303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Flexibility in function calls.</a:t>
            </a:r>
            <a:endParaRPr b="0" i="0" sz="1750" u="none" cap="none" strike="noStrike"/>
          </a:p>
        </p:txBody>
      </p:sp>
      <p:pic>
        <p:nvPicPr>
          <p:cNvPr descr="preencoded.png"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793790" y="154900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Default Arguments</a:t>
            </a:r>
            <a:endParaRPr b="0" i="0" sz="4450" u="none" cap="none" strike="noStrike"/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9794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2268022" y="28247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 Definition</a:t>
            </a:r>
            <a:endParaRPr b="0" i="0" sz="2200" u="none" cap="none" strike="noStrike"/>
          </a:p>
        </p:txBody>
      </p:sp>
      <p:sp>
        <p:nvSpPr>
          <p:cNvPr id="190" name="Google Shape;190;p8"/>
          <p:cNvSpPr/>
          <p:nvPr/>
        </p:nvSpPr>
        <p:spPr>
          <a:xfrm>
            <a:off x="2268022" y="3315176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name(fname, mname="John", lname="Whatson").</a:t>
            </a:r>
            <a:endParaRPr b="0" i="0" sz="1750" u="none" cap="none" strike="noStrike"/>
          </a:p>
        </p:txBody>
      </p:sp>
      <p:pic>
        <p:nvPicPr>
          <p:cNvPr descr="preencoded.png" id="191" name="Google Shape;1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95882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2268022" y="4185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Default Value</a:t>
            </a:r>
            <a:endParaRPr b="0" i="0" sz="2200" u="none" cap="none" strike="noStrike"/>
          </a:p>
        </p:txBody>
      </p:sp>
      <p:sp>
        <p:nvSpPr>
          <p:cNvPr id="193" name="Google Shape;193;p8"/>
          <p:cNvSpPr/>
          <p:nvPr/>
        </p:nvSpPr>
        <p:spPr>
          <a:xfrm>
            <a:off x="2268022" y="4676061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If mname is not provided, defaults to "John".</a:t>
            </a:r>
            <a:endParaRPr b="0" i="0" sz="1750" u="none" cap="none" strike="noStrike"/>
          </a:p>
        </p:txBody>
      </p:sp>
      <p:pic>
        <p:nvPicPr>
          <p:cNvPr descr="preencoded.png" id="194" name="Google Shape;19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31971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/>
          <p:nvPr/>
        </p:nvSpPr>
        <p:spPr>
          <a:xfrm>
            <a:off x="2268022" y="55465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Benefit</a:t>
            </a:r>
            <a:endParaRPr b="0" i="0" sz="2200" u="none" cap="none" strike="noStrike"/>
          </a:p>
        </p:txBody>
      </p:sp>
      <p:sp>
        <p:nvSpPr>
          <p:cNvPr id="196" name="Google Shape;196;p8"/>
          <p:cNvSpPr/>
          <p:nvPr/>
        </p:nvSpPr>
        <p:spPr>
          <a:xfrm>
            <a:off x="2268022" y="6036945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Avoids errors due to missing arguments.</a:t>
            </a:r>
            <a:endParaRPr b="0" i="0" sz="1750" u="none" cap="none" strike="noStrike"/>
          </a:p>
        </p:txBody>
      </p:sp>
      <p:pic>
        <p:nvPicPr>
          <p:cNvPr descr="preencoded.png" id="197" name="Google Shape;19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793790" y="1403033"/>
            <a:ext cx="573786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Keyword Arguments</a:t>
            </a:r>
            <a:endParaRPr b="0" i="0" sz="4450" u="none" cap="none" strike="noStrike"/>
          </a:p>
        </p:txBody>
      </p:sp>
      <p:sp>
        <p:nvSpPr>
          <p:cNvPr id="204" name="Google Shape;204;p9"/>
          <p:cNvSpPr/>
          <p:nvPr/>
        </p:nvSpPr>
        <p:spPr>
          <a:xfrm>
            <a:off x="1118711" y="2451973"/>
            <a:ext cx="30480" cy="4374475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358622" y="2947035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878800" y="270712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1057513" y="2792135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208" name="Google Shape;208;p9"/>
          <p:cNvSpPr/>
          <p:nvPr/>
        </p:nvSpPr>
        <p:spPr>
          <a:xfrm>
            <a:off x="2381488" y="267878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 Call</a:t>
            </a:r>
            <a:endParaRPr b="0" i="0" sz="2200" u="none" cap="none" strike="noStrike"/>
          </a:p>
        </p:txBody>
      </p:sp>
      <p:sp>
        <p:nvSpPr>
          <p:cNvPr id="209" name="Google Shape;209;p9"/>
          <p:cNvSpPr/>
          <p:nvPr/>
        </p:nvSpPr>
        <p:spPr>
          <a:xfrm>
            <a:off x="2381488" y="3169206"/>
            <a:ext cx="1145512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Calling name(mname="Peter", lname="Wesker", fname="Jade").</a:t>
            </a:r>
            <a:endParaRPr b="0" i="0" sz="1750" u="none" cap="none" strike="noStrike"/>
          </a:p>
        </p:txBody>
      </p:sp>
      <p:sp>
        <p:nvSpPr>
          <p:cNvPr id="210" name="Google Shape;210;p9"/>
          <p:cNvSpPr/>
          <p:nvPr/>
        </p:nvSpPr>
        <p:spPr>
          <a:xfrm>
            <a:off x="1358622" y="4480798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878800" y="424088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1024057" y="4325898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213" name="Google Shape;213;p9"/>
          <p:cNvSpPr/>
          <p:nvPr/>
        </p:nvSpPr>
        <p:spPr>
          <a:xfrm>
            <a:off x="2381488" y="42125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Argument Order</a:t>
            </a:r>
            <a:endParaRPr b="0" i="0" sz="2200" u="none" cap="none" strike="noStrike"/>
          </a:p>
        </p:txBody>
      </p:sp>
      <p:sp>
        <p:nvSpPr>
          <p:cNvPr id="214" name="Google Shape;214;p9"/>
          <p:cNvSpPr/>
          <p:nvPr/>
        </p:nvSpPr>
        <p:spPr>
          <a:xfrm>
            <a:off x="2381488" y="4702969"/>
            <a:ext cx="1145512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Arguments are provided in any order using their names.</a:t>
            </a:r>
            <a:endParaRPr b="0" i="0" sz="1750" u="none" cap="none" strike="noStrike"/>
          </a:p>
        </p:txBody>
      </p:sp>
      <p:sp>
        <p:nvSpPr>
          <p:cNvPr id="215" name="Google Shape;215;p9"/>
          <p:cNvSpPr/>
          <p:nvPr/>
        </p:nvSpPr>
        <p:spPr>
          <a:xfrm>
            <a:off x="1358622" y="6014561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878800" y="577465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1027748" y="5859661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218" name="Google Shape;218;p9"/>
          <p:cNvSpPr/>
          <p:nvPr/>
        </p:nvSpPr>
        <p:spPr>
          <a:xfrm>
            <a:off x="2381488" y="57463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Advantage</a:t>
            </a:r>
            <a:endParaRPr b="0" i="0" sz="2200" u="none" cap="none" strike="noStrike"/>
          </a:p>
        </p:txBody>
      </p:sp>
      <p:sp>
        <p:nvSpPr>
          <p:cNvPr id="219" name="Google Shape;219;p9"/>
          <p:cNvSpPr/>
          <p:nvPr/>
        </p:nvSpPr>
        <p:spPr>
          <a:xfrm>
            <a:off x="2381488" y="6236732"/>
            <a:ext cx="1145512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Improves readability and avoids mistakes.</a:t>
            </a:r>
            <a:endParaRPr b="0" i="0" sz="1750" u="none" cap="none" strike="noStrike"/>
          </a:p>
        </p:txBody>
      </p:sp>
      <p:pic>
        <p:nvPicPr>
          <p:cNvPr descr="preencoded.png" id="220" name="Google Shape;2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793790" y="2558415"/>
            <a:ext cx="958024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Variable-Length Arguments (*args)</a:t>
            </a:r>
            <a:endParaRPr b="0" i="0" sz="4450" u="none" cap="none" strike="noStrike"/>
          </a:p>
        </p:txBody>
      </p:sp>
      <p:sp>
        <p:nvSpPr>
          <p:cNvPr id="227" name="Google Shape;227;p10"/>
          <p:cNvSpPr/>
          <p:nvPr/>
        </p:nvSpPr>
        <p:spPr>
          <a:xfrm>
            <a:off x="793790" y="3811429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Allows passing multiple values as a tuple.</a:t>
            </a:r>
            <a:endParaRPr b="0" i="0" sz="175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5332928" y="3811429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name("James", "Buchanan", "Barnes").</a:t>
            </a:r>
            <a:endParaRPr b="0" i="0" sz="1750" u="none" cap="none" strike="noStrike"/>
          </a:p>
        </p:txBody>
      </p:sp>
      <p:sp>
        <p:nvSpPr>
          <p:cNvPr id="229" name="Google Shape;229;p10"/>
          <p:cNvSpPr/>
          <p:nvPr/>
        </p:nvSpPr>
        <p:spPr>
          <a:xfrm>
            <a:off x="5332928" y="4741307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Stores values as a tuple and accesses them inside the function.</a:t>
            </a:r>
            <a:endParaRPr b="0" i="0" sz="1750" u="none" cap="none" strike="noStrike"/>
          </a:p>
        </p:txBody>
      </p:sp>
      <p:sp>
        <p:nvSpPr>
          <p:cNvPr id="230" name="Google Shape;230;p10"/>
          <p:cNvSpPr/>
          <p:nvPr/>
        </p:nvSpPr>
        <p:spPr>
          <a:xfrm>
            <a:off x="9872067" y="3811429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Useful for handling unknown numbers of inputs.</a:t>
            </a:r>
            <a:endParaRPr b="0" i="0" sz="1750" u="none" cap="none" strike="noStrike"/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793790" y="2797850"/>
            <a:ext cx="919638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Returning Values from Functions</a:t>
            </a:r>
            <a:endParaRPr b="0" i="0" sz="4450" u="none" cap="none" strike="noStrike"/>
          </a:p>
        </p:txBody>
      </p:sp>
      <p:sp>
        <p:nvSpPr>
          <p:cNvPr id="238" name="Google Shape;238;p11"/>
          <p:cNvSpPr/>
          <p:nvPr/>
        </p:nvSpPr>
        <p:spPr>
          <a:xfrm>
            <a:off x="793790" y="421540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972503" y="4300418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240" name="Google Shape;240;p11"/>
          <p:cNvSpPr/>
          <p:nvPr/>
        </p:nvSpPr>
        <p:spPr>
          <a:xfrm>
            <a:off x="1530906" y="42154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 Definition</a:t>
            </a:r>
            <a:endParaRPr b="0" i="0" sz="2200" u="none" cap="none" strike="noStrike"/>
          </a:p>
        </p:txBody>
      </p:sp>
      <p:sp>
        <p:nvSpPr>
          <p:cNvPr id="241" name="Google Shape;241;p11"/>
          <p:cNvSpPr/>
          <p:nvPr/>
        </p:nvSpPr>
        <p:spPr>
          <a:xfrm>
            <a:off x="1530906" y="4705826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 function can send data back using return.</a:t>
            </a:r>
            <a:endParaRPr b="0" i="0" sz="1750" u="none" cap="none" strike="noStrike"/>
          </a:p>
        </p:txBody>
      </p:sp>
      <p:sp>
        <p:nvSpPr>
          <p:cNvPr id="242" name="Google Shape;242;p11"/>
          <p:cNvSpPr/>
          <p:nvPr/>
        </p:nvSpPr>
        <p:spPr>
          <a:xfrm>
            <a:off x="5216962" y="421540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5362218" y="4300418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244" name="Google Shape;244;p11"/>
          <p:cNvSpPr/>
          <p:nvPr/>
        </p:nvSpPr>
        <p:spPr>
          <a:xfrm>
            <a:off x="5954078" y="42154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b="0" i="0" sz="2200" u="none" cap="none" strike="noStrike"/>
          </a:p>
        </p:txBody>
      </p:sp>
      <p:sp>
        <p:nvSpPr>
          <p:cNvPr id="245" name="Google Shape;245;p11"/>
          <p:cNvSpPr/>
          <p:nvPr/>
        </p:nvSpPr>
        <p:spPr>
          <a:xfrm>
            <a:off x="5954078" y="4705826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name(fname, mname, lname) → Returns full name.</a:t>
            </a:r>
            <a:endParaRPr b="0" i="0" sz="1750" u="none" cap="none" strike="noStrike"/>
          </a:p>
        </p:txBody>
      </p:sp>
      <p:sp>
        <p:nvSpPr>
          <p:cNvPr id="246" name="Google Shape;246;p11"/>
          <p:cNvSpPr/>
          <p:nvPr/>
        </p:nvSpPr>
        <p:spPr>
          <a:xfrm>
            <a:off x="9640133" y="421540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9789081" y="4300418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248" name="Google Shape;248;p11"/>
          <p:cNvSpPr/>
          <p:nvPr/>
        </p:nvSpPr>
        <p:spPr>
          <a:xfrm>
            <a:off x="10377249" y="42154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Benefit</a:t>
            </a:r>
            <a:endParaRPr b="0" i="0" sz="2200" u="none" cap="none" strike="noStrike"/>
          </a:p>
        </p:txBody>
      </p:sp>
      <p:sp>
        <p:nvSpPr>
          <p:cNvPr id="249" name="Google Shape;249;p11"/>
          <p:cNvSpPr/>
          <p:nvPr/>
        </p:nvSpPr>
        <p:spPr>
          <a:xfrm>
            <a:off x="10377249" y="4705826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Stores results for further processing.</a:t>
            </a:r>
            <a:endParaRPr b="0" i="0" sz="1750" u="none" cap="none" strike="noStrike"/>
          </a:p>
        </p:txBody>
      </p:sp>
      <p:pic>
        <p:nvPicPr>
          <p:cNvPr descr="preencoded.png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6" name="Google Shape;2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"/>
          <p:cNvSpPr/>
          <p:nvPr/>
        </p:nvSpPr>
        <p:spPr>
          <a:xfrm>
            <a:off x="6280190" y="258246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Exercise - Beginner Level</a:t>
            </a:r>
            <a:endParaRPr b="0" i="0" sz="4450" u="none" cap="none" strike="noStrike"/>
          </a:p>
        </p:txBody>
      </p:sp>
      <p:sp>
        <p:nvSpPr>
          <p:cNvPr id="258" name="Google Shape;258;p12"/>
          <p:cNvSpPr/>
          <p:nvPr/>
        </p:nvSpPr>
        <p:spPr>
          <a:xfrm>
            <a:off x="6280190" y="4340185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6507004" y="4566999"/>
            <a:ext cx="485251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Display a Simple Greeting Message</a:t>
            </a:r>
            <a:endParaRPr b="0" i="0" sz="2200" u="none" cap="none" strike="noStrike"/>
          </a:p>
        </p:txBody>
      </p:sp>
      <p:sp>
        <p:nvSpPr>
          <p:cNvPr id="260" name="Google Shape;260;p12"/>
          <p:cNvSpPr/>
          <p:nvPr/>
        </p:nvSpPr>
        <p:spPr>
          <a:xfrm>
            <a:off x="6507004" y="5057418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 a function welcome_message() that prints a welcome message.</a:t>
            </a:r>
            <a:endParaRPr b="0" i="0" sz="1750" u="none" cap="none" strike="noStrike"/>
          </a:p>
        </p:txBody>
      </p:sp>
      <p:pic>
        <p:nvPicPr>
          <p:cNvPr descr="preencoded.png" id="261" name="Google Shape;2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793790" y="752951"/>
            <a:ext cx="1038082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Exercise - Intermediate Level</a:t>
            </a:r>
            <a:endParaRPr b="0" i="0" sz="4450" u="none" cap="none" strike="noStrike"/>
          </a:p>
        </p:txBody>
      </p:sp>
      <p:pic>
        <p:nvPicPr>
          <p:cNvPr descr="preencoded.png"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915358"/>
            <a:ext cx="6351270" cy="392537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793790" y="6124218"/>
            <a:ext cx="498681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Calculate the Total Cost of an Order</a:t>
            </a:r>
            <a:endParaRPr b="0" i="0" sz="2200" u="none" cap="none" strike="noStrike"/>
          </a:p>
        </p:txBody>
      </p:sp>
      <p:sp>
        <p:nvSpPr>
          <p:cNvPr id="270" name="Google Shape;270;p13"/>
          <p:cNvSpPr/>
          <p:nvPr/>
        </p:nvSpPr>
        <p:spPr>
          <a:xfrm>
            <a:off x="793790" y="6614636"/>
            <a:ext cx="63512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 calculate_total(price_per_item, quantity).</a:t>
            </a:r>
            <a:endParaRPr b="0" i="0" sz="1750" u="none" cap="none" strike="noStrike"/>
          </a:p>
        </p:txBody>
      </p:sp>
      <p:sp>
        <p:nvSpPr>
          <p:cNvPr id="271" name="Google Shape;271;p13"/>
          <p:cNvSpPr/>
          <p:nvPr/>
        </p:nvSpPr>
        <p:spPr>
          <a:xfrm>
            <a:off x="793790" y="7113627"/>
            <a:ext cx="63512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Return the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total cost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/>
          </a:p>
        </p:txBody>
      </p:sp>
      <p:pic>
        <p:nvPicPr>
          <p:cNvPr descr="preencoded.png" id="272" name="Google Shape;2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5221" y="1915358"/>
            <a:ext cx="6351389" cy="392537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7485221" y="6124218"/>
            <a:ext cx="297001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Convert Temperature</a:t>
            </a:r>
            <a:endParaRPr b="0" i="0" sz="2200" u="none" cap="none" strike="noStrike"/>
          </a:p>
        </p:txBody>
      </p:sp>
      <p:sp>
        <p:nvSpPr>
          <p:cNvPr id="274" name="Google Shape;274;p13"/>
          <p:cNvSpPr/>
          <p:nvPr/>
        </p:nvSpPr>
        <p:spPr>
          <a:xfrm>
            <a:off x="7485221" y="6614636"/>
            <a:ext cx="63513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 convert_temperature(temp_value, unit).</a:t>
            </a:r>
            <a:endParaRPr b="0" i="0" sz="1750" u="none" cap="none" strike="noStrike"/>
          </a:p>
        </p:txBody>
      </p:sp>
      <p:sp>
        <p:nvSpPr>
          <p:cNvPr id="275" name="Google Shape;275;p13"/>
          <p:cNvSpPr/>
          <p:nvPr/>
        </p:nvSpPr>
        <p:spPr>
          <a:xfrm>
            <a:off x="7485221" y="7113627"/>
            <a:ext cx="63513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Convert between Celsius and Fahrenheit.</a:t>
            </a:r>
            <a:endParaRPr b="0" i="0" sz="1750" u="none" cap="none" strike="noStrike"/>
          </a:p>
        </p:txBody>
      </p:sp>
      <p:pic>
        <p:nvPicPr>
          <p:cNvPr descr="preencoded.png" id="276" name="Google Shape;27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2" name="Google Shape;2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4"/>
          <p:cNvSpPr/>
          <p:nvPr/>
        </p:nvSpPr>
        <p:spPr>
          <a:xfrm>
            <a:off x="6280190" y="154340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Exercise - Advanced Level</a:t>
            </a:r>
            <a:endParaRPr b="0" i="0" sz="4450" u="none" cap="none" strike="noStrike"/>
          </a:p>
        </p:txBody>
      </p:sp>
      <p:sp>
        <p:nvSpPr>
          <p:cNvPr id="284" name="Google Shape;284;p14"/>
          <p:cNvSpPr/>
          <p:nvPr/>
        </p:nvSpPr>
        <p:spPr>
          <a:xfrm>
            <a:off x="6280190" y="3527941"/>
            <a:ext cx="350150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Create a Discount Calculator</a:t>
            </a:r>
            <a:endParaRPr b="0" i="0" sz="2200" u="none" cap="none" strike="noStrike"/>
          </a:p>
        </p:txBody>
      </p:sp>
      <p:sp>
        <p:nvSpPr>
          <p:cNvPr id="285" name="Google Shape;285;p14"/>
          <p:cNvSpPr/>
          <p:nvPr/>
        </p:nvSpPr>
        <p:spPr>
          <a:xfrm>
            <a:off x="6280190" y="4463415"/>
            <a:ext cx="35015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 apply_discount(original_price, discount_percentage).</a:t>
            </a:r>
            <a:endParaRPr b="0" i="0" sz="1750" u="none" cap="none" strike="noStrike"/>
          </a:p>
        </p:txBody>
      </p:sp>
      <p:sp>
        <p:nvSpPr>
          <p:cNvPr id="286" name="Google Shape;286;p14"/>
          <p:cNvSpPr/>
          <p:nvPr/>
        </p:nvSpPr>
        <p:spPr>
          <a:xfrm>
            <a:off x="6280190" y="5756196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Return final price after applying discount.</a:t>
            </a:r>
            <a:endParaRPr b="0" i="0" sz="1750" u="none" cap="none" strike="noStrike"/>
          </a:p>
        </p:txBody>
      </p:sp>
      <p:sp>
        <p:nvSpPr>
          <p:cNvPr id="287" name="Google Shape;287;p14"/>
          <p:cNvSpPr/>
          <p:nvPr/>
        </p:nvSpPr>
        <p:spPr>
          <a:xfrm>
            <a:off x="10342721" y="3527941"/>
            <a:ext cx="350150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Implement a Grade Calculator</a:t>
            </a:r>
            <a:endParaRPr b="0" i="0" sz="2200" u="none" cap="none" strike="noStrike"/>
          </a:p>
        </p:txBody>
      </p:sp>
      <p:sp>
        <p:nvSpPr>
          <p:cNvPr id="288" name="Google Shape;288;p14"/>
          <p:cNvSpPr/>
          <p:nvPr/>
        </p:nvSpPr>
        <p:spPr>
          <a:xfrm>
            <a:off x="10342721" y="4463415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 calculate_grade(score1, score2, score3).</a:t>
            </a:r>
            <a:endParaRPr b="0" i="0" sz="1750" u="none" cap="none" strike="noStrike"/>
          </a:p>
        </p:txBody>
      </p:sp>
      <p:sp>
        <p:nvSpPr>
          <p:cNvPr id="289" name="Google Shape;289;p14"/>
          <p:cNvSpPr/>
          <p:nvPr/>
        </p:nvSpPr>
        <p:spPr>
          <a:xfrm>
            <a:off x="10342721" y="5393293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Return average score and letter grade.</a:t>
            </a:r>
            <a:endParaRPr b="0" i="0" sz="1750" u="none" cap="none" strike="noStrike"/>
          </a:p>
        </p:txBody>
      </p:sp>
      <p:pic>
        <p:nvPicPr>
          <p:cNvPr descr="preencoded.png" id="290" name="Google Shape;29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/>
          <p:nvPr/>
        </p:nvSpPr>
        <p:spPr>
          <a:xfrm>
            <a:off x="793790" y="211324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</a:t>
            </a:r>
            <a:endParaRPr b="0" i="0" sz="4450" u="none" cap="none" strike="noStrike"/>
          </a:p>
        </p:txBody>
      </p:sp>
      <p:sp>
        <p:nvSpPr>
          <p:cNvPr id="297" name="Google Shape;297;p15"/>
          <p:cNvSpPr/>
          <p:nvPr/>
        </p:nvSpPr>
        <p:spPr>
          <a:xfrm>
            <a:off x="793790" y="3275648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1020604" y="35024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Modularity</a:t>
            </a:r>
            <a:endParaRPr b="0" i="0" sz="2200" u="none" cap="none" strike="noStrike"/>
          </a:p>
        </p:txBody>
      </p:sp>
      <p:sp>
        <p:nvSpPr>
          <p:cNvPr id="299" name="Google Shape;299;p15"/>
          <p:cNvSpPr/>
          <p:nvPr/>
        </p:nvSpPr>
        <p:spPr>
          <a:xfrm>
            <a:off x="1020604" y="3992880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Functions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reduce repetition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and make code modular.</a:t>
            </a:r>
            <a:endParaRPr b="0" i="0" sz="1750" u="none" cap="none" strike="noStrike"/>
          </a:p>
        </p:txBody>
      </p:sp>
      <p:sp>
        <p:nvSpPr>
          <p:cNvPr id="300" name="Google Shape;300;p15"/>
          <p:cNvSpPr/>
          <p:nvPr/>
        </p:nvSpPr>
        <p:spPr>
          <a:xfrm>
            <a:off x="7428667" y="3275648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7655481" y="35024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Flexibility</a:t>
            </a:r>
            <a:endParaRPr b="0" i="0" sz="2200" u="none" cap="none" strike="noStrike"/>
          </a:p>
        </p:txBody>
      </p:sp>
      <p:sp>
        <p:nvSpPr>
          <p:cNvPr id="302" name="Google Shape;302;p15"/>
          <p:cNvSpPr/>
          <p:nvPr/>
        </p:nvSpPr>
        <p:spPr>
          <a:xfrm>
            <a:off x="7655481" y="3992880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Arguments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make functions flexible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/>
          </a:p>
        </p:txBody>
      </p:sp>
      <p:sp>
        <p:nvSpPr>
          <p:cNvPr id="303" name="Google Shape;303;p15"/>
          <p:cNvSpPr/>
          <p:nvPr/>
        </p:nvSpPr>
        <p:spPr>
          <a:xfrm>
            <a:off x="793790" y="4809411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Results</a:t>
            </a:r>
            <a:endParaRPr b="0" i="0" sz="2200" u="none" cap="none" strike="noStrike"/>
          </a:p>
        </p:txBody>
      </p:sp>
      <p:sp>
        <p:nvSpPr>
          <p:cNvPr id="305" name="Google Shape;305;p15"/>
          <p:cNvSpPr/>
          <p:nvPr/>
        </p:nvSpPr>
        <p:spPr>
          <a:xfrm>
            <a:off x="1020604" y="5526643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Return statements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allow functions to send back results.</a:t>
            </a:r>
            <a:endParaRPr b="0" i="0" sz="1750" u="none" cap="none" strike="noStrike"/>
          </a:p>
        </p:txBody>
      </p:sp>
      <p:sp>
        <p:nvSpPr>
          <p:cNvPr id="306" name="Google Shape;306;p15"/>
          <p:cNvSpPr/>
          <p:nvPr/>
        </p:nvSpPr>
        <p:spPr>
          <a:xfrm>
            <a:off x="7428667" y="4809411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7655481" y="50362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Control</a:t>
            </a:r>
            <a:endParaRPr b="0" i="0" sz="2200" u="none" cap="none" strike="noStrike"/>
          </a:p>
        </p:txBody>
      </p:sp>
      <p:sp>
        <p:nvSpPr>
          <p:cNvPr id="308" name="Google Shape;308;p15"/>
          <p:cNvSpPr/>
          <p:nvPr/>
        </p:nvSpPr>
        <p:spPr>
          <a:xfrm>
            <a:off x="7655481" y="5526643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Different argument types provide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greater control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/>
          </a:p>
        </p:txBody>
      </p:sp>
      <p:pic>
        <p:nvPicPr>
          <p:cNvPr descr="preencoded.png" id="309" name="Google Shape;3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/>
          <p:nvPr/>
        </p:nvSpPr>
        <p:spPr>
          <a:xfrm>
            <a:off x="793790" y="2854643"/>
            <a:ext cx="683895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Conclusion &amp; Next Steps</a:t>
            </a:r>
            <a:endParaRPr b="0" i="0" sz="4450" u="none" cap="none" strike="noStrike"/>
          </a:p>
        </p:txBody>
      </p:sp>
      <p:sp>
        <p:nvSpPr>
          <p:cNvPr id="316" name="Google Shape;316;p16"/>
          <p:cNvSpPr/>
          <p:nvPr/>
        </p:nvSpPr>
        <p:spPr>
          <a:xfrm>
            <a:off x="793790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972503" y="4243745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318" name="Google Shape;318;p16"/>
          <p:cNvSpPr/>
          <p:nvPr/>
        </p:nvSpPr>
        <p:spPr>
          <a:xfrm>
            <a:off x="1530906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Functions</a:t>
            </a:r>
            <a:endParaRPr b="0" i="0" sz="2200" u="none" cap="none" strike="noStrike"/>
          </a:p>
        </p:txBody>
      </p:sp>
      <p:sp>
        <p:nvSpPr>
          <p:cNvPr id="319" name="Google Shape;319;p16"/>
          <p:cNvSpPr/>
          <p:nvPr/>
        </p:nvSpPr>
        <p:spPr>
          <a:xfrm>
            <a:off x="1530906" y="4649153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Functions are fundamental to programming.</a:t>
            </a:r>
            <a:endParaRPr b="0" i="0" sz="1750" u="none" cap="none" strike="noStrike"/>
          </a:p>
        </p:txBody>
      </p:sp>
      <p:sp>
        <p:nvSpPr>
          <p:cNvPr id="320" name="Google Shape;320;p16"/>
          <p:cNvSpPr/>
          <p:nvPr/>
        </p:nvSpPr>
        <p:spPr>
          <a:xfrm>
            <a:off x="5216962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5362218" y="4243745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322" name="Google Shape;322;p16"/>
          <p:cNvSpPr/>
          <p:nvPr/>
        </p:nvSpPr>
        <p:spPr>
          <a:xfrm>
            <a:off x="5954078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</a:t>
            </a:r>
            <a:endParaRPr b="0" i="0" sz="2200" u="none" cap="none" strike="noStrike"/>
          </a:p>
        </p:txBody>
      </p:sp>
      <p:sp>
        <p:nvSpPr>
          <p:cNvPr id="323" name="Google Shape;323;p16"/>
          <p:cNvSpPr/>
          <p:nvPr/>
        </p:nvSpPr>
        <p:spPr>
          <a:xfrm>
            <a:off x="5954078" y="4649153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Next Step: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Practice writing custom functions.</a:t>
            </a:r>
            <a:endParaRPr b="0" i="0" sz="1750" u="none" cap="none" strike="noStrike"/>
          </a:p>
        </p:txBody>
      </p:sp>
      <p:sp>
        <p:nvSpPr>
          <p:cNvPr id="324" name="Google Shape;324;p16"/>
          <p:cNvSpPr/>
          <p:nvPr/>
        </p:nvSpPr>
        <p:spPr>
          <a:xfrm>
            <a:off x="9640133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9789081" y="4243745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326" name="Google Shape;326;p16"/>
          <p:cNvSpPr/>
          <p:nvPr/>
        </p:nvSpPr>
        <p:spPr>
          <a:xfrm>
            <a:off x="10377249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Keep Going</a:t>
            </a:r>
            <a:endParaRPr b="0" i="0" sz="2200" u="none" cap="none" strike="noStrike"/>
          </a:p>
        </p:txBody>
      </p:sp>
      <p:sp>
        <p:nvSpPr>
          <p:cNvPr id="327" name="Google Shape;327;p16"/>
          <p:cNvSpPr/>
          <p:nvPr/>
        </p:nvSpPr>
        <p:spPr>
          <a:xfrm>
            <a:off x="10377249" y="4649153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Keep coding and experimenting!</a:t>
            </a:r>
            <a:endParaRPr b="0" i="0" sz="1750" u="none" cap="none" strike="noStrike"/>
          </a:p>
        </p:txBody>
      </p:sp>
      <p:pic>
        <p:nvPicPr>
          <p:cNvPr descr="preencoded.png" id="328" name="Google Shape;3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2025-02-28T10:08:49Z</dcterms:created>
  <dc:creator>PptxGenJS</dc:creator>
</cp:coreProperties>
</file>