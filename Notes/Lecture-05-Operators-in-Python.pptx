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8229600" cx="14630400"/>
  <p:notesSz cx="8229600" cy="14630400"/>
  <p:embeddedFontLst>
    <p:embeddedFont>
      <p:font typeface="Platypi Medium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uLTnXSPmVkq3DzjkvI5+8LE+8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typiMedium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typiMedium-italic.fntdata"/><Relationship Id="rId14" Type="http://schemas.openxmlformats.org/officeDocument/2006/relationships/font" Target="fonts/PlatypiMedium-bold.fntdata"/><Relationship Id="rId17" Type="http://customschemas.google.com/relationships/presentationmetadata" Target="metadata"/><Relationship Id="rId16" Type="http://schemas.openxmlformats.org/officeDocument/2006/relationships/font" Target="fonts/PlatypiMedium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" name="Google Shape;4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"/>
          <p:cNvSpPr/>
          <p:nvPr/>
        </p:nvSpPr>
        <p:spPr>
          <a:xfrm>
            <a:off x="6280190" y="2366486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Lecture 05:</a:t>
            </a:r>
            <a:endParaRPr b="0" i="0" sz="4450" u="none" cap="none" strike="noStrike"/>
          </a:p>
        </p:txBody>
      </p:sp>
      <p:sp>
        <p:nvSpPr>
          <p:cNvPr id="42" name="Google Shape;42;p1"/>
          <p:cNvSpPr/>
          <p:nvPr/>
        </p:nvSpPr>
        <p:spPr>
          <a:xfrm>
            <a:off x="6280190" y="3415427"/>
            <a:ext cx="5706666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Operators in Python</a:t>
            </a:r>
            <a:endParaRPr b="0" i="0" sz="4450" u="none" cap="none" strike="noStrike"/>
          </a:p>
        </p:txBody>
      </p:sp>
      <p:pic>
        <p:nvPicPr>
          <p:cNvPr descr="preencoded.png" id="43" name="Google Shape;4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0190" y="4464367"/>
            <a:ext cx="1398746" cy="13987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" name="Google Shape;4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/>
          <p:cNvSpPr/>
          <p:nvPr/>
        </p:nvSpPr>
        <p:spPr>
          <a:xfrm>
            <a:off x="793790" y="2525792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Boolean Values</a:t>
            </a:r>
            <a:endParaRPr b="0" i="0" sz="4450" u="none" cap="none" strike="noStrike"/>
          </a:p>
        </p:txBody>
      </p:sp>
      <p:sp>
        <p:nvSpPr>
          <p:cNvPr id="51" name="Google Shape;51;p2"/>
          <p:cNvSpPr/>
          <p:nvPr/>
        </p:nvSpPr>
        <p:spPr>
          <a:xfrm>
            <a:off x="793790" y="3574733"/>
            <a:ext cx="4049554" cy="2128957"/>
          </a:xfrm>
          <a:prstGeom prst="roundRect">
            <a:avLst>
              <a:gd fmla="val 159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1020604" y="380154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True and False</a:t>
            </a:r>
            <a:endParaRPr b="0" i="0" sz="2200" u="none" cap="none" strike="noStrike"/>
          </a:p>
        </p:txBody>
      </p:sp>
      <p:sp>
        <p:nvSpPr>
          <p:cNvPr id="53" name="Google Shape;53;p2"/>
          <p:cNvSpPr/>
          <p:nvPr/>
        </p:nvSpPr>
        <p:spPr>
          <a:xfrm>
            <a:off x="1020604" y="4291965"/>
            <a:ext cx="359592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Boolean data type represents True or False values.</a:t>
            </a:r>
            <a:endParaRPr b="0" i="0" sz="1750" u="none" cap="none" strike="noStrike"/>
          </a:p>
        </p:txBody>
      </p:sp>
      <p:sp>
        <p:nvSpPr>
          <p:cNvPr id="54" name="Google Shape;54;p2"/>
          <p:cNvSpPr/>
          <p:nvPr/>
        </p:nvSpPr>
        <p:spPr>
          <a:xfrm>
            <a:off x="5070157" y="3574733"/>
            <a:ext cx="4049554" cy="2128957"/>
          </a:xfrm>
          <a:prstGeom prst="roundRect">
            <a:avLst>
              <a:gd fmla="val 159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5296972" y="380154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Usage</a:t>
            </a:r>
            <a:endParaRPr b="0" i="0" sz="2200" u="none" cap="none" strike="noStrike"/>
          </a:p>
        </p:txBody>
      </p:sp>
      <p:sp>
        <p:nvSpPr>
          <p:cNvPr id="56" name="Google Shape;56;p2"/>
          <p:cNvSpPr/>
          <p:nvPr/>
        </p:nvSpPr>
        <p:spPr>
          <a:xfrm>
            <a:off x="5296972" y="4291965"/>
            <a:ext cx="359592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Commonly used in comparisons and conditional expressions.</a:t>
            </a:r>
            <a:endParaRPr b="0" i="0" sz="1750" u="none" cap="none" strike="noStrike"/>
          </a:p>
        </p:txBody>
      </p:sp>
      <p:sp>
        <p:nvSpPr>
          <p:cNvPr id="57" name="Google Shape;57;p2"/>
          <p:cNvSpPr/>
          <p:nvPr/>
        </p:nvSpPr>
        <p:spPr>
          <a:xfrm>
            <a:off x="9346525" y="3574733"/>
            <a:ext cx="4049554" cy="2128957"/>
          </a:xfrm>
          <a:prstGeom prst="roundRect">
            <a:avLst>
              <a:gd fmla="val 159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9573339" y="380154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</a:t>
            </a:r>
            <a:endParaRPr b="0" i="0" sz="2200" u="none" cap="none" strike="noStrike"/>
          </a:p>
        </p:txBody>
      </p:sp>
      <p:sp>
        <p:nvSpPr>
          <p:cNvPr id="59" name="Google Shape;59;p2"/>
          <p:cNvSpPr/>
          <p:nvPr/>
        </p:nvSpPr>
        <p:spPr>
          <a:xfrm>
            <a:off x="9573339" y="4411028"/>
            <a:ext cx="3595926" cy="1065848"/>
          </a:xfrm>
          <a:prstGeom prst="roundRect">
            <a:avLst>
              <a:gd fmla="val 3192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9562028" y="4411028"/>
            <a:ext cx="3618548" cy="1065848"/>
          </a:xfrm>
          <a:prstGeom prst="roundRect">
            <a:avLst>
              <a:gd fmla="val 3192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9788843" y="4581049"/>
            <a:ext cx="316491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print(True)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print(False)</a:t>
            </a:r>
            <a:endParaRPr b="0" i="0" sz="1750" u="none" cap="none" strike="noStrike"/>
          </a:p>
        </p:txBody>
      </p:sp>
      <p:pic>
        <p:nvPicPr>
          <p:cNvPr descr="preencoded.png" id="62" name="Google Shape;6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/>
          <p:nvPr/>
        </p:nvSpPr>
        <p:spPr>
          <a:xfrm>
            <a:off x="793790" y="1164908"/>
            <a:ext cx="6341626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Assignment Operators</a:t>
            </a:r>
            <a:endParaRPr b="0" i="0" sz="4450" u="none" cap="none" strike="noStrike"/>
          </a:p>
        </p:txBody>
      </p:sp>
      <p:pic>
        <p:nvPicPr>
          <p:cNvPr descr="preencoded.png" id="69" name="Google Shape;6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213848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/>
          <p:nvPr/>
        </p:nvSpPr>
        <p:spPr>
          <a:xfrm>
            <a:off x="2268022" y="244066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Basic Assignment</a:t>
            </a:r>
            <a:endParaRPr b="0" i="0" sz="2200" u="none" cap="none" strike="noStrike"/>
          </a:p>
        </p:txBody>
      </p:sp>
      <p:sp>
        <p:nvSpPr>
          <p:cNvPr id="71" name="Google Shape;71;p3"/>
          <p:cNvSpPr/>
          <p:nvPr/>
        </p:nvSpPr>
        <p:spPr>
          <a:xfrm>
            <a:off x="2268022" y="2931081"/>
            <a:ext cx="1112805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= assigns a value to a variable</a:t>
            </a:r>
            <a:endParaRPr b="0" i="0" sz="1750" u="none" cap="none" strike="noStrike"/>
          </a:p>
        </p:txBody>
      </p:sp>
      <p:pic>
        <p:nvPicPr>
          <p:cNvPr descr="preencoded.png" id="72" name="Google Shape;7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3574733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/>
          <p:nvPr/>
        </p:nvSpPr>
        <p:spPr>
          <a:xfrm>
            <a:off x="2268022" y="3801547"/>
            <a:ext cx="328029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Compound Assignment</a:t>
            </a:r>
            <a:endParaRPr b="0" i="0" sz="2200" u="none" cap="none" strike="noStrike"/>
          </a:p>
        </p:txBody>
      </p:sp>
      <p:sp>
        <p:nvSpPr>
          <p:cNvPr id="74" name="Google Shape;74;p3"/>
          <p:cNvSpPr/>
          <p:nvPr/>
        </p:nvSpPr>
        <p:spPr>
          <a:xfrm>
            <a:off x="2268022" y="4291965"/>
            <a:ext cx="1112805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+= adds and assigns in one step</a:t>
            </a:r>
            <a:endParaRPr b="0" i="0" sz="1750" u="none" cap="none" strike="noStrike"/>
          </a:p>
        </p:txBody>
      </p:sp>
      <p:pic>
        <p:nvPicPr>
          <p:cNvPr descr="preencoded.png" id="75" name="Google Shape;7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4935617"/>
            <a:ext cx="1134070" cy="2128957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/>
          <p:nvPr/>
        </p:nvSpPr>
        <p:spPr>
          <a:xfrm>
            <a:off x="2268022" y="516243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</a:t>
            </a:r>
            <a:endParaRPr b="0" i="0" sz="2200" u="none" cap="none" strike="noStrike"/>
          </a:p>
        </p:txBody>
      </p:sp>
      <p:sp>
        <p:nvSpPr>
          <p:cNvPr id="77" name="Google Shape;77;p3"/>
          <p:cNvSpPr/>
          <p:nvPr/>
        </p:nvSpPr>
        <p:spPr>
          <a:xfrm>
            <a:off x="2268023" y="5771900"/>
            <a:ext cx="4675500" cy="1065900"/>
          </a:xfrm>
          <a:prstGeom prst="roundRect">
            <a:avLst>
              <a:gd fmla="val 3192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2256707" y="5771900"/>
            <a:ext cx="4247100" cy="1065900"/>
          </a:xfrm>
          <a:prstGeom prst="roundRect">
            <a:avLst>
              <a:gd fmla="val 3192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2483525" y="5941925"/>
            <a:ext cx="40203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x = 5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x += 3 # Equivalent to x = x + 3</a:t>
            </a:r>
            <a:endParaRPr b="0" i="0" sz="1750" u="none" cap="none" strike="noStrike"/>
          </a:p>
        </p:txBody>
      </p:sp>
      <p:pic>
        <p:nvPicPr>
          <p:cNvPr descr="preencoded.png" id="80" name="Google Shape;8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/>
          <p:nvPr/>
        </p:nvSpPr>
        <p:spPr>
          <a:xfrm>
            <a:off x="793790" y="957977"/>
            <a:ext cx="6023015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Arithmetic Operators</a:t>
            </a:r>
            <a:endParaRPr b="0" i="0" sz="4450" u="none" cap="none" strike="noStrike"/>
          </a:p>
        </p:txBody>
      </p:sp>
      <p:pic>
        <p:nvPicPr>
          <p:cNvPr descr="preencoded.png" id="87" name="Google Shape;8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006917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4"/>
          <p:cNvSpPr/>
          <p:nvPr/>
        </p:nvSpPr>
        <p:spPr>
          <a:xfrm>
            <a:off x="793790" y="280070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Addition (+)</a:t>
            </a:r>
            <a:endParaRPr b="0" i="0" sz="2200" u="none" cap="none" strike="noStrike"/>
          </a:p>
        </p:txBody>
      </p:sp>
      <p:pic>
        <p:nvPicPr>
          <p:cNvPr descr="preencoded.png" id="89" name="Google Shape;8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9313" y="2006917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4"/>
          <p:cNvSpPr/>
          <p:nvPr/>
        </p:nvSpPr>
        <p:spPr>
          <a:xfrm>
            <a:off x="4029313" y="280070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Subtraction (-)</a:t>
            </a:r>
            <a:endParaRPr b="0" i="0" sz="2200" u="none" cap="none" strike="noStrike"/>
          </a:p>
        </p:txBody>
      </p:sp>
      <p:pic>
        <p:nvPicPr>
          <p:cNvPr descr="preencoded.png" id="91" name="Google Shape;9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64956" y="2006917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/>
          <p:nvPr/>
        </p:nvSpPr>
        <p:spPr>
          <a:xfrm>
            <a:off x="7264956" y="280070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Multiplication (*)</a:t>
            </a:r>
            <a:endParaRPr b="0" i="0" sz="2200" u="none" cap="none" strike="noStrike"/>
          </a:p>
        </p:txBody>
      </p:sp>
      <p:pic>
        <p:nvPicPr>
          <p:cNvPr descr="preencoded.png" id="93" name="Google Shape;9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00598" y="2006917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/>
          <p:nvPr/>
        </p:nvSpPr>
        <p:spPr>
          <a:xfrm>
            <a:off x="10500598" y="280070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Division (/)</a:t>
            </a:r>
            <a:endParaRPr b="0" i="0" sz="2200" u="none" cap="none" strike="noStrike"/>
          </a:p>
        </p:txBody>
      </p:sp>
      <p:sp>
        <p:nvSpPr>
          <p:cNvPr id="95" name="Google Shape;95;p4"/>
          <p:cNvSpPr/>
          <p:nvPr/>
        </p:nvSpPr>
        <p:spPr>
          <a:xfrm>
            <a:off x="793790" y="3410188"/>
            <a:ext cx="126022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Other operators: 	% (Modulus), 		// (Floor Division), 		** (Exponentiation)</a:t>
            </a:r>
            <a:endParaRPr b="0" i="0" sz="1750" u="none" cap="none" strike="noStrike"/>
          </a:p>
        </p:txBody>
      </p:sp>
      <p:sp>
        <p:nvSpPr>
          <p:cNvPr id="96" name="Google Shape;96;p4"/>
          <p:cNvSpPr/>
          <p:nvPr/>
        </p:nvSpPr>
        <p:spPr>
          <a:xfrm>
            <a:off x="793790" y="4028242"/>
            <a:ext cx="12602289" cy="3243263"/>
          </a:xfrm>
          <a:prstGeom prst="roundRect">
            <a:avLst>
              <a:gd fmla="val 1049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782475" y="4028251"/>
            <a:ext cx="12624900" cy="3607200"/>
          </a:xfrm>
          <a:prstGeom prst="roundRect">
            <a:avLst>
              <a:gd fmla="val 1049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1009300" y="4198277"/>
            <a:ext cx="12171300" cy="3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a, b = 10, 3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print(a + b) # Addition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print(a - b) # Subtraction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print(a * b) # Multiplication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print(a / b) # Division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print(a % b) # Modulus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print(a // b) # Floor Division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print(a ** b) # Exponentiation</a:t>
            </a:r>
            <a:endParaRPr b="0" i="0" sz="1750" u="none" cap="none" strike="noStrike"/>
          </a:p>
        </p:txBody>
      </p:sp>
      <p:pic>
        <p:nvPicPr>
          <p:cNvPr descr="preencoded.png" id="99" name="Google Shape;99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/>
          <p:nvPr/>
        </p:nvSpPr>
        <p:spPr>
          <a:xfrm>
            <a:off x="790932" y="621983"/>
            <a:ext cx="6353294" cy="70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36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00"/>
              <a:buFont typeface="Platypi Medium"/>
              <a:buNone/>
            </a:pPr>
            <a:r>
              <a:rPr b="0" i="0" lang="en-US" sz="44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Comparison Operators</a:t>
            </a:r>
            <a:endParaRPr b="0" i="0" sz="4400" u="none" cap="none" strike="noStrike"/>
          </a:p>
        </p:txBody>
      </p:sp>
      <p:sp>
        <p:nvSpPr>
          <p:cNvPr id="106" name="Google Shape;106;p5"/>
          <p:cNvSpPr/>
          <p:nvPr/>
        </p:nvSpPr>
        <p:spPr>
          <a:xfrm>
            <a:off x="790932" y="1667113"/>
            <a:ext cx="12605147" cy="3901440"/>
          </a:xfrm>
          <a:prstGeom prst="roundRect">
            <a:avLst>
              <a:gd fmla="val 869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798552" y="1674733"/>
            <a:ext cx="12589907" cy="64770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1024533" y="1817846"/>
            <a:ext cx="5839182" cy="36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Greater than</a:t>
            </a:r>
            <a:endParaRPr b="0" i="0" sz="1750" u="none" cap="none" strike="noStrike"/>
          </a:p>
        </p:txBody>
      </p:sp>
      <p:sp>
        <p:nvSpPr>
          <p:cNvPr id="109" name="Google Shape;109;p5"/>
          <p:cNvSpPr/>
          <p:nvPr/>
        </p:nvSpPr>
        <p:spPr>
          <a:xfrm>
            <a:off x="7323296" y="1817846"/>
            <a:ext cx="5839182" cy="36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1750" u="none" cap="none" strike="noStrike"/>
          </a:p>
        </p:txBody>
      </p:sp>
      <p:sp>
        <p:nvSpPr>
          <p:cNvPr id="110" name="Google Shape;110;p5"/>
          <p:cNvSpPr/>
          <p:nvPr/>
        </p:nvSpPr>
        <p:spPr>
          <a:xfrm>
            <a:off x="798552" y="2322433"/>
            <a:ext cx="12589907" cy="647700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1024533" y="2465546"/>
            <a:ext cx="5839182" cy="36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Less than</a:t>
            </a:r>
            <a:endParaRPr b="0" i="0" sz="1750" u="none" cap="none" strike="noStrike"/>
          </a:p>
        </p:txBody>
      </p:sp>
      <p:sp>
        <p:nvSpPr>
          <p:cNvPr id="112" name="Google Shape;112;p5"/>
          <p:cNvSpPr/>
          <p:nvPr/>
        </p:nvSpPr>
        <p:spPr>
          <a:xfrm>
            <a:off x="7323296" y="2465546"/>
            <a:ext cx="5839182" cy="36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b="0" i="0" sz="1750" u="none" cap="none" strike="noStrike"/>
          </a:p>
        </p:txBody>
      </p:sp>
      <p:sp>
        <p:nvSpPr>
          <p:cNvPr id="113" name="Google Shape;113;p5"/>
          <p:cNvSpPr/>
          <p:nvPr/>
        </p:nvSpPr>
        <p:spPr>
          <a:xfrm>
            <a:off x="798552" y="2970133"/>
            <a:ext cx="12589907" cy="64770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1024533" y="3113246"/>
            <a:ext cx="5839182" cy="36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Equal to</a:t>
            </a:r>
            <a:endParaRPr b="0" i="0" sz="1750" u="none" cap="none" strike="noStrike"/>
          </a:p>
        </p:txBody>
      </p:sp>
      <p:sp>
        <p:nvSpPr>
          <p:cNvPr id="115" name="Google Shape;115;p5"/>
          <p:cNvSpPr/>
          <p:nvPr/>
        </p:nvSpPr>
        <p:spPr>
          <a:xfrm>
            <a:off x="7323296" y="3113246"/>
            <a:ext cx="5839182" cy="36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==</a:t>
            </a:r>
            <a:endParaRPr b="0" i="0" sz="1750" u="none" cap="none" strike="noStrike"/>
          </a:p>
        </p:txBody>
      </p:sp>
      <p:sp>
        <p:nvSpPr>
          <p:cNvPr id="116" name="Google Shape;116;p5"/>
          <p:cNvSpPr/>
          <p:nvPr/>
        </p:nvSpPr>
        <p:spPr>
          <a:xfrm>
            <a:off x="798552" y="3617833"/>
            <a:ext cx="12589907" cy="647700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1024533" y="3760946"/>
            <a:ext cx="5839182" cy="36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Not equal to</a:t>
            </a:r>
            <a:endParaRPr b="0" i="0" sz="1750" u="none" cap="none" strike="noStrike"/>
          </a:p>
        </p:txBody>
      </p:sp>
      <p:sp>
        <p:nvSpPr>
          <p:cNvPr id="118" name="Google Shape;118;p5"/>
          <p:cNvSpPr/>
          <p:nvPr/>
        </p:nvSpPr>
        <p:spPr>
          <a:xfrm>
            <a:off x="7323296" y="3760946"/>
            <a:ext cx="5839182" cy="36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!=</a:t>
            </a:r>
            <a:endParaRPr b="0" i="0" sz="1750" u="none" cap="none" strike="noStrike"/>
          </a:p>
        </p:txBody>
      </p:sp>
      <p:sp>
        <p:nvSpPr>
          <p:cNvPr id="119" name="Google Shape;119;p5"/>
          <p:cNvSpPr/>
          <p:nvPr/>
        </p:nvSpPr>
        <p:spPr>
          <a:xfrm>
            <a:off x="798552" y="4265533"/>
            <a:ext cx="12589907" cy="64770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1024533" y="4408646"/>
            <a:ext cx="5839182" cy="36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Greater than or equal to</a:t>
            </a:r>
            <a:endParaRPr b="0" i="0" sz="1750" u="none" cap="none" strike="noStrike"/>
          </a:p>
        </p:txBody>
      </p:sp>
      <p:sp>
        <p:nvSpPr>
          <p:cNvPr id="121" name="Google Shape;121;p5"/>
          <p:cNvSpPr/>
          <p:nvPr/>
        </p:nvSpPr>
        <p:spPr>
          <a:xfrm>
            <a:off x="7323296" y="4408646"/>
            <a:ext cx="5839182" cy="36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&gt;=</a:t>
            </a:r>
            <a:endParaRPr b="0" i="0" sz="1750" u="none" cap="none" strike="noStrike"/>
          </a:p>
        </p:txBody>
      </p:sp>
      <p:sp>
        <p:nvSpPr>
          <p:cNvPr id="122" name="Google Shape;122;p5"/>
          <p:cNvSpPr/>
          <p:nvPr/>
        </p:nvSpPr>
        <p:spPr>
          <a:xfrm>
            <a:off x="798552" y="4913233"/>
            <a:ext cx="12589907" cy="647700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1024533" y="5056346"/>
            <a:ext cx="5839182" cy="36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Less than or equal to</a:t>
            </a:r>
            <a:endParaRPr b="0" i="0" sz="1750" u="none" cap="none" strike="noStrike"/>
          </a:p>
        </p:txBody>
      </p:sp>
      <p:sp>
        <p:nvSpPr>
          <p:cNvPr id="124" name="Google Shape;124;p5"/>
          <p:cNvSpPr/>
          <p:nvPr/>
        </p:nvSpPr>
        <p:spPr>
          <a:xfrm>
            <a:off x="7323296" y="5056346"/>
            <a:ext cx="5839182" cy="36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&lt;=</a:t>
            </a:r>
            <a:endParaRPr b="0" i="0" sz="1750" u="none" cap="none" strike="noStrike"/>
          </a:p>
        </p:txBody>
      </p:sp>
      <p:sp>
        <p:nvSpPr>
          <p:cNvPr id="125" name="Google Shape;125;p5"/>
          <p:cNvSpPr/>
          <p:nvPr/>
        </p:nvSpPr>
        <p:spPr>
          <a:xfrm>
            <a:off x="790932" y="5822752"/>
            <a:ext cx="12605147" cy="1784747"/>
          </a:xfrm>
          <a:prstGeom prst="roundRect">
            <a:avLst>
              <a:gd fmla="val 1899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779740" y="5822752"/>
            <a:ext cx="12627531" cy="1784747"/>
          </a:xfrm>
          <a:prstGeom prst="roundRect">
            <a:avLst>
              <a:gd fmla="val 1899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1005721" y="5992178"/>
            <a:ext cx="12175569" cy="1445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x, y = 5, 10</a:t>
            </a:r>
            <a:endParaRPr b="0" i="0" sz="175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print(x &gt; y) # False</a:t>
            </a:r>
            <a:endParaRPr b="0" i="0" sz="175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print(x &lt; y) # True</a:t>
            </a:r>
            <a:endParaRPr b="0" i="0" sz="175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print(x == y) # False</a:t>
            </a:r>
            <a:endParaRPr b="0" i="0" sz="1750" u="none" cap="none" strike="noStrike"/>
          </a:p>
        </p:txBody>
      </p:sp>
      <p:pic>
        <p:nvPicPr>
          <p:cNvPr descr="preencoded.png" id="128" name="Google Shape;12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/>
          <p:nvPr/>
        </p:nvSpPr>
        <p:spPr>
          <a:xfrm>
            <a:off x="793790" y="1675209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Logical Operators</a:t>
            </a:r>
            <a:endParaRPr b="0" i="0" sz="4450" u="none" cap="none" strike="noStrike"/>
          </a:p>
        </p:txBody>
      </p:sp>
      <p:sp>
        <p:nvSpPr>
          <p:cNvPr id="135" name="Google Shape;135;p6"/>
          <p:cNvSpPr/>
          <p:nvPr/>
        </p:nvSpPr>
        <p:spPr>
          <a:xfrm>
            <a:off x="793790" y="2837617"/>
            <a:ext cx="4049554" cy="1669852"/>
          </a:xfrm>
          <a:prstGeom prst="roundRect">
            <a:avLst>
              <a:gd fmla="val 203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1020604" y="306443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and</a:t>
            </a:r>
            <a:endParaRPr b="0" i="0" sz="2200" u="none" cap="none" strike="noStrike"/>
          </a:p>
        </p:txBody>
      </p:sp>
      <p:sp>
        <p:nvSpPr>
          <p:cNvPr id="137" name="Google Shape;137;p6"/>
          <p:cNvSpPr/>
          <p:nvPr/>
        </p:nvSpPr>
        <p:spPr>
          <a:xfrm>
            <a:off x="1020604" y="3554849"/>
            <a:ext cx="359592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Combines conditions, returns True if all are True</a:t>
            </a:r>
            <a:endParaRPr b="0" i="0" sz="1750" u="none" cap="none" strike="noStrike"/>
          </a:p>
        </p:txBody>
      </p:sp>
      <p:sp>
        <p:nvSpPr>
          <p:cNvPr id="138" name="Google Shape;138;p6"/>
          <p:cNvSpPr/>
          <p:nvPr/>
        </p:nvSpPr>
        <p:spPr>
          <a:xfrm>
            <a:off x="5070157" y="2837617"/>
            <a:ext cx="4049554" cy="1669852"/>
          </a:xfrm>
          <a:prstGeom prst="roundRect">
            <a:avLst>
              <a:gd fmla="val 203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5296972" y="306443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or</a:t>
            </a:r>
            <a:endParaRPr b="0" i="0" sz="2200" u="none" cap="none" strike="noStrike"/>
          </a:p>
        </p:txBody>
      </p:sp>
      <p:sp>
        <p:nvSpPr>
          <p:cNvPr id="140" name="Google Shape;140;p6"/>
          <p:cNvSpPr/>
          <p:nvPr/>
        </p:nvSpPr>
        <p:spPr>
          <a:xfrm>
            <a:off x="5296972" y="3554849"/>
            <a:ext cx="359592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Returns True if at least one condition is True</a:t>
            </a:r>
            <a:endParaRPr b="0" i="0" sz="1750" u="none" cap="none" strike="noStrike"/>
          </a:p>
        </p:txBody>
      </p:sp>
      <p:sp>
        <p:nvSpPr>
          <p:cNvPr id="141" name="Google Shape;141;p6"/>
          <p:cNvSpPr/>
          <p:nvPr/>
        </p:nvSpPr>
        <p:spPr>
          <a:xfrm>
            <a:off x="9346525" y="2837617"/>
            <a:ext cx="4049554" cy="1669852"/>
          </a:xfrm>
          <a:prstGeom prst="roundRect">
            <a:avLst>
              <a:gd fmla="val 203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9573339" y="306443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not</a:t>
            </a:r>
            <a:endParaRPr b="0" i="0" sz="2200" u="none" cap="none" strike="noStrike"/>
          </a:p>
        </p:txBody>
      </p:sp>
      <p:sp>
        <p:nvSpPr>
          <p:cNvPr id="143" name="Google Shape;143;p6"/>
          <p:cNvSpPr/>
          <p:nvPr/>
        </p:nvSpPr>
        <p:spPr>
          <a:xfrm>
            <a:off x="9573339" y="3554849"/>
            <a:ext cx="359592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Inverts the boolean value</a:t>
            </a:r>
            <a:endParaRPr b="0" i="0" sz="1750" u="none" cap="none" strike="noStrike"/>
          </a:p>
        </p:txBody>
      </p:sp>
      <p:sp>
        <p:nvSpPr>
          <p:cNvPr id="144" name="Google Shape;144;p6"/>
          <p:cNvSpPr/>
          <p:nvPr/>
        </p:nvSpPr>
        <p:spPr>
          <a:xfrm>
            <a:off x="793790" y="4762619"/>
            <a:ext cx="12602289" cy="1791652"/>
          </a:xfrm>
          <a:prstGeom prst="roundRect">
            <a:avLst>
              <a:gd fmla="val 1899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782479" y="4762619"/>
            <a:ext cx="12624911" cy="1791652"/>
          </a:xfrm>
          <a:prstGeom prst="roundRect">
            <a:avLst>
              <a:gd fmla="val 1899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1009293" y="4932640"/>
            <a:ext cx="12171283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a, b = True, False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print(a and b) # False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print(a or b) # True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print(not a) # False</a:t>
            </a:r>
            <a:endParaRPr b="0" i="0" sz="1750" u="none" cap="none" strike="noStrike"/>
          </a:p>
        </p:txBody>
      </p:sp>
      <p:pic>
        <p:nvPicPr>
          <p:cNvPr descr="preencoded.png" id="147" name="Google Shape;14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/>
          <p:nvPr/>
        </p:nvSpPr>
        <p:spPr>
          <a:xfrm>
            <a:off x="725924" y="570428"/>
            <a:ext cx="12670155" cy="611148"/>
          </a:xfrm>
          <a:prstGeom prst="roundRect">
            <a:avLst>
              <a:gd fmla="val 5091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733544" y="578048"/>
            <a:ext cx="12654915" cy="595908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940951" y="710089"/>
            <a:ext cx="2745105" cy="33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endParaRPr b="0" i="0" sz="1600" u="none" cap="none" strike="noStrike"/>
          </a:p>
        </p:txBody>
      </p:sp>
      <p:sp>
        <p:nvSpPr>
          <p:cNvPr id="156" name="Google Shape;156;p7"/>
          <p:cNvSpPr/>
          <p:nvPr/>
        </p:nvSpPr>
        <p:spPr>
          <a:xfrm>
            <a:off x="4108490" y="710089"/>
            <a:ext cx="2741295" cy="33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Operators</a:t>
            </a:r>
            <a:endParaRPr b="0" i="0" sz="1600" u="none" cap="none" strike="noStrike"/>
          </a:p>
        </p:txBody>
      </p:sp>
      <p:sp>
        <p:nvSpPr>
          <p:cNvPr id="157" name="Google Shape;157;p7"/>
          <p:cNvSpPr/>
          <p:nvPr/>
        </p:nvSpPr>
        <p:spPr>
          <a:xfrm>
            <a:off x="7272218" y="710089"/>
            <a:ext cx="2741295" cy="33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Examples</a:t>
            </a:r>
            <a:endParaRPr b="0" i="0" sz="1600" u="none" cap="none" strike="noStrike"/>
          </a:p>
        </p:txBody>
      </p:sp>
      <p:sp>
        <p:nvSpPr>
          <p:cNvPr id="158" name="Google Shape;158;p7"/>
          <p:cNvSpPr/>
          <p:nvPr/>
        </p:nvSpPr>
        <p:spPr>
          <a:xfrm>
            <a:off x="10435947" y="710089"/>
            <a:ext cx="2745105" cy="33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Usage</a:t>
            </a:r>
            <a:endParaRPr b="0" i="0" sz="1600" u="none" cap="none" strike="noStrike"/>
          </a:p>
        </p:txBody>
      </p:sp>
      <p:sp>
        <p:nvSpPr>
          <p:cNvPr id="159" name="Google Shape;159;p7"/>
          <p:cNvSpPr/>
          <p:nvPr/>
        </p:nvSpPr>
        <p:spPr>
          <a:xfrm>
            <a:off x="725924" y="1414820"/>
            <a:ext cx="12670155" cy="1274802"/>
          </a:xfrm>
          <a:prstGeom prst="roundRect">
            <a:avLst>
              <a:gd fmla="val 2441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733544" y="1422440"/>
            <a:ext cx="12654915" cy="1259562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940951" y="1554480"/>
            <a:ext cx="2745105" cy="33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Arithmetic</a:t>
            </a:r>
            <a:endParaRPr b="0" i="0" sz="1600" u="none" cap="none" strike="noStrike"/>
          </a:p>
        </p:txBody>
      </p:sp>
      <p:sp>
        <p:nvSpPr>
          <p:cNvPr id="162" name="Google Shape;162;p7"/>
          <p:cNvSpPr/>
          <p:nvPr/>
        </p:nvSpPr>
        <p:spPr>
          <a:xfrm>
            <a:off x="4108490" y="1554480"/>
            <a:ext cx="2741295" cy="354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+ - * / % // **</a:t>
            </a:r>
            <a:endParaRPr b="0" i="0" sz="1600" u="none" cap="none" strike="noStrike"/>
          </a:p>
        </p:txBody>
      </p:sp>
      <p:sp>
        <p:nvSpPr>
          <p:cNvPr id="163" name="Google Shape;163;p7"/>
          <p:cNvSpPr/>
          <p:nvPr/>
        </p:nvSpPr>
        <p:spPr>
          <a:xfrm>
            <a:off x="7272218" y="1554480"/>
            <a:ext cx="2741295" cy="354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a + b</a:t>
            </a: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a * b</a:t>
            </a:r>
            <a:endParaRPr b="0" i="0" sz="1600" u="none" cap="none" strike="noStrike"/>
          </a:p>
        </p:txBody>
      </p:sp>
      <p:sp>
        <p:nvSpPr>
          <p:cNvPr id="164" name="Google Shape;164;p7"/>
          <p:cNvSpPr/>
          <p:nvPr/>
        </p:nvSpPr>
        <p:spPr>
          <a:xfrm>
            <a:off x="10435947" y="1554480"/>
            <a:ext cx="2745105" cy="99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Basic math operations (addition, multiplication, division, modulus, etc.).</a:t>
            </a:r>
            <a:endParaRPr b="0" i="0" sz="1600" u="none" cap="none" strike="noStrike"/>
          </a:p>
        </p:txBody>
      </p:sp>
      <p:sp>
        <p:nvSpPr>
          <p:cNvPr id="165" name="Google Shape;165;p7"/>
          <p:cNvSpPr/>
          <p:nvPr/>
        </p:nvSpPr>
        <p:spPr>
          <a:xfrm>
            <a:off x="725924" y="2922865"/>
            <a:ext cx="12670155" cy="1320522"/>
          </a:xfrm>
          <a:prstGeom prst="roundRect">
            <a:avLst>
              <a:gd fmla="val 2356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733544" y="2930485"/>
            <a:ext cx="12654915" cy="1305282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940951" y="3062526"/>
            <a:ext cx="2745105" cy="33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Assignment</a:t>
            </a:r>
            <a:endParaRPr b="0" i="0" sz="1600" u="none" cap="none" strike="noStrike"/>
          </a:p>
        </p:txBody>
      </p:sp>
      <p:sp>
        <p:nvSpPr>
          <p:cNvPr id="168" name="Google Shape;168;p7"/>
          <p:cNvSpPr/>
          <p:nvPr/>
        </p:nvSpPr>
        <p:spPr>
          <a:xfrm>
            <a:off x="4108490" y="3062526"/>
            <a:ext cx="2741295" cy="354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= += -= *= /= %= //= **=</a:t>
            </a:r>
            <a:endParaRPr b="0" i="0" sz="1600" u="none" cap="none" strike="noStrike"/>
          </a:p>
        </p:txBody>
      </p:sp>
      <p:sp>
        <p:nvSpPr>
          <p:cNvPr id="169" name="Google Shape;169;p7"/>
          <p:cNvSpPr/>
          <p:nvPr/>
        </p:nvSpPr>
        <p:spPr>
          <a:xfrm>
            <a:off x="7272218" y="3062526"/>
            <a:ext cx="2741295" cy="354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x = 5</a:t>
            </a: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x += 3</a:t>
            </a:r>
            <a:endParaRPr b="0" i="0" sz="1600" u="none" cap="none" strike="noStrike"/>
          </a:p>
        </p:txBody>
      </p:sp>
      <p:sp>
        <p:nvSpPr>
          <p:cNvPr id="170" name="Google Shape;170;p7"/>
          <p:cNvSpPr/>
          <p:nvPr/>
        </p:nvSpPr>
        <p:spPr>
          <a:xfrm>
            <a:off x="10435947" y="3062526"/>
            <a:ext cx="2745105" cy="1041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Assign or update variable values in place (e.g., </a:t>
            </a: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x += 3</a:t>
            </a: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x = x + 3</a:t>
            </a: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b="0" i="0" sz="1600" u="none" cap="none" strike="noStrike"/>
          </a:p>
        </p:txBody>
      </p:sp>
      <p:sp>
        <p:nvSpPr>
          <p:cNvPr id="171" name="Google Shape;171;p7"/>
          <p:cNvSpPr/>
          <p:nvPr/>
        </p:nvSpPr>
        <p:spPr>
          <a:xfrm>
            <a:off x="725924" y="4476631"/>
            <a:ext cx="12670155" cy="1320522"/>
          </a:xfrm>
          <a:prstGeom prst="roundRect">
            <a:avLst>
              <a:gd fmla="val 2356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733544" y="4484251"/>
            <a:ext cx="12654915" cy="1305282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940951" y="4616291"/>
            <a:ext cx="2745105" cy="33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 b="0" i="0" sz="1600" u="none" cap="none" strike="noStrike"/>
          </a:p>
        </p:txBody>
      </p:sp>
      <p:sp>
        <p:nvSpPr>
          <p:cNvPr id="174" name="Google Shape;174;p7"/>
          <p:cNvSpPr/>
          <p:nvPr/>
        </p:nvSpPr>
        <p:spPr>
          <a:xfrm>
            <a:off x="4108490" y="4616291"/>
            <a:ext cx="2741295" cy="354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&gt; &lt; == != &gt;= &lt;=</a:t>
            </a:r>
            <a:endParaRPr b="0" i="0" sz="1600" u="none" cap="none" strike="noStrike"/>
          </a:p>
        </p:txBody>
      </p:sp>
      <p:sp>
        <p:nvSpPr>
          <p:cNvPr id="175" name="Google Shape;175;p7"/>
          <p:cNvSpPr/>
          <p:nvPr/>
        </p:nvSpPr>
        <p:spPr>
          <a:xfrm>
            <a:off x="7272218" y="4616291"/>
            <a:ext cx="2741295" cy="354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x &gt; y</a:t>
            </a: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x == y</a:t>
            </a:r>
            <a:endParaRPr b="0" i="0" sz="1600" u="none" cap="none" strike="noStrike"/>
          </a:p>
        </p:txBody>
      </p:sp>
      <p:sp>
        <p:nvSpPr>
          <p:cNvPr id="176" name="Google Shape;176;p7"/>
          <p:cNvSpPr/>
          <p:nvPr/>
        </p:nvSpPr>
        <p:spPr>
          <a:xfrm>
            <a:off x="10435947" y="4616291"/>
            <a:ext cx="2745105" cy="1041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Compare two values and return </a:t>
            </a: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(e.g., </a:t>
            </a: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x &gt; y</a:t>
            </a: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b="0" i="0" sz="1600" u="none" cap="none" strike="noStrike"/>
          </a:p>
        </p:txBody>
      </p:sp>
      <p:sp>
        <p:nvSpPr>
          <p:cNvPr id="177" name="Google Shape;177;p7"/>
          <p:cNvSpPr/>
          <p:nvPr/>
        </p:nvSpPr>
        <p:spPr>
          <a:xfrm>
            <a:off x="725924" y="6030397"/>
            <a:ext cx="12670155" cy="1675209"/>
          </a:xfrm>
          <a:prstGeom prst="roundRect">
            <a:avLst>
              <a:gd fmla="val 1857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733544" y="6038017"/>
            <a:ext cx="12654915" cy="165996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940951" y="6170057"/>
            <a:ext cx="2745105" cy="33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Logical</a:t>
            </a:r>
            <a:endParaRPr b="0" i="0" sz="1600" u="none" cap="none" strike="noStrike"/>
          </a:p>
        </p:txBody>
      </p:sp>
      <p:sp>
        <p:nvSpPr>
          <p:cNvPr id="180" name="Google Shape;180;p7"/>
          <p:cNvSpPr/>
          <p:nvPr/>
        </p:nvSpPr>
        <p:spPr>
          <a:xfrm>
            <a:off x="4108490" y="6170057"/>
            <a:ext cx="2741295" cy="354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and or not</a:t>
            </a:r>
            <a:endParaRPr b="0" i="0" sz="1600" u="none" cap="none" strike="noStrike"/>
          </a:p>
        </p:txBody>
      </p:sp>
      <p:sp>
        <p:nvSpPr>
          <p:cNvPr id="181" name="Google Shape;181;p7"/>
          <p:cNvSpPr/>
          <p:nvPr/>
        </p:nvSpPr>
        <p:spPr>
          <a:xfrm>
            <a:off x="7272218" y="6170057"/>
            <a:ext cx="2741295" cy="354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a and b</a:t>
            </a: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not a</a:t>
            </a:r>
            <a:endParaRPr b="0" i="0" sz="1600" u="none" cap="none" strike="noStrike"/>
          </a:p>
        </p:txBody>
      </p:sp>
      <p:sp>
        <p:nvSpPr>
          <p:cNvPr id="182" name="Google Shape;182;p7"/>
          <p:cNvSpPr/>
          <p:nvPr/>
        </p:nvSpPr>
        <p:spPr>
          <a:xfrm>
            <a:off x="10435947" y="6170057"/>
            <a:ext cx="2745105" cy="1395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Combine or invert Boolean expressions (e.g., </a:t>
            </a: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a and b</a:t>
            </a: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only if both </a:t>
            </a: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are </a:t>
            </a:r>
            <a:r>
              <a:rPr b="0" i="0" lang="en-US" sz="16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b="0" i="0" sz="1600" u="none" cap="none" strike="noStrike"/>
          </a:p>
        </p:txBody>
      </p:sp>
      <p:pic>
        <p:nvPicPr>
          <p:cNvPr descr="preencoded.png" id="183" name="Google Shape;18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/>
          <p:nvPr/>
        </p:nvSpPr>
        <p:spPr>
          <a:xfrm>
            <a:off x="793790" y="2032516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Summary</a:t>
            </a:r>
            <a:endParaRPr b="0" i="0" sz="4450" u="none" cap="none" strike="noStrike"/>
          </a:p>
        </p:txBody>
      </p:sp>
      <p:sp>
        <p:nvSpPr>
          <p:cNvPr id="190" name="Google Shape;190;p8"/>
          <p:cNvSpPr/>
          <p:nvPr/>
        </p:nvSpPr>
        <p:spPr>
          <a:xfrm>
            <a:off x="793790" y="3308271"/>
            <a:ext cx="358271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Arithmetic &amp; Assignment</a:t>
            </a:r>
            <a:endParaRPr b="0" i="0" sz="2200" u="none" cap="none" strike="noStrike"/>
          </a:p>
        </p:txBody>
      </p:sp>
      <p:sp>
        <p:nvSpPr>
          <p:cNvPr id="191" name="Google Shape;191;p8"/>
          <p:cNvSpPr/>
          <p:nvPr/>
        </p:nvSpPr>
        <p:spPr>
          <a:xfrm>
            <a:off x="793790" y="3889415"/>
            <a:ext cx="383131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Math: +, -, *, /, %, //, **</a:t>
            </a:r>
            <a:endParaRPr b="0" i="0" sz="1750" u="none" cap="none" strike="noStrike"/>
          </a:p>
        </p:txBody>
      </p:sp>
      <p:sp>
        <p:nvSpPr>
          <p:cNvPr id="192" name="Google Shape;192;p8"/>
          <p:cNvSpPr/>
          <p:nvPr/>
        </p:nvSpPr>
        <p:spPr>
          <a:xfrm>
            <a:off x="793790" y="4331613"/>
            <a:ext cx="383131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Assignment: =, +=, -=</a:t>
            </a:r>
            <a:endParaRPr b="0" i="0" sz="1750" u="none" cap="none" strike="noStrike"/>
          </a:p>
        </p:txBody>
      </p:sp>
      <p:sp>
        <p:nvSpPr>
          <p:cNvPr id="193" name="Google Shape;193;p8"/>
          <p:cNvSpPr/>
          <p:nvPr/>
        </p:nvSpPr>
        <p:spPr>
          <a:xfrm>
            <a:off x="793790" y="4773811"/>
            <a:ext cx="383131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Combined (+=) for one-step operations</a:t>
            </a:r>
            <a:endParaRPr b="0" i="0" sz="1750" u="none" cap="none" strike="noStrike"/>
          </a:p>
        </p:txBody>
      </p:sp>
      <p:sp>
        <p:nvSpPr>
          <p:cNvPr id="194" name="Google Shape;194;p8"/>
          <p:cNvSpPr/>
          <p:nvPr/>
        </p:nvSpPr>
        <p:spPr>
          <a:xfrm>
            <a:off x="5186124" y="330827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Comparison</a:t>
            </a:r>
            <a:endParaRPr b="0" i="0" sz="2200" u="none" cap="none" strike="noStrike"/>
          </a:p>
        </p:txBody>
      </p:sp>
      <p:sp>
        <p:nvSpPr>
          <p:cNvPr id="195" name="Google Shape;195;p8"/>
          <p:cNvSpPr/>
          <p:nvPr/>
        </p:nvSpPr>
        <p:spPr>
          <a:xfrm>
            <a:off x="5186124" y="3889415"/>
            <a:ext cx="383131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Equality: == and !=</a:t>
            </a:r>
            <a:endParaRPr b="0" i="0" sz="1750" u="none" cap="none" strike="noStrike"/>
          </a:p>
        </p:txBody>
      </p:sp>
      <p:sp>
        <p:nvSpPr>
          <p:cNvPr id="196" name="Google Shape;196;p8"/>
          <p:cNvSpPr/>
          <p:nvPr/>
        </p:nvSpPr>
        <p:spPr>
          <a:xfrm>
            <a:off x="5186124" y="4331613"/>
            <a:ext cx="383131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Comparison: &lt;, &gt;</a:t>
            </a:r>
            <a:endParaRPr b="0" i="0" sz="1750" u="none" cap="none" strike="noStrike"/>
          </a:p>
        </p:txBody>
      </p:sp>
      <p:sp>
        <p:nvSpPr>
          <p:cNvPr id="197" name="Google Shape;197;p8"/>
          <p:cNvSpPr/>
          <p:nvPr/>
        </p:nvSpPr>
        <p:spPr>
          <a:xfrm>
            <a:off x="5186124" y="4773811"/>
            <a:ext cx="383131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Inclusive: &gt;=, &lt;=</a:t>
            </a:r>
            <a:endParaRPr b="0" i="0" sz="1750" u="none" cap="none" strike="noStrike"/>
          </a:p>
        </p:txBody>
      </p:sp>
      <p:sp>
        <p:nvSpPr>
          <p:cNvPr id="198" name="Google Shape;198;p8"/>
          <p:cNvSpPr/>
          <p:nvPr/>
        </p:nvSpPr>
        <p:spPr>
          <a:xfrm>
            <a:off x="9578459" y="330827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Logical</a:t>
            </a:r>
            <a:endParaRPr b="0" i="0" sz="2200" u="none" cap="none" strike="noStrike"/>
          </a:p>
        </p:txBody>
      </p:sp>
      <p:sp>
        <p:nvSpPr>
          <p:cNvPr id="199" name="Google Shape;199;p8"/>
          <p:cNvSpPr/>
          <p:nvPr/>
        </p:nvSpPr>
        <p:spPr>
          <a:xfrm>
            <a:off x="9578459" y="3889415"/>
            <a:ext cx="383131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and: Requires both True</a:t>
            </a:r>
            <a:endParaRPr b="0" i="0" sz="1750" u="none" cap="none" strike="noStrike"/>
          </a:p>
        </p:txBody>
      </p:sp>
      <p:sp>
        <p:nvSpPr>
          <p:cNvPr id="200" name="Google Shape;200;p8"/>
          <p:cNvSpPr/>
          <p:nvPr/>
        </p:nvSpPr>
        <p:spPr>
          <a:xfrm>
            <a:off x="9578459" y="4331613"/>
            <a:ext cx="383131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or: Needs one True</a:t>
            </a:r>
            <a:endParaRPr b="0" i="0" sz="1750" u="none" cap="none" strike="noStrike"/>
          </a:p>
        </p:txBody>
      </p:sp>
      <p:sp>
        <p:nvSpPr>
          <p:cNvPr id="201" name="Google Shape;201;p8"/>
          <p:cNvSpPr/>
          <p:nvPr/>
        </p:nvSpPr>
        <p:spPr>
          <a:xfrm>
            <a:off x="9578459" y="4773811"/>
            <a:ext cx="383131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not: Inverts boolean</a:t>
            </a:r>
            <a:endParaRPr b="0" i="0" sz="1750" u="none" cap="none" strike="noStrike"/>
          </a:p>
        </p:txBody>
      </p:sp>
      <p:sp>
        <p:nvSpPr>
          <p:cNvPr id="202" name="Google Shape;202;p8"/>
          <p:cNvSpPr/>
          <p:nvPr/>
        </p:nvSpPr>
        <p:spPr>
          <a:xfrm>
            <a:off x="793790" y="5834063"/>
            <a:ext cx="126022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These operators enable comparisons, calculations, and logic control in Python.</a:t>
            </a:r>
            <a:endParaRPr b="0" i="0" sz="1750" u="none" cap="none" strike="noStrike"/>
          </a:p>
        </p:txBody>
      </p:sp>
      <p:pic>
        <p:nvPicPr>
          <p:cNvPr descr="preencoded.png" id="203" name="Google Shape;20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2025-02-19T11:09:31Z</dcterms:created>
  <dc:creator>PptxGenJS</dc:creator>
</cp:coreProperties>
</file>