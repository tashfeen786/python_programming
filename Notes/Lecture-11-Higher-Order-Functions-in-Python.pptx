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8229600" cx="14630400"/>
  <p:notesSz cx="8229600" cy="14630400"/>
  <p:embeddedFontLst>
    <p:embeddedFont>
      <p:font typeface="Platypi Medium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qacUTubFsc/jmnh8H4n64NtwW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typiMedium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PlatypiMedium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typiMedium-bold.fntdata"/><Relationship Id="rId6" Type="http://schemas.openxmlformats.org/officeDocument/2006/relationships/slide" Target="slides/slide2.xml"/><Relationship Id="rId18" Type="http://schemas.openxmlformats.org/officeDocument/2006/relationships/font" Target="fonts/PlatypiMedium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16.png"/><Relationship Id="rId7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1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4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5" name="Google Shape;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/>
          <p:nvPr/>
        </p:nvSpPr>
        <p:spPr>
          <a:xfrm>
            <a:off x="6280190" y="2182177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Lecture 11:</a:t>
            </a:r>
            <a:b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</a:b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Higher-Order Functions in Python</a:t>
            </a:r>
            <a:endParaRPr b="0" i="0" sz="4450" u="none" cap="none" strike="noStrike"/>
          </a:p>
        </p:txBody>
      </p:sp>
      <p:pic>
        <p:nvPicPr>
          <p:cNvPr descr="preencoded.png" id="57" name="Google Shape;5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0190" y="4648676"/>
            <a:ext cx="1398746" cy="13987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" name="Google Shape;5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/>
          <p:nvPr/>
        </p:nvSpPr>
        <p:spPr>
          <a:xfrm>
            <a:off x="793790" y="1173599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What are Higher-Order Functions?</a:t>
            </a:r>
            <a:endParaRPr b="0" i="0" sz="4450" u="none" cap="none" strike="noStrike"/>
          </a:p>
        </p:txBody>
      </p:sp>
      <p:sp>
        <p:nvSpPr>
          <p:cNvPr id="66" name="Google Shape;66;p2"/>
          <p:cNvSpPr/>
          <p:nvPr/>
        </p:nvSpPr>
        <p:spPr>
          <a:xfrm>
            <a:off x="793790" y="3186470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1530906" y="3186470"/>
            <a:ext cx="6819305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Functions that take another function as an argument or return a function as output</a:t>
            </a:r>
            <a:endParaRPr b="0" i="0" sz="2200" u="none" cap="none" strike="noStrike"/>
          </a:p>
        </p:txBody>
      </p:sp>
      <p:sp>
        <p:nvSpPr>
          <p:cNvPr id="68" name="Google Shape;68;p2"/>
          <p:cNvSpPr/>
          <p:nvPr/>
        </p:nvSpPr>
        <p:spPr>
          <a:xfrm>
            <a:off x="793790" y="443388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1530906" y="4433888"/>
            <a:ext cx="465832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Common Higher-Order Functions</a:t>
            </a:r>
            <a:endParaRPr b="0" i="0" sz="2200" u="none" cap="none" strike="noStrike"/>
          </a:p>
        </p:txBody>
      </p:sp>
      <p:sp>
        <p:nvSpPr>
          <p:cNvPr id="70" name="Google Shape;70;p2"/>
          <p:cNvSpPr/>
          <p:nvPr/>
        </p:nvSpPr>
        <p:spPr>
          <a:xfrm>
            <a:off x="1530906" y="4924306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map(): Applies a function to every item in an iterable</a:t>
            </a:r>
            <a:endParaRPr b="0" i="0" sz="1750" u="none" cap="none" strike="noStrike"/>
          </a:p>
        </p:txBody>
      </p:sp>
      <p:sp>
        <p:nvSpPr>
          <p:cNvPr id="71" name="Google Shape;71;p2"/>
          <p:cNvSpPr/>
          <p:nvPr/>
        </p:nvSpPr>
        <p:spPr>
          <a:xfrm>
            <a:off x="1530906" y="5366504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filter(): Filters elements based on a condition</a:t>
            </a:r>
            <a:endParaRPr b="0" i="0" sz="1750" u="none" cap="none" strike="noStrike"/>
          </a:p>
        </p:txBody>
      </p:sp>
      <p:sp>
        <p:nvSpPr>
          <p:cNvPr id="72" name="Google Shape;72;p2"/>
          <p:cNvSpPr/>
          <p:nvPr/>
        </p:nvSpPr>
        <p:spPr>
          <a:xfrm>
            <a:off x="1530906" y="5808702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reduce(): Reduces a sequence to a single value</a:t>
            </a:r>
            <a:endParaRPr b="0" i="0" sz="1750" u="none" cap="none" strike="noStrike"/>
          </a:p>
        </p:txBody>
      </p:sp>
      <p:sp>
        <p:nvSpPr>
          <p:cNvPr id="73" name="Google Shape;73;p2"/>
          <p:cNvSpPr/>
          <p:nvPr/>
        </p:nvSpPr>
        <p:spPr>
          <a:xfrm>
            <a:off x="1530906" y="6250900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zip(): Combines multiple iterables into tuples</a:t>
            </a:r>
            <a:endParaRPr b="0" i="0" sz="1750" u="none" cap="none" strike="noStrike"/>
          </a:p>
        </p:txBody>
      </p:sp>
      <p:sp>
        <p:nvSpPr>
          <p:cNvPr id="74" name="Google Shape;74;p2"/>
          <p:cNvSpPr/>
          <p:nvPr/>
        </p:nvSpPr>
        <p:spPr>
          <a:xfrm>
            <a:off x="1530906" y="6693098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enumerate(): Adds an index to an iterable</a:t>
            </a:r>
            <a:endParaRPr b="0" i="0" sz="1750" u="none" cap="none" strike="noStrike"/>
          </a:p>
        </p:txBody>
      </p:sp>
      <p:pic>
        <p:nvPicPr>
          <p:cNvPr descr="preencoded.png" id="75" name="Google Shape;7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" name="Google Shape;8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/>
          <p:nvPr/>
        </p:nvSpPr>
        <p:spPr>
          <a:xfrm>
            <a:off x="6280190" y="1194554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Understanding map() Function</a:t>
            </a:r>
            <a:endParaRPr b="0" i="0" sz="4450" u="none" cap="none" strike="noStrike"/>
          </a:p>
        </p:txBody>
      </p:sp>
      <p:pic>
        <p:nvPicPr>
          <p:cNvPr descr="preencoded.png" id="83" name="Google Shape;8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0190" y="2952274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/>
          <p:nvPr/>
        </p:nvSpPr>
        <p:spPr>
          <a:xfrm>
            <a:off x="7754422" y="3179088"/>
            <a:ext cx="6082189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map() applies a function to every item in an iterable</a:t>
            </a:r>
            <a:endParaRPr b="0" i="0" sz="2200" u="none" cap="none" strike="noStrike"/>
          </a:p>
        </p:txBody>
      </p:sp>
      <p:pic>
        <p:nvPicPr>
          <p:cNvPr descr="preencoded.png" id="85" name="Google Shape;8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0190" y="4313158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7754422" y="4539972"/>
            <a:ext cx="430125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Syntax: map(function, iterable)</a:t>
            </a:r>
            <a:endParaRPr b="0" i="0" sz="2200" u="none" cap="none" strike="noStrike"/>
          </a:p>
        </p:txBody>
      </p:sp>
      <p:pic>
        <p:nvPicPr>
          <p:cNvPr descr="preencoded.png" id="87" name="Google Shape;8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0190" y="5674042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/>
          <p:nvPr/>
        </p:nvSpPr>
        <p:spPr>
          <a:xfrm>
            <a:off x="7754422" y="5900857"/>
            <a:ext cx="6082189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Example: Use map() to double numbers in a list</a:t>
            </a:r>
            <a:endParaRPr b="0" i="0" sz="2200" u="none" cap="none" strike="noStrike"/>
          </a:p>
        </p:txBody>
      </p:sp>
      <p:pic>
        <p:nvPicPr>
          <p:cNvPr descr="preencoded.png" id="89" name="Google Shape;89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/>
          <p:nvPr/>
        </p:nvSpPr>
        <p:spPr>
          <a:xfrm>
            <a:off x="793790" y="749975"/>
            <a:ext cx="7411283" cy="602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750"/>
              <a:buFont typeface="Platypi Medium"/>
              <a:buNone/>
            </a:pPr>
            <a:r>
              <a:rPr b="0" i="0" lang="en-US" sz="37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Understanding filter() Function</a:t>
            </a:r>
            <a:endParaRPr b="0" i="0" sz="3750" u="none" cap="none" strike="noStrike"/>
          </a:p>
        </p:txBody>
      </p:sp>
      <p:sp>
        <p:nvSpPr>
          <p:cNvPr id="96" name="Google Shape;96;p4"/>
          <p:cNvSpPr/>
          <p:nvPr/>
        </p:nvSpPr>
        <p:spPr>
          <a:xfrm>
            <a:off x="793790" y="1858447"/>
            <a:ext cx="433745" cy="433745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866001" y="1894523"/>
            <a:ext cx="289203" cy="36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50"/>
              <a:buFont typeface="Platypi Medium"/>
              <a:buNone/>
            </a:pPr>
            <a:r>
              <a:rPr b="0" i="0" lang="en-US" sz="22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250" u="none" cap="none" strike="noStrike"/>
          </a:p>
        </p:txBody>
      </p:sp>
      <p:sp>
        <p:nvSpPr>
          <p:cNvPr id="98" name="Google Shape;98;p4"/>
          <p:cNvSpPr/>
          <p:nvPr/>
        </p:nvSpPr>
        <p:spPr>
          <a:xfrm>
            <a:off x="1420297" y="1858447"/>
            <a:ext cx="3592592" cy="602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b="0" i="0" lang="en-US" sz="1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filter() filters elements based on a given condition</a:t>
            </a:r>
            <a:endParaRPr b="0" i="0" sz="1850" u="none" cap="none" strike="noStrike"/>
          </a:p>
        </p:txBody>
      </p:sp>
      <p:sp>
        <p:nvSpPr>
          <p:cNvPr id="99" name="Google Shape;99;p4"/>
          <p:cNvSpPr/>
          <p:nvPr/>
        </p:nvSpPr>
        <p:spPr>
          <a:xfrm>
            <a:off x="5205651" y="1858447"/>
            <a:ext cx="433745" cy="433745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5277862" y="1894523"/>
            <a:ext cx="289203" cy="36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50"/>
              <a:buFont typeface="Platypi Medium"/>
              <a:buNone/>
            </a:pPr>
            <a:r>
              <a:rPr b="0" i="0" lang="en-US" sz="22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250" u="none" cap="none" strike="noStrike"/>
          </a:p>
        </p:txBody>
      </p:sp>
      <p:sp>
        <p:nvSpPr>
          <p:cNvPr id="101" name="Google Shape;101;p4"/>
          <p:cNvSpPr/>
          <p:nvPr/>
        </p:nvSpPr>
        <p:spPr>
          <a:xfrm>
            <a:off x="5832158" y="1858447"/>
            <a:ext cx="3592592" cy="602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b="0" i="0" lang="en-US" sz="1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Syntax: filter(function, iterable)</a:t>
            </a:r>
            <a:endParaRPr b="0" i="0" sz="1850" u="none" cap="none" strike="noStrike"/>
          </a:p>
        </p:txBody>
      </p:sp>
      <p:sp>
        <p:nvSpPr>
          <p:cNvPr id="102" name="Google Shape;102;p4"/>
          <p:cNvSpPr/>
          <p:nvPr/>
        </p:nvSpPr>
        <p:spPr>
          <a:xfrm>
            <a:off x="9617512" y="1858447"/>
            <a:ext cx="433745" cy="433745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9689723" y="1894523"/>
            <a:ext cx="289203" cy="36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50"/>
              <a:buFont typeface="Platypi Medium"/>
              <a:buNone/>
            </a:pPr>
            <a:r>
              <a:rPr b="0" i="0" lang="en-US" sz="22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250" u="none" cap="none" strike="noStrike"/>
          </a:p>
        </p:txBody>
      </p:sp>
      <p:sp>
        <p:nvSpPr>
          <p:cNvPr id="104" name="Google Shape;104;p4"/>
          <p:cNvSpPr/>
          <p:nvPr/>
        </p:nvSpPr>
        <p:spPr>
          <a:xfrm>
            <a:off x="10244018" y="1858447"/>
            <a:ext cx="3592592" cy="903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b="0" i="0" lang="en-US" sz="1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Example: Use filter() to extract even numbers from a list</a:t>
            </a:r>
            <a:endParaRPr b="0" i="0" sz="1850" u="none" cap="none" strike="noStrike"/>
          </a:p>
        </p:txBody>
      </p:sp>
      <p:pic>
        <p:nvPicPr>
          <p:cNvPr descr="preencoded.png"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4" title="filter func.gif"/>
          <p:cNvPicPr preferRelativeResize="0"/>
          <p:nvPr/>
        </p:nvPicPr>
        <p:blipFill rotWithShape="1">
          <a:blip r:embed="rId4">
            <a:alphaModFix/>
          </a:blip>
          <a:srcRect b="11959" l="0" r="0" t="8148"/>
          <a:stretch/>
        </p:blipFill>
        <p:spPr>
          <a:xfrm>
            <a:off x="1328738" y="3137850"/>
            <a:ext cx="11972925" cy="496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/>
          <p:nvPr/>
        </p:nvSpPr>
        <p:spPr>
          <a:xfrm>
            <a:off x="793790" y="888087"/>
            <a:ext cx="7348299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550"/>
              <a:buFont typeface="Platypi Medium"/>
              <a:buNone/>
            </a:pPr>
            <a:r>
              <a:rPr b="0" i="0" lang="en-US" sz="35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Understanding reduce() Function</a:t>
            </a:r>
            <a:endParaRPr b="0" i="0" sz="3550" u="none" cap="none" strike="noStrike"/>
          </a:p>
        </p:txBody>
      </p:sp>
      <p:sp>
        <p:nvSpPr>
          <p:cNvPr id="113" name="Google Shape;113;p5"/>
          <p:cNvSpPr/>
          <p:nvPr/>
        </p:nvSpPr>
        <p:spPr>
          <a:xfrm>
            <a:off x="793790" y="2022038"/>
            <a:ext cx="408265" cy="408265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861774" y="2056031"/>
            <a:ext cx="272177" cy="3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100" u="none" cap="none" strike="noStrike"/>
          </a:p>
        </p:txBody>
      </p:sp>
      <p:sp>
        <p:nvSpPr>
          <p:cNvPr id="115" name="Google Shape;115;p5"/>
          <p:cNvSpPr/>
          <p:nvPr/>
        </p:nvSpPr>
        <p:spPr>
          <a:xfrm>
            <a:off x="1383506" y="2022038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Platypi Medium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Single Value Result</a:t>
            </a:r>
            <a:endParaRPr b="0" i="0" sz="1750" u="none" cap="none" strike="noStrike"/>
          </a:p>
        </p:txBody>
      </p:sp>
      <p:sp>
        <p:nvSpPr>
          <p:cNvPr id="116" name="Google Shape;116;p5"/>
          <p:cNvSpPr/>
          <p:nvPr/>
        </p:nvSpPr>
        <p:spPr>
          <a:xfrm>
            <a:off x="4099917" y="2022038"/>
            <a:ext cx="408265" cy="408265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4167902" y="2056031"/>
            <a:ext cx="272177" cy="3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100" u="none" cap="none" strike="noStrike"/>
          </a:p>
        </p:txBody>
      </p:sp>
      <p:sp>
        <p:nvSpPr>
          <p:cNvPr id="118" name="Google Shape;118;p5"/>
          <p:cNvSpPr/>
          <p:nvPr/>
        </p:nvSpPr>
        <p:spPr>
          <a:xfrm>
            <a:off x="4689634" y="2022038"/>
            <a:ext cx="2534960" cy="850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Platypi Medium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reduce() reduces a sequence to a single value</a:t>
            </a:r>
            <a:endParaRPr b="0" i="0" sz="1750" u="none" cap="none" strike="noStrike"/>
          </a:p>
        </p:txBody>
      </p:sp>
      <p:sp>
        <p:nvSpPr>
          <p:cNvPr id="119" name="Google Shape;119;p5"/>
          <p:cNvSpPr/>
          <p:nvPr/>
        </p:nvSpPr>
        <p:spPr>
          <a:xfrm>
            <a:off x="7406045" y="2022038"/>
            <a:ext cx="408265" cy="408265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7474029" y="2056031"/>
            <a:ext cx="272177" cy="3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100" u="none" cap="none" strike="noStrike"/>
          </a:p>
        </p:txBody>
      </p:sp>
      <p:sp>
        <p:nvSpPr>
          <p:cNvPr id="121" name="Google Shape;121;p5"/>
          <p:cNvSpPr/>
          <p:nvPr/>
        </p:nvSpPr>
        <p:spPr>
          <a:xfrm>
            <a:off x="7995761" y="2022038"/>
            <a:ext cx="2534960" cy="850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Platypi Medium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Syntax: reduce(function, iterable)</a:t>
            </a:r>
            <a:endParaRPr b="0" i="0" sz="1750" u="none" cap="none" strike="noStrike"/>
          </a:p>
        </p:txBody>
      </p:sp>
      <p:sp>
        <p:nvSpPr>
          <p:cNvPr id="122" name="Google Shape;122;p5"/>
          <p:cNvSpPr/>
          <p:nvPr/>
        </p:nvSpPr>
        <p:spPr>
          <a:xfrm>
            <a:off x="10712172" y="2022038"/>
            <a:ext cx="408265" cy="408265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10780157" y="2056031"/>
            <a:ext cx="272177" cy="3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b="0" i="0" lang="en-US" sz="21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endParaRPr b="0" i="0" sz="2100" u="none" cap="none" strike="noStrike"/>
          </a:p>
        </p:txBody>
      </p:sp>
      <p:sp>
        <p:nvSpPr>
          <p:cNvPr id="124" name="Google Shape;124;p5"/>
          <p:cNvSpPr/>
          <p:nvPr/>
        </p:nvSpPr>
        <p:spPr>
          <a:xfrm>
            <a:off x="11301889" y="2022038"/>
            <a:ext cx="2534960" cy="850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Platypi Medium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Example: Use reduce() to find the product of all numbers in a list</a:t>
            </a:r>
            <a:endParaRPr b="0" i="0" sz="1750" u="none" cap="none" strike="noStrike"/>
          </a:p>
        </p:txBody>
      </p:sp>
      <p:pic>
        <p:nvPicPr>
          <p:cNvPr descr="preencoded.png" id="125" name="Google Shape;1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5" title="reduce func.gif"/>
          <p:cNvPicPr preferRelativeResize="0"/>
          <p:nvPr/>
        </p:nvPicPr>
        <p:blipFill rotWithShape="1">
          <a:blip r:embed="rId4">
            <a:alphaModFix/>
          </a:blip>
          <a:srcRect b="14478" l="0" r="0" t="8751"/>
          <a:stretch/>
        </p:blipFill>
        <p:spPr>
          <a:xfrm>
            <a:off x="1371325" y="3219675"/>
            <a:ext cx="11887751" cy="4733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793790" y="1672471"/>
            <a:ext cx="817471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Understanding zip() Function</a:t>
            </a:r>
            <a:endParaRPr b="0" i="0" sz="4450" u="none" cap="none" strike="noStrike"/>
          </a:p>
        </p:txBody>
      </p:sp>
      <p:sp>
        <p:nvSpPr>
          <p:cNvPr id="133" name="Google Shape;133;p6"/>
          <p:cNvSpPr/>
          <p:nvPr/>
        </p:nvSpPr>
        <p:spPr>
          <a:xfrm>
            <a:off x="793790" y="2948226"/>
            <a:ext cx="3978116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zip() combines multiple iterables into tuples</a:t>
            </a:r>
            <a:endParaRPr b="0" i="0" sz="2200" u="none" cap="none" strike="noStrike"/>
          </a:p>
        </p:txBody>
      </p:sp>
      <p:sp>
        <p:nvSpPr>
          <p:cNvPr id="134" name="Google Shape;134;p6"/>
          <p:cNvSpPr/>
          <p:nvPr/>
        </p:nvSpPr>
        <p:spPr>
          <a:xfrm>
            <a:off x="793790" y="3883700"/>
            <a:ext cx="3978116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zip() function takes multiple iterables and returns an iterator of tuples, where each tuple contains the corresponding elements from the input iterables.</a:t>
            </a:r>
            <a:endParaRPr b="0" i="0" sz="1750" u="none" cap="none" strike="noStrike"/>
          </a:p>
        </p:txBody>
      </p:sp>
      <p:sp>
        <p:nvSpPr>
          <p:cNvPr id="135" name="Google Shape;135;p6"/>
          <p:cNvSpPr/>
          <p:nvPr/>
        </p:nvSpPr>
        <p:spPr>
          <a:xfrm>
            <a:off x="5332928" y="294822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Syntax</a:t>
            </a:r>
            <a:endParaRPr b="0" i="0" sz="2200" u="none" cap="none" strike="noStrike"/>
          </a:p>
        </p:txBody>
      </p:sp>
      <p:sp>
        <p:nvSpPr>
          <p:cNvPr id="136" name="Google Shape;136;p6"/>
          <p:cNvSpPr/>
          <p:nvPr/>
        </p:nvSpPr>
        <p:spPr>
          <a:xfrm>
            <a:off x="5332928" y="3557707"/>
            <a:ext cx="3978116" cy="702945"/>
          </a:xfrm>
          <a:prstGeom prst="roundRect">
            <a:avLst>
              <a:gd fmla="val 4840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5321625" y="3557697"/>
            <a:ext cx="4000800" cy="1025100"/>
          </a:xfrm>
          <a:prstGeom prst="roundRect">
            <a:avLst>
              <a:gd fmla="val 4840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5548432" y="3727728"/>
            <a:ext cx="35471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zip(iterable1, iterable2, ...)</a:t>
            </a:r>
            <a:endParaRPr b="0" i="0" sz="1750" u="none" cap="none" strike="noStrike"/>
          </a:p>
        </p:txBody>
      </p:sp>
      <p:sp>
        <p:nvSpPr>
          <p:cNvPr id="139" name="Google Shape;139;p6"/>
          <p:cNvSpPr/>
          <p:nvPr/>
        </p:nvSpPr>
        <p:spPr>
          <a:xfrm>
            <a:off x="9872067" y="294822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</a:t>
            </a:r>
            <a:endParaRPr b="0" i="0" sz="2200" u="none" cap="none" strike="noStrike"/>
          </a:p>
        </p:txBody>
      </p:sp>
      <p:sp>
        <p:nvSpPr>
          <p:cNvPr id="140" name="Google Shape;140;p6"/>
          <p:cNvSpPr/>
          <p:nvPr/>
        </p:nvSpPr>
        <p:spPr>
          <a:xfrm>
            <a:off x="9872067" y="3529370"/>
            <a:ext cx="397811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zip() to pair names with ages:</a:t>
            </a:r>
            <a:endParaRPr b="0" i="0" sz="1750" u="none" cap="none" strike="noStrike"/>
          </a:p>
        </p:txBody>
      </p:sp>
      <p:sp>
        <p:nvSpPr>
          <p:cNvPr id="141" name="Google Shape;141;p6"/>
          <p:cNvSpPr/>
          <p:nvPr/>
        </p:nvSpPr>
        <p:spPr>
          <a:xfrm>
            <a:off x="9872067" y="4147423"/>
            <a:ext cx="3978116" cy="2154555"/>
          </a:xfrm>
          <a:prstGeom prst="roundRect">
            <a:avLst>
              <a:gd fmla="val 1579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9860750" y="4147426"/>
            <a:ext cx="4000800" cy="2755500"/>
          </a:xfrm>
          <a:prstGeom prst="roundRect">
            <a:avLst>
              <a:gd fmla="val 1579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10087570" y="4317444"/>
            <a:ext cx="3547110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names = ["Alice", "Bob", "Charlie"]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ages = [25, 30, 35]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pairs = zip(names, ages)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# Result: [("Alice", 25), ("Bob", 30), ("Charlie", 35)]</a:t>
            </a:r>
            <a:endParaRPr b="0" i="0" sz="1750" u="none" cap="none" strike="noStrike"/>
          </a:p>
        </p:txBody>
      </p:sp>
      <p:pic>
        <p:nvPicPr>
          <p:cNvPr descr="preencoded.png" id="144" name="Google Shape;1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793790" y="1970127"/>
            <a:ext cx="1033998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Understanding enumerate() Function</a:t>
            </a:r>
            <a:endParaRPr b="0" i="0" sz="4450" u="none" cap="none" strike="noStrike"/>
          </a:p>
        </p:txBody>
      </p:sp>
      <p:sp>
        <p:nvSpPr>
          <p:cNvPr id="151" name="Google Shape;151;p7"/>
          <p:cNvSpPr/>
          <p:nvPr/>
        </p:nvSpPr>
        <p:spPr>
          <a:xfrm>
            <a:off x="793790" y="3019068"/>
            <a:ext cx="170021" cy="853321"/>
          </a:xfrm>
          <a:prstGeom prst="roundRect">
            <a:avLst>
              <a:gd fmla="val 20012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303973" y="3019068"/>
            <a:ext cx="563939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enumerate() adds an index to an iterable</a:t>
            </a:r>
            <a:endParaRPr b="0" i="0" sz="2200" u="none" cap="none" strike="noStrike"/>
          </a:p>
        </p:txBody>
      </p:sp>
      <p:sp>
        <p:nvSpPr>
          <p:cNvPr id="153" name="Google Shape;153;p7"/>
          <p:cNvSpPr/>
          <p:nvPr/>
        </p:nvSpPr>
        <p:spPr>
          <a:xfrm>
            <a:off x="1303973" y="3509486"/>
            <a:ext cx="1253263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This function adds a counter to each item in the iterable, returning an enumerate object.</a:t>
            </a:r>
            <a:endParaRPr b="0" i="0" sz="1750" u="none" cap="none" strike="noStrike"/>
          </a:p>
        </p:txBody>
      </p:sp>
      <p:sp>
        <p:nvSpPr>
          <p:cNvPr id="154" name="Google Shape;154;p7"/>
          <p:cNvSpPr/>
          <p:nvPr/>
        </p:nvSpPr>
        <p:spPr>
          <a:xfrm>
            <a:off x="1133951" y="4099203"/>
            <a:ext cx="170021" cy="853321"/>
          </a:xfrm>
          <a:prstGeom prst="roundRect">
            <a:avLst>
              <a:gd fmla="val 20012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1644134" y="4099203"/>
            <a:ext cx="501765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Syntax: enumerate(iterable, start=0)</a:t>
            </a:r>
            <a:endParaRPr b="0" i="0" sz="2200" u="none" cap="none" strike="noStrike"/>
          </a:p>
        </p:txBody>
      </p:sp>
      <p:sp>
        <p:nvSpPr>
          <p:cNvPr id="156" name="Google Shape;156;p7"/>
          <p:cNvSpPr/>
          <p:nvPr/>
        </p:nvSpPr>
        <p:spPr>
          <a:xfrm>
            <a:off x="1644134" y="4589621"/>
            <a:ext cx="121924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start parameter allows you to specify the starting value for the counter (default is 0).</a:t>
            </a:r>
            <a:endParaRPr b="0" i="0" sz="1750" u="none" cap="none" strike="noStrike"/>
          </a:p>
        </p:txBody>
      </p:sp>
      <p:sp>
        <p:nvSpPr>
          <p:cNvPr id="157" name="Google Shape;157;p7"/>
          <p:cNvSpPr/>
          <p:nvPr/>
        </p:nvSpPr>
        <p:spPr>
          <a:xfrm>
            <a:off x="1474232" y="5179338"/>
            <a:ext cx="170021" cy="853321"/>
          </a:xfrm>
          <a:prstGeom prst="roundRect">
            <a:avLst>
              <a:gd fmla="val 20012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1984415" y="5179338"/>
            <a:ext cx="827162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Example: Use enumerate() to create an indexed list of fruits</a:t>
            </a:r>
            <a:endParaRPr b="0" i="0" sz="2200" u="none" cap="none" strike="noStrike"/>
          </a:p>
        </p:txBody>
      </p:sp>
      <p:sp>
        <p:nvSpPr>
          <p:cNvPr id="159" name="Google Shape;159;p7"/>
          <p:cNvSpPr/>
          <p:nvPr/>
        </p:nvSpPr>
        <p:spPr>
          <a:xfrm>
            <a:off x="1984415" y="5669756"/>
            <a:ext cx="1185219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This helps when you need both the index and value during iteration.</a:t>
            </a:r>
            <a:endParaRPr b="0" i="0" sz="1750" u="none" cap="none" strike="noStrike"/>
          </a:p>
        </p:txBody>
      </p:sp>
      <p:pic>
        <p:nvPicPr>
          <p:cNvPr descr="preencoded.png" id="160" name="Google Shape;1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6" name="Google Shape;1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/>
          <p:nvPr/>
        </p:nvSpPr>
        <p:spPr>
          <a:xfrm>
            <a:off x="6280190" y="665440"/>
            <a:ext cx="7556421" cy="1275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000"/>
              <a:buFont typeface="Platypi Medium"/>
              <a:buNone/>
            </a:pPr>
            <a:r>
              <a:rPr b="0" i="0" lang="en-US" sz="40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Best Practices for Using Higher-Order Functions</a:t>
            </a:r>
            <a:endParaRPr b="0" i="0" sz="4000" u="none" cap="none" strike="noStrike"/>
          </a:p>
        </p:txBody>
      </p:sp>
      <p:sp>
        <p:nvSpPr>
          <p:cNvPr id="168" name="Google Shape;168;p8"/>
          <p:cNvSpPr/>
          <p:nvPr/>
        </p:nvSpPr>
        <p:spPr>
          <a:xfrm>
            <a:off x="6280190" y="2247424"/>
            <a:ext cx="7556421" cy="1176099"/>
          </a:xfrm>
          <a:prstGeom prst="roundRect">
            <a:avLst>
              <a:gd fmla="val 260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6484263" y="2451497"/>
            <a:ext cx="4759166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Use map() and filter() for simple tasks</a:t>
            </a:r>
            <a:endParaRPr b="0" i="0" sz="2000" u="none" cap="none" strike="noStrike"/>
          </a:p>
        </p:txBody>
      </p:sp>
      <p:sp>
        <p:nvSpPr>
          <p:cNvPr id="170" name="Google Shape;170;p8"/>
          <p:cNvSpPr/>
          <p:nvPr/>
        </p:nvSpPr>
        <p:spPr>
          <a:xfrm>
            <a:off x="6484263" y="2892743"/>
            <a:ext cx="7148274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but prefer list comprehensions for readability.</a:t>
            </a:r>
            <a:endParaRPr b="0" i="0" sz="1600" u="none" cap="none" strike="noStrike"/>
          </a:p>
        </p:txBody>
      </p:sp>
      <p:sp>
        <p:nvSpPr>
          <p:cNvPr id="171" name="Google Shape;171;p8"/>
          <p:cNvSpPr/>
          <p:nvPr/>
        </p:nvSpPr>
        <p:spPr>
          <a:xfrm>
            <a:off x="6280190" y="3627596"/>
            <a:ext cx="7556421" cy="1176099"/>
          </a:xfrm>
          <a:prstGeom prst="roundRect">
            <a:avLst>
              <a:gd fmla="val 260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6484263" y="3831669"/>
            <a:ext cx="3612594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Use reduce() when necessary</a:t>
            </a:r>
            <a:endParaRPr b="0" i="0" sz="2000" u="none" cap="none" strike="noStrike"/>
          </a:p>
        </p:txBody>
      </p:sp>
      <p:sp>
        <p:nvSpPr>
          <p:cNvPr id="173" name="Google Shape;173;p8"/>
          <p:cNvSpPr/>
          <p:nvPr/>
        </p:nvSpPr>
        <p:spPr>
          <a:xfrm>
            <a:off x="6484263" y="4272915"/>
            <a:ext cx="7148274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loops may be more readable.</a:t>
            </a:r>
            <a:endParaRPr b="0" i="0" sz="1600" u="none" cap="none" strike="noStrike"/>
          </a:p>
        </p:txBody>
      </p:sp>
      <p:sp>
        <p:nvSpPr>
          <p:cNvPr id="174" name="Google Shape;174;p8"/>
          <p:cNvSpPr/>
          <p:nvPr/>
        </p:nvSpPr>
        <p:spPr>
          <a:xfrm>
            <a:off x="6280190" y="5007769"/>
            <a:ext cx="7556421" cy="1176099"/>
          </a:xfrm>
          <a:prstGeom prst="roundRect">
            <a:avLst>
              <a:gd fmla="val 260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6484263" y="5211842"/>
            <a:ext cx="3825002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zip() is useful for multiple lists</a:t>
            </a:r>
            <a:endParaRPr b="0" i="0" sz="2000" u="none" cap="none" strike="noStrike"/>
          </a:p>
        </p:txBody>
      </p:sp>
      <p:sp>
        <p:nvSpPr>
          <p:cNvPr id="176" name="Google Shape;176;p8"/>
          <p:cNvSpPr/>
          <p:nvPr/>
        </p:nvSpPr>
        <p:spPr>
          <a:xfrm>
            <a:off x="6484263" y="5653088"/>
            <a:ext cx="7148274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zip() is useful when working with multiple lists.</a:t>
            </a:r>
            <a:endParaRPr b="0" i="0" sz="1600" u="none" cap="none" strike="noStrike"/>
          </a:p>
        </p:txBody>
      </p:sp>
      <p:sp>
        <p:nvSpPr>
          <p:cNvPr id="177" name="Google Shape;177;p8"/>
          <p:cNvSpPr/>
          <p:nvPr/>
        </p:nvSpPr>
        <p:spPr>
          <a:xfrm>
            <a:off x="6280190" y="6387941"/>
            <a:ext cx="7556421" cy="1176099"/>
          </a:xfrm>
          <a:prstGeom prst="roundRect">
            <a:avLst>
              <a:gd fmla="val 260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6484263" y="6592014"/>
            <a:ext cx="398930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enumerate() for indices in loops</a:t>
            </a:r>
            <a:endParaRPr b="0" i="0" sz="2000" u="none" cap="none" strike="noStrike"/>
          </a:p>
        </p:txBody>
      </p:sp>
      <p:sp>
        <p:nvSpPr>
          <p:cNvPr id="179" name="Google Shape;179;p8"/>
          <p:cNvSpPr/>
          <p:nvPr/>
        </p:nvSpPr>
        <p:spPr>
          <a:xfrm>
            <a:off x="6484263" y="7033260"/>
            <a:ext cx="7148274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enumerate() is great for adding indices in loops.</a:t>
            </a:r>
            <a:endParaRPr b="0" i="0" sz="1600" u="none" cap="none" strike="noStrike"/>
          </a:p>
        </p:txBody>
      </p:sp>
      <p:pic>
        <p:nvPicPr>
          <p:cNvPr descr="preencoded.png" id="180" name="Google Shape;18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>
            <a:off x="793790" y="2854643"/>
            <a:ext cx="968740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Practice Exercises – Beginner Level</a:t>
            </a:r>
            <a:endParaRPr b="0" i="0" sz="4450" u="none" cap="none" strike="noStrike"/>
          </a:p>
        </p:txBody>
      </p:sp>
      <p:sp>
        <p:nvSpPr>
          <p:cNvPr id="187" name="Google Shape;187;p9"/>
          <p:cNvSpPr/>
          <p:nvPr/>
        </p:nvSpPr>
        <p:spPr>
          <a:xfrm>
            <a:off x="793790" y="415873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878860" y="4201239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189" name="Google Shape;189;p9"/>
          <p:cNvSpPr/>
          <p:nvPr/>
        </p:nvSpPr>
        <p:spPr>
          <a:xfrm>
            <a:off x="1530906" y="4158734"/>
            <a:ext cx="342935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Temperature Conversion</a:t>
            </a:r>
            <a:endParaRPr b="0" i="0" sz="2200" u="none" cap="none" strike="noStrike"/>
          </a:p>
        </p:txBody>
      </p:sp>
      <p:sp>
        <p:nvSpPr>
          <p:cNvPr id="190" name="Google Shape;190;p9"/>
          <p:cNvSpPr/>
          <p:nvPr/>
        </p:nvSpPr>
        <p:spPr>
          <a:xfrm>
            <a:off x="1530906" y="4649153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map()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to convert a list of temperatures from Celsius to Fahrenheit.</a:t>
            </a:r>
            <a:endParaRPr b="0" i="0" sz="1750" u="none" cap="none" strike="noStrike"/>
          </a:p>
        </p:txBody>
      </p:sp>
      <p:sp>
        <p:nvSpPr>
          <p:cNvPr id="191" name="Google Shape;191;p9"/>
          <p:cNvSpPr/>
          <p:nvPr/>
        </p:nvSpPr>
        <p:spPr>
          <a:xfrm>
            <a:off x="7428667" y="415873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7513737" y="4201239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193" name="Google Shape;193;p9"/>
          <p:cNvSpPr/>
          <p:nvPr/>
        </p:nvSpPr>
        <p:spPr>
          <a:xfrm>
            <a:off x="8165783" y="41587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Word Filtering</a:t>
            </a:r>
            <a:endParaRPr b="0" i="0" sz="2200" u="none" cap="none" strike="noStrike"/>
          </a:p>
        </p:txBody>
      </p:sp>
      <p:sp>
        <p:nvSpPr>
          <p:cNvPr id="194" name="Google Shape;194;p9"/>
          <p:cNvSpPr/>
          <p:nvPr/>
        </p:nvSpPr>
        <p:spPr>
          <a:xfrm>
            <a:off x="8165783" y="4649153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filter()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to extract words longer than 5 characters from a list of words.</a:t>
            </a:r>
            <a:endParaRPr b="0" i="0" sz="1750" u="none" cap="none" strike="noStrike"/>
          </a:p>
        </p:txBody>
      </p:sp>
      <p:pic>
        <p:nvPicPr>
          <p:cNvPr descr="preencoded.png" id="195" name="Google Shape;1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/>
          <p:nvPr/>
        </p:nvSpPr>
        <p:spPr>
          <a:xfrm>
            <a:off x="793790" y="3023354"/>
            <a:ext cx="1079634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Practice Exercises – Intermediate Level</a:t>
            </a:r>
            <a:endParaRPr b="0" i="0" sz="4450" u="none" cap="none" strike="noStrike"/>
          </a:p>
        </p:txBody>
      </p:sp>
      <p:sp>
        <p:nvSpPr>
          <p:cNvPr id="202" name="Google Shape;202;p10"/>
          <p:cNvSpPr/>
          <p:nvPr/>
        </p:nvSpPr>
        <p:spPr>
          <a:xfrm>
            <a:off x="793790" y="4276368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Find the Largest Number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 Use reduce() to find the largest number in a list.</a:t>
            </a:r>
            <a:endParaRPr b="0" i="0" sz="1750" u="none" cap="none" strike="noStrike"/>
          </a:p>
        </p:txBody>
      </p:sp>
      <p:sp>
        <p:nvSpPr>
          <p:cNvPr id="203" name="Google Shape;203;p10"/>
          <p:cNvSpPr/>
          <p:nvPr/>
        </p:nvSpPr>
        <p:spPr>
          <a:xfrm>
            <a:off x="7599521" y="4276368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Create a Dictionary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 Use zip() to combine two lists and create a dictionary.</a:t>
            </a:r>
            <a:endParaRPr b="0" i="0" sz="1750" u="none" cap="none" strike="noStrike"/>
          </a:p>
        </p:txBody>
      </p:sp>
      <p:pic>
        <p:nvPicPr>
          <p:cNvPr descr="preencoded.png" id="204" name="Google Shape;20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"/>
          <p:cNvSpPr/>
          <p:nvPr/>
        </p:nvSpPr>
        <p:spPr>
          <a:xfrm>
            <a:off x="793790" y="2169914"/>
            <a:ext cx="987849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Practice Exercises – Advanced Level</a:t>
            </a:r>
            <a:endParaRPr b="0" i="0" sz="4450" u="none" cap="none" strike="noStrike"/>
          </a:p>
        </p:txBody>
      </p:sp>
      <p:sp>
        <p:nvSpPr>
          <p:cNvPr id="211" name="Google Shape;211;p11"/>
          <p:cNvSpPr/>
          <p:nvPr/>
        </p:nvSpPr>
        <p:spPr>
          <a:xfrm>
            <a:off x="1048941" y="3218855"/>
            <a:ext cx="30480" cy="2840712"/>
          </a:xfrm>
          <a:prstGeom prst="roundRect">
            <a:avLst>
              <a:gd fmla="val 111628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1273612" y="3713917"/>
            <a:ext cx="680442" cy="30480"/>
          </a:xfrm>
          <a:prstGeom prst="roundRect">
            <a:avLst>
              <a:gd fmla="val 111628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793790" y="3474006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4" name="Google Shape;21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60" y="3516511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1"/>
          <p:cNvSpPr/>
          <p:nvPr/>
        </p:nvSpPr>
        <p:spPr>
          <a:xfrm>
            <a:off x="2183011" y="3445669"/>
            <a:ext cx="344721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Numbered Shopping List</a:t>
            </a:r>
            <a:endParaRPr b="0" i="0" sz="2200" u="none" cap="none" strike="noStrike"/>
          </a:p>
        </p:txBody>
      </p:sp>
      <p:sp>
        <p:nvSpPr>
          <p:cNvPr id="216" name="Google Shape;216;p11"/>
          <p:cNvSpPr/>
          <p:nvPr/>
        </p:nvSpPr>
        <p:spPr>
          <a:xfrm>
            <a:off x="2183011" y="3936087"/>
            <a:ext cx="1165359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enumerate()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to create a numbered shopping list from a list of items.</a:t>
            </a:r>
            <a:endParaRPr b="0" i="0" sz="1750" u="none" cap="none" strike="noStrike"/>
          </a:p>
        </p:txBody>
      </p:sp>
      <p:sp>
        <p:nvSpPr>
          <p:cNvPr id="217" name="Google Shape;217;p11"/>
          <p:cNvSpPr/>
          <p:nvPr/>
        </p:nvSpPr>
        <p:spPr>
          <a:xfrm>
            <a:off x="1273612" y="5247680"/>
            <a:ext cx="680442" cy="30480"/>
          </a:xfrm>
          <a:prstGeom prst="roundRect">
            <a:avLst>
              <a:gd fmla="val 111628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793790" y="500776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8860" y="5050274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1"/>
          <p:cNvSpPr/>
          <p:nvPr/>
        </p:nvSpPr>
        <p:spPr>
          <a:xfrm>
            <a:off x="2183011" y="4979432"/>
            <a:ext cx="287024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Combined Functions</a:t>
            </a:r>
            <a:endParaRPr b="0" i="0" sz="2200" u="none" cap="none" strike="noStrike"/>
          </a:p>
        </p:txBody>
      </p:sp>
      <p:sp>
        <p:nvSpPr>
          <p:cNvPr id="221" name="Google Shape;221;p11"/>
          <p:cNvSpPr/>
          <p:nvPr/>
        </p:nvSpPr>
        <p:spPr>
          <a:xfrm>
            <a:off x="2183011" y="5469850"/>
            <a:ext cx="1165359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Combine map(), filter(), and reduce()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to process a list of numbers.</a:t>
            </a:r>
            <a:endParaRPr b="0" i="0" sz="1750" u="none" cap="none" strike="noStrike"/>
          </a:p>
        </p:txBody>
      </p:sp>
      <p:pic>
        <p:nvPicPr>
          <p:cNvPr descr="preencoded.png" id="222" name="Google Shape;22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"/>
          <p:cNvSpPr/>
          <p:nvPr/>
        </p:nvSpPr>
        <p:spPr>
          <a:xfrm>
            <a:off x="793790" y="2517219"/>
            <a:ext cx="737580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Summary of Key Concepts</a:t>
            </a:r>
            <a:endParaRPr b="0" i="0" sz="4450" u="none" cap="none" strike="noStrike"/>
          </a:p>
        </p:txBody>
      </p:sp>
      <p:sp>
        <p:nvSpPr>
          <p:cNvPr id="229" name="Google Shape;229;p12"/>
          <p:cNvSpPr/>
          <p:nvPr/>
        </p:nvSpPr>
        <p:spPr>
          <a:xfrm>
            <a:off x="793790" y="3679627"/>
            <a:ext cx="4196358" cy="2032754"/>
          </a:xfrm>
          <a:prstGeom prst="roundRect">
            <a:avLst>
              <a:gd fmla="val 167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"/>
          <p:cNvSpPr/>
          <p:nvPr/>
        </p:nvSpPr>
        <p:spPr>
          <a:xfrm>
            <a:off x="1020604" y="390644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Efficiency</a:t>
            </a:r>
            <a:endParaRPr b="0" i="0" sz="2200" u="none" cap="none" strike="noStrike"/>
          </a:p>
        </p:txBody>
      </p:sp>
      <p:sp>
        <p:nvSpPr>
          <p:cNvPr id="231" name="Google Shape;231;p12"/>
          <p:cNvSpPr/>
          <p:nvPr/>
        </p:nvSpPr>
        <p:spPr>
          <a:xfrm>
            <a:off x="1020604" y="4396859"/>
            <a:ext cx="374273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Higher-order functions make code more efficient and readable.</a:t>
            </a:r>
            <a:endParaRPr b="0" i="0" sz="1750" u="none" cap="none" strike="noStrike"/>
          </a:p>
        </p:txBody>
      </p:sp>
      <p:sp>
        <p:nvSpPr>
          <p:cNvPr id="232" name="Google Shape;232;p12"/>
          <p:cNvSpPr/>
          <p:nvPr/>
        </p:nvSpPr>
        <p:spPr>
          <a:xfrm>
            <a:off x="5216962" y="3679627"/>
            <a:ext cx="4196358" cy="2032754"/>
          </a:xfrm>
          <a:prstGeom prst="roundRect">
            <a:avLst>
              <a:gd fmla="val 167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"/>
          <p:cNvSpPr/>
          <p:nvPr/>
        </p:nvSpPr>
        <p:spPr>
          <a:xfrm>
            <a:off x="5443776" y="390644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Useful Operations</a:t>
            </a:r>
            <a:endParaRPr b="0" i="0" sz="2200" u="none" cap="none" strike="noStrike"/>
          </a:p>
        </p:txBody>
      </p:sp>
      <p:sp>
        <p:nvSpPr>
          <p:cNvPr id="234" name="Google Shape;234;p12"/>
          <p:cNvSpPr/>
          <p:nvPr/>
        </p:nvSpPr>
        <p:spPr>
          <a:xfrm>
            <a:off x="5443776" y="4396859"/>
            <a:ext cx="374273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map(), filter(), reduce(), zip(), and enumerate() perform useful operations on iterables.</a:t>
            </a:r>
            <a:endParaRPr b="0" i="0" sz="1750" u="none" cap="none" strike="noStrike"/>
          </a:p>
        </p:txBody>
      </p:sp>
      <p:sp>
        <p:nvSpPr>
          <p:cNvPr id="235" name="Google Shape;235;p12"/>
          <p:cNvSpPr/>
          <p:nvPr/>
        </p:nvSpPr>
        <p:spPr>
          <a:xfrm>
            <a:off x="9640133" y="3679627"/>
            <a:ext cx="4196358" cy="2032754"/>
          </a:xfrm>
          <a:prstGeom prst="roundRect">
            <a:avLst>
              <a:gd fmla="val 167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"/>
          <p:cNvSpPr/>
          <p:nvPr/>
        </p:nvSpPr>
        <p:spPr>
          <a:xfrm>
            <a:off x="9866948" y="390644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Best Practices</a:t>
            </a:r>
            <a:endParaRPr b="0" i="0" sz="2200" u="none" cap="none" strike="noStrike"/>
          </a:p>
        </p:txBody>
      </p:sp>
      <p:sp>
        <p:nvSpPr>
          <p:cNvPr id="237" name="Google Shape;237;p12"/>
          <p:cNvSpPr/>
          <p:nvPr/>
        </p:nvSpPr>
        <p:spPr>
          <a:xfrm>
            <a:off x="9866948" y="4396859"/>
            <a:ext cx="374273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Best practices include using higher-order functions appropriately for modular and readable code.</a:t>
            </a:r>
            <a:endParaRPr b="0" i="0" sz="1750" u="none" cap="none" strike="noStrike"/>
          </a:p>
        </p:txBody>
      </p:sp>
      <p:pic>
        <p:nvPicPr>
          <p:cNvPr descr="preencoded.png" id="238" name="Google Shape;23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4" name="Google Shape;2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3"/>
          <p:cNvSpPr/>
          <p:nvPr/>
        </p:nvSpPr>
        <p:spPr>
          <a:xfrm>
            <a:off x="6280190" y="1807012"/>
            <a:ext cx="683895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Conclusion &amp; Next Steps</a:t>
            </a:r>
            <a:endParaRPr b="0" i="0" sz="4450" u="none" cap="none" strike="noStrike"/>
          </a:p>
        </p:txBody>
      </p:sp>
      <p:sp>
        <p:nvSpPr>
          <p:cNvPr id="246" name="Google Shape;246;p13"/>
          <p:cNvSpPr/>
          <p:nvPr/>
        </p:nvSpPr>
        <p:spPr>
          <a:xfrm>
            <a:off x="6280190" y="2855952"/>
            <a:ext cx="3664863" cy="2032754"/>
          </a:xfrm>
          <a:prstGeom prst="roundRect">
            <a:avLst>
              <a:gd fmla="val 167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"/>
          <p:cNvSpPr/>
          <p:nvPr/>
        </p:nvSpPr>
        <p:spPr>
          <a:xfrm>
            <a:off x="6507004" y="308276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Practice</a:t>
            </a:r>
            <a:endParaRPr b="0" i="0" sz="2200" u="none" cap="none" strike="noStrike"/>
          </a:p>
        </p:txBody>
      </p:sp>
      <p:sp>
        <p:nvSpPr>
          <p:cNvPr id="248" name="Google Shape;248;p13"/>
          <p:cNvSpPr/>
          <p:nvPr/>
        </p:nvSpPr>
        <p:spPr>
          <a:xfrm>
            <a:off x="6507004" y="3573185"/>
            <a:ext cx="32112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Practice using higher-order functions in your projects.</a:t>
            </a:r>
            <a:endParaRPr b="0" i="0" sz="1750" u="none" cap="none" strike="noStrike"/>
          </a:p>
        </p:txBody>
      </p:sp>
      <p:sp>
        <p:nvSpPr>
          <p:cNvPr id="249" name="Google Shape;249;p13"/>
          <p:cNvSpPr/>
          <p:nvPr/>
        </p:nvSpPr>
        <p:spPr>
          <a:xfrm>
            <a:off x="10171867" y="2855952"/>
            <a:ext cx="3664863" cy="2032754"/>
          </a:xfrm>
          <a:prstGeom prst="roundRect">
            <a:avLst>
              <a:gd fmla="val 167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10398681" y="308276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Explore</a:t>
            </a:r>
            <a:endParaRPr b="0" i="0" sz="2200" u="none" cap="none" strike="noStrike"/>
          </a:p>
        </p:txBody>
      </p:sp>
      <p:sp>
        <p:nvSpPr>
          <p:cNvPr id="251" name="Google Shape;251;p13"/>
          <p:cNvSpPr/>
          <p:nvPr/>
        </p:nvSpPr>
        <p:spPr>
          <a:xfrm>
            <a:off x="10398681" y="3573185"/>
            <a:ext cx="321123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Explore combining higher-order functions in more complex scenarios.</a:t>
            </a:r>
            <a:endParaRPr b="0" i="0" sz="1750" u="none" cap="none" strike="noStrike"/>
          </a:p>
        </p:txBody>
      </p:sp>
      <p:sp>
        <p:nvSpPr>
          <p:cNvPr id="252" name="Google Shape;252;p13"/>
          <p:cNvSpPr/>
          <p:nvPr/>
        </p:nvSpPr>
        <p:spPr>
          <a:xfrm>
            <a:off x="6280190" y="5115520"/>
            <a:ext cx="7556421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"/>
          <p:cNvSpPr/>
          <p:nvPr/>
        </p:nvSpPr>
        <p:spPr>
          <a:xfrm>
            <a:off x="6507004" y="53423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Experiment</a:t>
            </a:r>
            <a:endParaRPr b="0" i="0" sz="2200" u="none" cap="none" strike="noStrike"/>
          </a:p>
        </p:txBody>
      </p:sp>
      <p:sp>
        <p:nvSpPr>
          <p:cNvPr id="254" name="Google Shape;254;p13"/>
          <p:cNvSpPr/>
          <p:nvPr/>
        </p:nvSpPr>
        <p:spPr>
          <a:xfrm>
            <a:off x="6507004" y="5832753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Keep experimenting with Python!</a:t>
            </a:r>
            <a:endParaRPr b="0" i="0" sz="1750" u="none" cap="none" strike="noStrike"/>
          </a:p>
        </p:txBody>
      </p:sp>
      <p:pic>
        <p:nvPicPr>
          <p:cNvPr descr="preencoded.png" id="255" name="Google Shape;25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2025-03-19T07:11:40Z</dcterms:created>
  <dc:creator>PptxGenJS</dc:creator>
</cp:coreProperties>
</file>