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8229600" cx="14630400"/>
  <p:notesSz cx="8229600" cy="14630400"/>
  <p:embeddedFontLst>
    <p:embeddedFont>
      <p:font typeface="Platypi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TyPKX1GbGrNLDb36YbA1PiDKE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typiMedium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typi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latypiMedium-boldItalic.fntdata"/><Relationship Id="rId30" Type="http://schemas.openxmlformats.org/officeDocument/2006/relationships/font" Target="fonts/PlatypiMedium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5.png"/><Relationship Id="rId8" Type="http://schemas.openxmlformats.org/officeDocument/2006/relationships/image" Target="../media/image10.png"/><Relationship Id="rId11" Type="http://schemas.openxmlformats.org/officeDocument/2006/relationships/image" Target="../media/image12.png"/><Relationship Id="rId10" Type="http://schemas.openxmlformats.org/officeDocument/2006/relationships/image" Target="../media/image4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19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44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43.png"/><Relationship Id="rId5" Type="http://schemas.openxmlformats.org/officeDocument/2006/relationships/image" Target="../media/image50.png"/><Relationship Id="rId6" Type="http://schemas.openxmlformats.org/officeDocument/2006/relationships/image" Target="../media/image49.png"/><Relationship Id="rId7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6068140" y="2012089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14: </a:t>
            </a:r>
            <a:endParaRPr b="0" i="0" sz="4450" u="none" cap="none" strike="noStrike"/>
          </a:p>
        </p:txBody>
      </p:sp>
      <p:sp>
        <p:nvSpPr>
          <p:cNvPr id="87" name="Google Shape;87;p1"/>
          <p:cNvSpPr/>
          <p:nvPr/>
        </p:nvSpPr>
        <p:spPr>
          <a:xfrm>
            <a:off x="6068140" y="3061029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Exception Handling in Python</a:t>
            </a:r>
            <a:endParaRPr b="0" i="0" sz="4450" u="none" cap="none" strike="noStrike"/>
          </a:p>
        </p:txBody>
      </p:sp>
      <p:pic>
        <p:nvPicPr>
          <p:cNvPr descr="preencoded.png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8140" y="4818757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93790" y="707707"/>
            <a:ext cx="6485811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Topics We'll Learn Today</a:t>
            </a:r>
            <a:endParaRPr b="0" i="0" sz="420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793790" y="2054423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633" y="2094845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1493996" y="2054423"/>
            <a:ext cx="3849052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Exception Handling?</a:t>
            </a:r>
            <a:endParaRPr b="0" i="0" sz="2100" u="none" cap="none" strike="noStrike"/>
          </a:p>
        </p:txBody>
      </p:sp>
      <p:sp>
        <p:nvSpPr>
          <p:cNvPr id="100" name="Google Shape;100;p2"/>
          <p:cNvSpPr/>
          <p:nvPr/>
        </p:nvSpPr>
        <p:spPr>
          <a:xfrm>
            <a:off x="7422952" y="2054423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3795" y="2094845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8123158" y="2054423"/>
            <a:ext cx="5098137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Do We Need Exception Handling?</a:t>
            </a:r>
            <a:endParaRPr b="0" i="0" sz="2100" u="none" cap="none" strike="noStrike"/>
          </a:p>
        </p:txBody>
      </p:sp>
      <p:sp>
        <p:nvSpPr>
          <p:cNvPr id="103" name="Google Shape;103;p2"/>
          <p:cNvSpPr/>
          <p:nvPr/>
        </p:nvSpPr>
        <p:spPr>
          <a:xfrm>
            <a:off x="793790" y="3239452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633" y="3279874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1493996" y="3239452"/>
            <a:ext cx="3401973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Types of Errors in Python</a:t>
            </a:r>
            <a:endParaRPr b="0" i="0" sz="2100" u="none" cap="none" strike="noStrike"/>
          </a:p>
        </p:txBody>
      </p:sp>
      <p:sp>
        <p:nvSpPr>
          <p:cNvPr id="106" name="Google Shape;106;p2"/>
          <p:cNvSpPr/>
          <p:nvPr/>
        </p:nvSpPr>
        <p:spPr>
          <a:xfrm>
            <a:off x="7422952" y="3239452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3795" y="3279874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8123158" y="3239452"/>
            <a:ext cx="3477816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Basic try-except Structure</a:t>
            </a:r>
            <a:endParaRPr b="0" i="0" sz="2100" u="none" cap="none" strike="noStrike"/>
          </a:p>
        </p:txBody>
      </p:sp>
      <p:sp>
        <p:nvSpPr>
          <p:cNvPr id="109" name="Google Shape;109;p2"/>
          <p:cNvSpPr/>
          <p:nvPr/>
        </p:nvSpPr>
        <p:spPr>
          <a:xfrm>
            <a:off x="793790" y="4424482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33" y="4464903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/>
          <p:nvPr/>
        </p:nvSpPr>
        <p:spPr>
          <a:xfrm>
            <a:off x="1493996" y="4424482"/>
            <a:ext cx="3900726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Multiple Exceptions</a:t>
            </a:r>
            <a:endParaRPr b="0" i="0" sz="2100" u="none" cap="none" strike="noStrike"/>
          </a:p>
        </p:txBody>
      </p:sp>
      <p:sp>
        <p:nvSpPr>
          <p:cNvPr id="112" name="Google Shape;112;p2"/>
          <p:cNvSpPr/>
          <p:nvPr/>
        </p:nvSpPr>
        <p:spPr>
          <a:xfrm>
            <a:off x="7422952" y="4424482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03795" y="4464903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8123158" y="4424482"/>
            <a:ext cx="381833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Generic Exceptions</a:t>
            </a:r>
            <a:endParaRPr b="0" i="0" sz="2100" u="none" cap="none" strike="noStrike"/>
          </a:p>
        </p:txBody>
      </p:sp>
      <p:sp>
        <p:nvSpPr>
          <p:cNvPr id="115" name="Google Shape;115;p2"/>
          <p:cNvSpPr/>
          <p:nvPr/>
        </p:nvSpPr>
        <p:spPr>
          <a:xfrm>
            <a:off x="793790" y="5609511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4633" y="5649932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/>
          <p:nvPr/>
        </p:nvSpPr>
        <p:spPr>
          <a:xfrm>
            <a:off x="1493996" y="5609511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finally Block</a:t>
            </a:r>
            <a:endParaRPr b="0" i="0" sz="2100" u="none" cap="none" strike="noStrike"/>
          </a:p>
        </p:txBody>
      </p:sp>
      <p:sp>
        <p:nvSpPr>
          <p:cNvPr id="118" name="Google Shape;118;p2"/>
          <p:cNvSpPr/>
          <p:nvPr/>
        </p:nvSpPr>
        <p:spPr>
          <a:xfrm>
            <a:off x="7422952" y="5609511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03795" y="5649932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8123158" y="5609511"/>
            <a:ext cx="3599497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Raising Custom Exceptions</a:t>
            </a:r>
            <a:endParaRPr b="0" i="0" sz="2100" u="none" cap="none" strike="noStrike"/>
          </a:p>
        </p:txBody>
      </p:sp>
      <p:sp>
        <p:nvSpPr>
          <p:cNvPr id="121" name="Google Shape;121;p2"/>
          <p:cNvSpPr/>
          <p:nvPr/>
        </p:nvSpPr>
        <p:spPr>
          <a:xfrm>
            <a:off x="793790" y="6794540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4633" y="6834961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1493996" y="6794540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</a:t>
            </a:r>
            <a:endParaRPr b="0" i="0" sz="2100" u="none" cap="none" strike="noStrike"/>
          </a:p>
        </p:txBody>
      </p:sp>
      <p:sp>
        <p:nvSpPr>
          <p:cNvPr id="124" name="Google Shape;124;p2"/>
          <p:cNvSpPr/>
          <p:nvPr/>
        </p:nvSpPr>
        <p:spPr>
          <a:xfrm>
            <a:off x="7422952" y="6794540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03795" y="6834961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/>
          <p:nvPr/>
        </p:nvSpPr>
        <p:spPr>
          <a:xfrm>
            <a:off x="8123158" y="6794540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Exercises</a:t>
            </a:r>
            <a:endParaRPr b="0" i="0" sz="2100" u="none" cap="none" strike="noStrike"/>
          </a:p>
        </p:txBody>
      </p:sp>
      <p:pic>
        <p:nvPicPr>
          <p:cNvPr descr="preencoded.png" id="127" name="Google Shape;127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/>
          <p:nvPr/>
        </p:nvSpPr>
        <p:spPr>
          <a:xfrm>
            <a:off x="6280190" y="16341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Exception Handling</a:t>
            </a:r>
            <a:endParaRPr b="0" i="0" sz="4450" u="none" cap="none" strike="noStrike"/>
          </a:p>
        </p:txBody>
      </p:sp>
      <p:sp>
        <p:nvSpPr>
          <p:cNvPr id="135" name="Google Shape;135;p3"/>
          <p:cNvSpPr/>
          <p:nvPr/>
        </p:nvSpPr>
        <p:spPr>
          <a:xfrm>
            <a:off x="6280190" y="2683073"/>
            <a:ext cx="3664863" cy="2378512"/>
          </a:xfrm>
          <a:prstGeom prst="roundRect">
            <a:avLst>
              <a:gd fmla="val 1430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507004" y="2909888"/>
            <a:ext cx="3211235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Allows programs to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errors gracefully</a:t>
            </a:r>
            <a:endParaRPr b="0" i="0" sz="2200" u="none" cap="none" strike="noStrike"/>
          </a:p>
        </p:txBody>
      </p:sp>
      <p:sp>
        <p:nvSpPr>
          <p:cNvPr id="137" name="Google Shape;137;p3"/>
          <p:cNvSpPr/>
          <p:nvPr/>
        </p:nvSpPr>
        <p:spPr>
          <a:xfrm>
            <a:off x="6507004" y="4108966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Prevents crashes when something goes wrong</a:t>
            </a:r>
            <a:endParaRPr b="0" i="0" sz="1750" u="none" cap="none" strike="noStrike"/>
          </a:p>
        </p:txBody>
      </p:sp>
      <p:sp>
        <p:nvSpPr>
          <p:cNvPr id="138" name="Google Shape;138;p3"/>
          <p:cNvSpPr/>
          <p:nvPr/>
        </p:nvSpPr>
        <p:spPr>
          <a:xfrm>
            <a:off x="10171867" y="2683073"/>
            <a:ext cx="3664863" cy="2378512"/>
          </a:xfrm>
          <a:prstGeom prst="roundRect">
            <a:avLst>
              <a:gd fmla="val 1430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10398681" y="2909888"/>
            <a:ext cx="321123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Helps to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continue the program flow</a:t>
            </a:r>
            <a:endParaRPr b="0" i="0" sz="2200" u="none" cap="none" strike="noStrike"/>
          </a:p>
        </p:txBody>
      </p:sp>
      <p:sp>
        <p:nvSpPr>
          <p:cNvPr id="140" name="Google Shape;140;p3"/>
          <p:cNvSpPr/>
          <p:nvPr/>
        </p:nvSpPr>
        <p:spPr>
          <a:xfrm>
            <a:off x="10398681" y="3754636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Uses keywords like try, except, finally</a:t>
            </a:r>
            <a:endParaRPr b="0" i="0" sz="1750" u="none" cap="none" strike="noStrike"/>
          </a:p>
        </p:txBody>
      </p:sp>
      <p:sp>
        <p:nvSpPr>
          <p:cNvPr id="141" name="Google Shape;141;p3"/>
          <p:cNvSpPr/>
          <p:nvPr/>
        </p:nvSpPr>
        <p:spPr>
          <a:xfrm>
            <a:off x="6280190" y="5288399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6507004" y="5515213"/>
            <a:ext cx="609373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Very useful for catching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unexpected events</a:t>
            </a:r>
            <a:endParaRPr b="0" i="0" sz="2200" u="none" cap="none" strike="noStrike"/>
          </a:p>
        </p:txBody>
      </p:sp>
      <p:sp>
        <p:nvSpPr>
          <p:cNvPr id="143" name="Google Shape;143;p3"/>
          <p:cNvSpPr/>
          <p:nvPr/>
        </p:nvSpPr>
        <p:spPr>
          <a:xfrm>
            <a:off x="6507004" y="6005632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Maintains program stability during execution</a:t>
            </a:r>
            <a:endParaRPr b="0" i="0" sz="1750" u="none" cap="none" strike="noStrike"/>
          </a:p>
        </p:txBody>
      </p:sp>
      <p:pic>
        <p:nvPicPr>
          <p:cNvPr descr="preencoded.png" id="144" name="Google Shape;1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/>
          <p:nvPr/>
        </p:nvSpPr>
        <p:spPr>
          <a:xfrm>
            <a:off x="793790" y="1357908"/>
            <a:ext cx="686383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Real-Life Example – ATM</a:t>
            </a:r>
            <a:endParaRPr b="0" i="0" sz="4450" u="none" cap="none" strike="noStrike"/>
          </a:p>
        </p:txBody>
      </p:sp>
      <p:sp>
        <p:nvSpPr>
          <p:cNvPr id="152" name="Google Shape;152;p4"/>
          <p:cNvSpPr/>
          <p:nvPr/>
        </p:nvSpPr>
        <p:spPr>
          <a:xfrm>
            <a:off x="793790" y="266199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878860" y="270450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54" name="Google Shape;154;p4"/>
          <p:cNvSpPr/>
          <p:nvPr/>
        </p:nvSpPr>
        <p:spPr>
          <a:xfrm>
            <a:off x="1530906" y="2661999"/>
            <a:ext cx="2927747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System should not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crash</a:t>
            </a: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on invalid input</a:t>
            </a:r>
            <a:endParaRPr b="0" i="0" sz="2200" u="none" cap="none" strike="noStrike"/>
          </a:p>
        </p:txBody>
      </p:sp>
      <p:sp>
        <p:nvSpPr>
          <p:cNvPr id="155" name="Google Shape;155;p4"/>
          <p:cNvSpPr/>
          <p:nvPr/>
        </p:nvSpPr>
        <p:spPr>
          <a:xfrm>
            <a:off x="4685467" y="266199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4770537" y="270450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57" name="Google Shape;157;p4"/>
          <p:cNvSpPr/>
          <p:nvPr/>
        </p:nvSpPr>
        <p:spPr>
          <a:xfrm>
            <a:off x="5422583" y="2661999"/>
            <a:ext cx="2927747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If you enter a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negative amount</a:t>
            </a: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, you get a message, not a crash</a:t>
            </a:r>
            <a:endParaRPr b="0" i="0" sz="2200" u="none" cap="none" strike="noStrike"/>
          </a:p>
        </p:txBody>
      </p:sp>
      <p:sp>
        <p:nvSpPr>
          <p:cNvPr id="158" name="Google Shape;158;p4"/>
          <p:cNvSpPr/>
          <p:nvPr/>
        </p:nvSpPr>
        <p:spPr>
          <a:xfrm>
            <a:off x="793790" y="45612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78860" y="460379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60" name="Google Shape;160;p4"/>
          <p:cNvSpPr/>
          <p:nvPr/>
        </p:nvSpPr>
        <p:spPr>
          <a:xfrm>
            <a:off x="1530906" y="4561284"/>
            <a:ext cx="2927747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Shows a helpful message like 'Invalid amount!'</a:t>
            </a:r>
            <a:endParaRPr b="0" i="0" sz="2200" u="none" cap="none" strike="noStrike"/>
          </a:p>
        </p:txBody>
      </p:sp>
      <p:sp>
        <p:nvSpPr>
          <p:cNvPr id="161" name="Google Shape;161;p4"/>
          <p:cNvSpPr/>
          <p:nvPr/>
        </p:nvSpPr>
        <p:spPr>
          <a:xfrm>
            <a:off x="4685467" y="45612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770537" y="460379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163" name="Google Shape;163;p4"/>
          <p:cNvSpPr/>
          <p:nvPr/>
        </p:nvSpPr>
        <p:spPr>
          <a:xfrm>
            <a:off x="5422583" y="4561284"/>
            <a:ext cx="2927747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Helps in building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user-friendly software</a:t>
            </a:r>
            <a:endParaRPr b="0" i="0" sz="2200" u="none" cap="none" strike="noStrike"/>
          </a:p>
        </p:txBody>
      </p:sp>
      <p:sp>
        <p:nvSpPr>
          <p:cNvPr id="164" name="Google Shape;164;p4"/>
          <p:cNvSpPr/>
          <p:nvPr/>
        </p:nvSpPr>
        <p:spPr>
          <a:xfrm>
            <a:off x="793790" y="610623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78860" y="614874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166" name="Google Shape;166;p4"/>
          <p:cNvSpPr/>
          <p:nvPr/>
        </p:nvSpPr>
        <p:spPr>
          <a:xfrm>
            <a:off x="1530906" y="6106239"/>
            <a:ext cx="672834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Prevents program termination in such scenarios</a:t>
            </a:r>
            <a:endParaRPr b="0" i="0" sz="2200" u="none" cap="none" strike="noStrike"/>
          </a:p>
        </p:txBody>
      </p:sp>
      <p:pic>
        <p:nvPicPr>
          <p:cNvPr descr="preencoded.png" id="167" name="Google Shape;1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6280190" y="2160151"/>
            <a:ext cx="672607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Errors – 2 Types</a:t>
            </a:r>
            <a:endParaRPr b="0" i="0" sz="4450" u="none" cap="none" strike="noStrike"/>
          </a:p>
        </p:txBody>
      </p:sp>
      <p:sp>
        <p:nvSpPr>
          <p:cNvPr id="175" name="Google Shape;175;p5"/>
          <p:cNvSpPr/>
          <p:nvPr/>
        </p:nvSpPr>
        <p:spPr>
          <a:xfrm>
            <a:off x="6280190" y="34359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1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 Errors</a:t>
            </a:r>
            <a:endParaRPr b="0" i="0" sz="2200" u="none" cap="none" strike="noStrike"/>
          </a:p>
        </p:txBody>
      </p:sp>
      <p:sp>
        <p:nvSpPr>
          <p:cNvPr id="176" name="Google Shape;176;p5"/>
          <p:cNvSpPr/>
          <p:nvPr/>
        </p:nvSpPr>
        <p:spPr>
          <a:xfrm>
            <a:off x="6280190" y="4017050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Errors in the structure of code</a:t>
            </a:r>
            <a:endParaRPr b="0" i="0" sz="1750" u="none" cap="none" strike="noStrike"/>
          </a:p>
        </p:txBody>
      </p:sp>
      <p:sp>
        <p:nvSpPr>
          <p:cNvPr id="177" name="Google Shape;177;p5"/>
          <p:cNvSpPr/>
          <p:nvPr/>
        </p:nvSpPr>
        <p:spPr>
          <a:xfrm>
            <a:off x="6280190" y="4459248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Caught before the code is executed</a:t>
            </a:r>
            <a:endParaRPr b="0" i="0" sz="1750" u="none" cap="none" strike="noStrike"/>
          </a:p>
        </p:txBody>
      </p:sp>
      <p:sp>
        <p:nvSpPr>
          <p:cNvPr id="178" name="Google Shape;178;p5"/>
          <p:cNvSpPr/>
          <p:nvPr/>
        </p:nvSpPr>
        <p:spPr>
          <a:xfrm>
            <a:off x="6280190" y="5264348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Like missing ) or bad indentation</a:t>
            </a:r>
            <a:endParaRPr b="0" i="0" sz="1750" u="none" cap="none" strike="noStrike"/>
          </a:p>
        </p:txBody>
      </p:sp>
      <p:sp>
        <p:nvSpPr>
          <p:cNvPr id="179" name="Google Shape;179;p5"/>
          <p:cNvSpPr/>
          <p:nvPr/>
        </p:nvSpPr>
        <p:spPr>
          <a:xfrm>
            <a:off x="10342721" y="3435906"/>
            <a:ext cx="350150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1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Runtime Errors (Exceptions)</a:t>
            </a:r>
            <a:endParaRPr b="0" i="0" sz="2200" u="none" cap="none" strike="noStrike"/>
          </a:p>
        </p:txBody>
      </p:sp>
      <p:sp>
        <p:nvSpPr>
          <p:cNvPr id="180" name="Google Shape;180;p5"/>
          <p:cNvSpPr/>
          <p:nvPr/>
        </p:nvSpPr>
        <p:spPr>
          <a:xfrm>
            <a:off x="10342721" y="4371380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Occur while code is running</a:t>
            </a:r>
            <a:endParaRPr b="0" i="0" sz="1750" u="none" cap="none" strike="noStrike"/>
          </a:p>
        </p:txBody>
      </p:sp>
      <p:sp>
        <p:nvSpPr>
          <p:cNvPr id="181" name="Google Shape;181;p5"/>
          <p:cNvSpPr/>
          <p:nvPr/>
        </p:nvSpPr>
        <p:spPr>
          <a:xfrm>
            <a:off x="10342721" y="4813578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E.g., division by zero or variable not defined</a:t>
            </a:r>
            <a:endParaRPr b="0" i="0" sz="1750" u="none" cap="none" strike="noStrike"/>
          </a:p>
        </p:txBody>
      </p:sp>
      <p:sp>
        <p:nvSpPr>
          <p:cNvPr id="182" name="Google Shape;182;p5"/>
          <p:cNvSpPr/>
          <p:nvPr/>
        </p:nvSpPr>
        <p:spPr>
          <a:xfrm>
            <a:off x="10342721" y="5618678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Can be caught using try-except</a:t>
            </a:r>
            <a:endParaRPr b="0" i="0" sz="1750" u="none" cap="none" strike="noStrike"/>
          </a:p>
        </p:txBody>
      </p:sp>
      <p:pic>
        <p:nvPicPr>
          <p:cNvPr descr="preencoded.png" id="183" name="Google Shape;1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793790" y="623768"/>
            <a:ext cx="610695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 Error Example</a:t>
            </a:r>
            <a:endParaRPr b="0" i="0" sz="4450" u="none" cap="none" strike="noStrike"/>
          </a:p>
        </p:txBody>
      </p:sp>
      <p:sp>
        <p:nvSpPr>
          <p:cNvPr id="191" name="Google Shape;191;p6"/>
          <p:cNvSpPr/>
          <p:nvPr/>
        </p:nvSpPr>
        <p:spPr>
          <a:xfrm>
            <a:off x="793790" y="167270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Common mistakes: missing ), :, or indentation.</a:t>
            </a:r>
            <a:endParaRPr b="0" i="0" sz="1750" u="none" cap="none" strike="noStrike"/>
          </a:p>
        </p:txBody>
      </p:sp>
      <p:sp>
        <p:nvSpPr>
          <p:cNvPr id="192" name="Google Shape;192;p6"/>
          <p:cNvSpPr/>
          <p:nvPr/>
        </p:nvSpPr>
        <p:spPr>
          <a:xfrm>
            <a:off x="793790" y="229076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These must be fixed manually.</a:t>
            </a:r>
            <a:endParaRPr b="0" i="0" sz="1750" u="none" cap="none" strike="noStrike"/>
          </a:p>
        </p:txBody>
      </p:sp>
      <p:sp>
        <p:nvSpPr>
          <p:cNvPr id="193" name="Google Shape;193;p6"/>
          <p:cNvSpPr/>
          <p:nvPr/>
        </p:nvSpPr>
        <p:spPr>
          <a:xfrm>
            <a:off x="793790" y="290881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Cannot be handled with try-except.</a:t>
            </a:r>
            <a:endParaRPr b="0" i="0" sz="1750" u="none" cap="none" strike="noStrike"/>
          </a:p>
        </p:txBody>
      </p:sp>
      <p:pic>
        <p:nvPicPr>
          <p:cNvPr descr="preencoded.png"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526869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2268022" y="3753683"/>
            <a:ext cx="36977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print('Hello' # Syntax Error</a:t>
            </a:r>
            <a:endParaRPr b="0" i="0" sz="2200" u="none" cap="none" strike="noStrike"/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88775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/>
          <p:nvPr/>
        </p:nvSpPr>
        <p:spPr>
          <a:xfrm>
            <a:off x="2268022" y="5114568"/>
            <a:ext cx="409217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throws a SyntaxError</a:t>
            </a:r>
            <a:endParaRPr b="0" i="0" sz="2200" u="none" cap="none" strike="noStrike"/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624863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2268022" y="6475452"/>
            <a:ext cx="487489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Happens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before the program runs</a:t>
            </a:r>
            <a:endParaRPr b="0" i="0" sz="2200" u="none" cap="none" strike="noStrike"/>
          </a:p>
        </p:txBody>
      </p:sp>
      <p:pic>
        <p:nvPicPr>
          <p:cNvPr descr="preencoded.png" id="200" name="Google Shape;20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793790" y="1824038"/>
            <a:ext cx="65458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Runtime Error Example</a:t>
            </a:r>
            <a:endParaRPr b="0" i="0" sz="4450" u="none" cap="none" strike="noStrike"/>
          </a:p>
        </p:txBody>
      </p:sp>
      <p:pic>
        <p:nvPicPr>
          <p:cNvPr descr="preencoded.png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986445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1020604" y="4233863"/>
            <a:ext cx="28070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num = 10 / 0</a:t>
            </a:r>
            <a:endParaRPr b="0" i="0" sz="2200" u="none" cap="none" strike="noStrike"/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2986445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4281249" y="4233863"/>
            <a:ext cx="280713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Results in ZeroDivisionError</a:t>
            </a:r>
            <a:endParaRPr b="0" i="0" sz="2200" u="none" cap="none" strike="noStrike"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986445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7542014" y="4233863"/>
            <a:ext cx="2807018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 is correct, but logic fails</a:t>
            </a:r>
            <a:endParaRPr b="0" i="0" sz="2200" u="none" cap="none" strike="noStrike"/>
          </a:p>
        </p:txBody>
      </p:sp>
      <p:pic>
        <p:nvPicPr>
          <p:cNvPr descr="preencoded.png" id="213" name="Google Shape;21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2986445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10802660" y="4233863"/>
            <a:ext cx="280713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This can be caught and handled</a:t>
            </a:r>
            <a:endParaRPr b="0" i="0" sz="2200" u="none" cap="none" strike="noStrike"/>
          </a:p>
        </p:txBody>
      </p:sp>
      <p:sp>
        <p:nvSpPr>
          <p:cNvPr id="215" name="Google Shape;215;p7"/>
          <p:cNvSpPr/>
          <p:nvPr/>
        </p:nvSpPr>
        <p:spPr>
          <a:xfrm>
            <a:off x="793790" y="542448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Program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would crash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without exception handling.</a:t>
            </a:r>
            <a:endParaRPr b="0" i="0" sz="1750" u="none" cap="none" strike="noStrike"/>
          </a:p>
        </p:txBody>
      </p:sp>
      <p:sp>
        <p:nvSpPr>
          <p:cNvPr id="216" name="Google Shape;216;p7"/>
          <p:cNvSpPr/>
          <p:nvPr/>
        </p:nvSpPr>
        <p:spPr>
          <a:xfrm>
            <a:off x="793790" y="604254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Perfect use case for try-except.</a:t>
            </a:r>
            <a:endParaRPr b="0" i="0" sz="1750" u="none" cap="none" strike="noStrike"/>
          </a:p>
        </p:txBody>
      </p:sp>
      <p:pic>
        <p:nvPicPr>
          <p:cNvPr descr="preencoded.png" id="217" name="Google Shape;21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793790" y="709255"/>
            <a:ext cx="9897308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Generic Exception Handling: try, except</a:t>
            </a:r>
            <a:endParaRPr b="0" i="0" sz="4000" u="none" cap="none" strike="noStrike"/>
          </a:p>
        </p:txBody>
      </p:sp>
      <p:sp>
        <p:nvSpPr>
          <p:cNvPr id="224" name="Google Shape;224;p8"/>
          <p:cNvSpPr/>
          <p:nvPr/>
        </p:nvSpPr>
        <p:spPr>
          <a:xfrm>
            <a:off x="793790" y="3617000"/>
            <a:ext cx="6272451" cy="1939528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783675" y="3617000"/>
            <a:ext cx="6292800" cy="2181600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987742" y="3769995"/>
            <a:ext cx="5884545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num = int(input())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print(10 / num)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ZeroDivisionError: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print("Error! You cannot divide by zero.")</a:t>
            </a:r>
            <a:endParaRPr b="0" i="0" sz="1600" u="none" cap="none" strike="noStrike"/>
          </a:p>
        </p:txBody>
      </p:sp>
      <p:sp>
        <p:nvSpPr>
          <p:cNvPr id="227" name="Google Shape;227;p8"/>
          <p:cNvSpPr/>
          <p:nvPr/>
        </p:nvSpPr>
        <p:spPr>
          <a:xfrm>
            <a:off x="7571780" y="211240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8235077" y="2112407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try: risky code</a:t>
            </a:r>
            <a:endParaRPr b="0" i="0" sz="2000" u="none" cap="none" strike="noStrike"/>
          </a:p>
        </p:txBody>
      </p:sp>
      <p:sp>
        <p:nvSpPr>
          <p:cNvPr id="229" name="Google Shape;229;p8"/>
          <p:cNvSpPr/>
          <p:nvPr/>
        </p:nvSpPr>
        <p:spPr>
          <a:xfrm>
            <a:off x="7571780" y="3234809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235077" y="3234809"/>
            <a:ext cx="3631644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except: runs if error happens</a:t>
            </a:r>
            <a:endParaRPr b="0" i="0" sz="2000" u="none" cap="none" strike="noStrike"/>
          </a:p>
        </p:txBody>
      </p:sp>
      <p:sp>
        <p:nvSpPr>
          <p:cNvPr id="231" name="Google Shape;231;p8"/>
          <p:cNvSpPr/>
          <p:nvPr/>
        </p:nvSpPr>
        <p:spPr>
          <a:xfrm>
            <a:off x="7571780" y="4357211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8235077" y="4357211"/>
            <a:ext cx="3330297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Handles specific exception</a:t>
            </a:r>
            <a:endParaRPr b="0" i="0" sz="2000" u="none" cap="none" strike="noStrike"/>
          </a:p>
        </p:txBody>
      </p:sp>
      <p:sp>
        <p:nvSpPr>
          <p:cNvPr id="233" name="Google Shape;233;p8"/>
          <p:cNvSpPr/>
          <p:nvPr/>
        </p:nvSpPr>
        <p:spPr>
          <a:xfrm>
            <a:off x="7571780" y="5479613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8235077" y="547961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Prevents crash</a:t>
            </a:r>
            <a:endParaRPr b="0" i="0" sz="2000" u="none" cap="none" strike="noStrike"/>
          </a:p>
        </p:txBody>
      </p:sp>
      <p:sp>
        <p:nvSpPr>
          <p:cNvPr id="235" name="Google Shape;235;p8"/>
          <p:cNvSpPr/>
          <p:nvPr/>
        </p:nvSpPr>
        <p:spPr>
          <a:xfrm>
            <a:off x="7571780" y="6602016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8235077" y="6602016"/>
            <a:ext cx="3194804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Improves user experience</a:t>
            </a:r>
            <a:endParaRPr b="0" i="0" sz="2000" u="none" cap="none" strike="noStrike"/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793790" y="709255"/>
            <a:ext cx="1259026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Generic Exception Handling: multiple try &amp; except</a:t>
            </a:r>
            <a:endParaRPr b="0" i="0" sz="4000" u="none" cap="none" strike="noStrike"/>
          </a:p>
        </p:txBody>
      </p:sp>
      <p:sp>
        <p:nvSpPr>
          <p:cNvPr id="244" name="Google Shape;244;p9"/>
          <p:cNvSpPr/>
          <p:nvPr/>
        </p:nvSpPr>
        <p:spPr>
          <a:xfrm>
            <a:off x="793790" y="3126938"/>
            <a:ext cx="6272451" cy="2919651"/>
          </a:xfrm>
          <a:prstGeom prst="roundRect">
            <a:avLst>
              <a:gd fmla="val 104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83675" y="3126952"/>
            <a:ext cx="6292800" cy="3311700"/>
          </a:xfrm>
          <a:prstGeom prst="roundRect">
            <a:avLst>
              <a:gd fmla="val 104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987742" y="3279934"/>
            <a:ext cx="5884545" cy="2613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num1 = int(input())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num2 = int(input())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print(num1 / num2)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ZeroDivisionError: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print('Cannot divide by zero!')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ValueError:</a:t>
            </a:r>
            <a:endParaRPr b="0" i="0" sz="1600" u="none" cap="none" strike="noStrike"/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print('Please enter valid numbers!')</a:t>
            </a:r>
            <a:endParaRPr b="0" i="0" sz="1600" u="none" cap="none" strike="noStrike"/>
          </a:p>
        </p:txBody>
      </p:sp>
      <p:sp>
        <p:nvSpPr>
          <p:cNvPr id="247" name="Google Shape;247;p9"/>
          <p:cNvSpPr/>
          <p:nvPr/>
        </p:nvSpPr>
        <p:spPr>
          <a:xfrm>
            <a:off x="7571780" y="211240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235077" y="2112407"/>
            <a:ext cx="3335060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multiple except blocks</a:t>
            </a:r>
            <a:endParaRPr b="0" i="0" sz="2000" u="none" cap="none" strike="noStrike"/>
          </a:p>
        </p:txBody>
      </p:sp>
      <p:sp>
        <p:nvSpPr>
          <p:cNvPr id="249" name="Google Shape;249;p9"/>
          <p:cNvSpPr/>
          <p:nvPr/>
        </p:nvSpPr>
        <p:spPr>
          <a:xfrm>
            <a:off x="7571780" y="3234809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235077" y="3234809"/>
            <a:ext cx="4483775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Each block handles a different error</a:t>
            </a:r>
            <a:endParaRPr b="0" i="0" sz="2000" u="none" cap="none" strike="noStrike"/>
          </a:p>
        </p:txBody>
      </p:sp>
      <p:sp>
        <p:nvSpPr>
          <p:cNvPr id="251" name="Google Shape;251;p9"/>
          <p:cNvSpPr/>
          <p:nvPr/>
        </p:nvSpPr>
        <p:spPr>
          <a:xfrm>
            <a:off x="7571780" y="4357211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235077" y="4357211"/>
            <a:ext cx="3592711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Clear separation of concerns</a:t>
            </a:r>
            <a:endParaRPr b="0" i="0" sz="2000" u="none" cap="none" strike="noStrike"/>
          </a:p>
        </p:txBody>
      </p:sp>
      <p:sp>
        <p:nvSpPr>
          <p:cNvPr id="253" name="Google Shape;253;p9"/>
          <p:cNvSpPr/>
          <p:nvPr/>
        </p:nvSpPr>
        <p:spPr>
          <a:xfrm>
            <a:off x="7571780" y="5479613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235077" y="547961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Keeps code clean</a:t>
            </a:r>
            <a:endParaRPr b="0" i="0" sz="2000" u="none" cap="none" strike="noStrike"/>
          </a:p>
        </p:txBody>
      </p:sp>
      <p:sp>
        <p:nvSpPr>
          <p:cNvPr id="255" name="Google Shape;255;p9"/>
          <p:cNvSpPr/>
          <p:nvPr/>
        </p:nvSpPr>
        <p:spPr>
          <a:xfrm>
            <a:off x="7571780" y="6602016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8235077" y="6602016"/>
            <a:ext cx="4533186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Each exception is treated differently</a:t>
            </a:r>
            <a:endParaRPr b="0" i="0" sz="2000" u="none" cap="none" strike="noStrike"/>
          </a:p>
        </p:txBody>
      </p:sp>
      <p:pic>
        <p:nvPicPr>
          <p:cNvPr descr="preencoded.png" id="257" name="Google Shape;2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793790" y="709255"/>
            <a:ext cx="9025295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Generic Exception Handling (Contd.)</a:t>
            </a:r>
            <a:endParaRPr b="0" i="0" sz="4000" u="none" cap="none" strike="noStrike"/>
          </a:p>
        </p:txBody>
      </p:sp>
      <p:sp>
        <p:nvSpPr>
          <p:cNvPr id="264" name="Google Shape;264;p10"/>
          <p:cNvSpPr/>
          <p:nvPr/>
        </p:nvSpPr>
        <p:spPr>
          <a:xfrm>
            <a:off x="793790" y="3453646"/>
            <a:ext cx="6272451" cy="2266236"/>
          </a:xfrm>
          <a:prstGeom prst="roundRect">
            <a:avLst>
              <a:gd fmla="val 135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783669" y="3453646"/>
            <a:ext cx="6292691" cy="2266236"/>
          </a:xfrm>
          <a:prstGeom prst="roundRect">
            <a:avLst>
              <a:gd fmla="val 135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987742" y="3606641"/>
            <a:ext cx="5884545" cy="196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b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num = int(input())</a:t>
            </a:r>
            <a:b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print(10 / num)</a:t>
            </a:r>
            <a:b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Exception as e:</a:t>
            </a:r>
            <a:b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print("An error occurred:", e)</a:t>
            </a:r>
            <a:b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600" u="none" cap="none" strike="noStrike"/>
          </a:p>
        </p:txBody>
      </p:sp>
      <p:sp>
        <p:nvSpPr>
          <p:cNvPr id="267" name="Google Shape;267;p10"/>
          <p:cNvSpPr/>
          <p:nvPr/>
        </p:nvSpPr>
        <p:spPr>
          <a:xfrm>
            <a:off x="7571780" y="211240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235077" y="2112407"/>
            <a:ext cx="4977289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Exception is the base class for all errors</a:t>
            </a:r>
            <a:endParaRPr b="0" i="0" sz="2000" u="none" cap="none" strike="noStrike"/>
          </a:p>
        </p:txBody>
      </p:sp>
      <p:sp>
        <p:nvSpPr>
          <p:cNvPr id="269" name="Google Shape;269;p10"/>
          <p:cNvSpPr/>
          <p:nvPr/>
        </p:nvSpPr>
        <p:spPr>
          <a:xfrm>
            <a:off x="7571780" y="3234809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8235077" y="3234809"/>
            <a:ext cx="506122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when you're </a:t>
            </a:r>
            <a:r>
              <a:rPr b="1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unsure what might fail</a:t>
            </a:r>
            <a:endParaRPr b="0" i="0" sz="2000" u="none" cap="none" strike="noStrike"/>
          </a:p>
        </p:txBody>
      </p:sp>
      <p:sp>
        <p:nvSpPr>
          <p:cNvPr id="271" name="Google Shape;271;p10"/>
          <p:cNvSpPr/>
          <p:nvPr/>
        </p:nvSpPr>
        <p:spPr>
          <a:xfrm>
            <a:off x="7571780" y="4357211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8235077" y="4357211"/>
            <a:ext cx="5102423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Always display e to understand the error</a:t>
            </a:r>
            <a:endParaRPr b="0" i="0" sz="2000" u="none" cap="none" strike="noStrike"/>
          </a:p>
        </p:txBody>
      </p:sp>
      <p:sp>
        <p:nvSpPr>
          <p:cNvPr id="273" name="Google Shape;273;p10"/>
          <p:cNvSpPr/>
          <p:nvPr/>
        </p:nvSpPr>
        <p:spPr>
          <a:xfrm>
            <a:off x="7571780" y="5479613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8235077" y="5479613"/>
            <a:ext cx="3465433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1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Don't overuse</a:t>
            </a: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– hides bugs!</a:t>
            </a:r>
            <a:endParaRPr b="0" i="0" sz="2000" u="none" cap="none" strike="noStrike"/>
          </a:p>
        </p:txBody>
      </p:sp>
      <p:sp>
        <p:nvSpPr>
          <p:cNvPr id="275" name="Google Shape;275;p10"/>
          <p:cNvSpPr/>
          <p:nvPr/>
        </p:nvSpPr>
        <p:spPr>
          <a:xfrm>
            <a:off x="7571780" y="6602016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8235077" y="6602016"/>
            <a:ext cx="4528661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Good for logging, bad for debugging</a:t>
            </a:r>
            <a:endParaRPr b="0" i="0" sz="2000" u="none" cap="none" strike="noStrike"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793790" y="632579"/>
            <a:ext cx="9881354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Exception Handling: Always Executes</a:t>
            </a:r>
            <a:endParaRPr b="0" i="0" sz="4200" u="none" cap="none" strike="noStrike"/>
          </a:p>
        </p:txBody>
      </p:sp>
      <p:sp>
        <p:nvSpPr>
          <p:cNvPr id="284" name="Google Shape;284;p11"/>
          <p:cNvSpPr/>
          <p:nvPr/>
        </p:nvSpPr>
        <p:spPr>
          <a:xfrm>
            <a:off x="793790" y="2899886"/>
            <a:ext cx="6258520" cy="3426381"/>
          </a:xfrm>
          <a:prstGeom prst="roundRect">
            <a:avLst>
              <a:gd fmla="val 943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83074" y="2899886"/>
            <a:ext cx="6279952" cy="3426381"/>
          </a:xfrm>
          <a:prstGeom prst="roundRect">
            <a:avLst>
              <a:gd fmla="val 943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998458" y="3061454"/>
            <a:ext cx="5849183" cy="3103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file = open("example.txt", "r")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content = file.read()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FileNotFoundError: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print("File not found!")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finally: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print("Closing file...")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file.close()</a:t>
            </a:r>
            <a:br>
              <a:rPr b="0" i="0" lang="en-US" sz="16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650" u="none" cap="none" strike="noStrike"/>
          </a:p>
        </p:txBody>
      </p:sp>
      <p:sp>
        <p:nvSpPr>
          <p:cNvPr id="287" name="Google Shape;287;p11"/>
          <p:cNvSpPr/>
          <p:nvPr/>
        </p:nvSpPr>
        <p:spPr>
          <a:xfrm>
            <a:off x="7585710" y="1871543"/>
            <a:ext cx="161568" cy="1241584"/>
          </a:xfrm>
          <a:prstGeom prst="roundRect">
            <a:avLst>
              <a:gd fmla="val 2000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8070413" y="1871543"/>
            <a:ext cx="5218033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Runs </a:t>
            </a:r>
            <a:r>
              <a:rPr b="1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 matter what</a:t>
            </a: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(success or error)</a:t>
            </a:r>
            <a:endParaRPr b="0" i="0" sz="2100" u="none" cap="none" strike="noStrike"/>
          </a:p>
        </p:txBody>
      </p:sp>
      <p:sp>
        <p:nvSpPr>
          <p:cNvPr id="289" name="Google Shape;289;p11"/>
          <p:cNvSpPr/>
          <p:nvPr/>
        </p:nvSpPr>
        <p:spPr>
          <a:xfrm>
            <a:off x="8070413" y="2423517"/>
            <a:ext cx="5773817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finally block executes regardless of what happens in the try-except blocks</a:t>
            </a:r>
            <a:endParaRPr b="0" i="0" sz="1650" u="none" cap="none" strike="noStrike"/>
          </a:p>
        </p:txBody>
      </p:sp>
      <p:sp>
        <p:nvSpPr>
          <p:cNvPr id="290" name="Google Shape;290;p11"/>
          <p:cNvSpPr/>
          <p:nvPr/>
        </p:nvSpPr>
        <p:spPr>
          <a:xfrm>
            <a:off x="7908846" y="3328511"/>
            <a:ext cx="161568" cy="1241584"/>
          </a:xfrm>
          <a:prstGeom prst="roundRect">
            <a:avLst>
              <a:gd fmla="val 2000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8393549" y="3328511"/>
            <a:ext cx="5125045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Great for clean-up tasks (e.g., close file)</a:t>
            </a:r>
            <a:endParaRPr b="0" i="0" sz="2100" u="none" cap="none" strike="noStrike"/>
          </a:p>
        </p:txBody>
      </p:sp>
      <p:sp>
        <p:nvSpPr>
          <p:cNvPr id="292" name="Google Shape;292;p11"/>
          <p:cNvSpPr/>
          <p:nvPr/>
        </p:nvSpPr>
        <p:spPr>
          <a:xfrm>
            <a:off x="8393549" y="3880485"/>
            <a:ext cx="5450681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Ensures resources are properly released even if exceptions occur</a:t>
            </a:r>
            <a:endParaRPr b="0" i="0" sz="1650" u="none" cap="none" strike="noStrike"/>
          </a:p>
        </p:txBody>
      </p:sp>
      <p:sp>
        <p:nvSpPr>
          <p:cNvPr id="293" name="Google Shape;293;p11"/>
          <p:cNvSpPr/>
          <p:nvPr/>
        </p:nvSpPr>
        <p:spPr>
          <a:xfrm>
            <a:off x="8232100" y="4785479"/>
            <a:ext cx="161568" cy="1241584"/>
          </a:xfrm>
          <a:prstGeom prst="roundRect">
            <a:avLst>
              <a:gd fmla="val 2000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8716804" y="4785479"/>
            <a:ext cx="3114437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Prevents resource leaks</a:t>
            </a:r>
            <a:endParaRPr b="0" i="0" sz="2100" u="none" cap="none" strike="noStrike"/>
          </a:p>
        </p:txBody>
      </p:sp>
      <p:sp>
        <p:nvSpPr>
          <p:cNvPr id="295" name="Google Shape;295;p11"/>
          <p:cNvSpPr/>
          <p:nvPr/>
        </p:nvSpPr>
        <p:spPr>
          <a:xfrm>
            <a:off x="8716804" y="5337453"/>
            <a:ext cx="5127427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Critical for managing system resources like files, network connections, and database connections</a:t>
            </a:r>
            <a:endParaRPr b="0" i="0" sz="1650" u="none" cap="none" strike="noStrike"/>
          </a:p>
        </p:txBody>
      </p:sp>
      <p:sp>
        <p:nvSpPr>
          <p:cNvPr id="296" name="Google Shape;296;p11"/>
          <p:cNvSpPr/>
          <p:nvPr/>
        </p:nvSpPr>
        <p:spPr>
          <a:xfrm>
            <a:off x="8555355" y="6242447"/>
            <a:ext cx="161568" cy="896779"/>
          </a:xfrm>
          <a:prstGeom prst="roundRect">
            <a:avLst>
              <a:gd fmla="val 2000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9040058" y="6242447"/>
            <a:ext cx="443245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Useful in </a:t>
            </a:r>
            <a:r>
              <a:rPr b="1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real-world applications</a:t>
            </a:r>
            <a:endParaRPr b="0" i="0" sz="2100" u="none" cap="none" strike="noStrike"/>
          </a:p>
        </p:txBody>
      </p:sp>
      <p:sp>
        <p:nvSpPr>
          <p:cNvPr id="298" name="Google Shape;298;p11"/>
          <p:cNvSpPr/>
          <p:nvPr/>
        </p:nvSpPr>
        <p:spPr>
          <a:xfrm>
            <a:off x="9040058" y="6794421"/>
            <a:ext cx="480417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Completes the exception handling structure</a:t>
            </a:r>
            <a:endParaRPr b="0" i="0" sz="1650" u="none" cap="none" strike="noStrike"/>
          </a:p>
        </p:txBody>
      </p:sp>
      <p:pic>
        <p:nvPicPr>
          <p:cNvPr descr="preencoded.png" id="299" name="Google Shape;2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/>
          <p:nvPr/>
        </p:nvSpPr>
        <p:spPr>
          <a:xfrm>
            <a:off x="788670" y="619720"/>
            <a:ext cx="12033528" cy="704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00"/>
              <a:buFont typeface="Platypi Medium"/>
              <a:buNone/>
            </a:pPr>
            <a:r>
              <a:rPr b="0" i="0" lang="en-US" sz="44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Exception Handling: Make Your Own Errors</a:t>
            </a:r>
            <a:endParaRPr b="0" i="0" sz="4400" u="none" cap="none" strike="noStrike"/>
          </a:p>
        </p:txBody>
      </p:sp>
      <p:sp>
        <p:nvSpPr>
          <p:cNvPr id="306" name="Google Shape;306;p12"/>
          <p:cNvSpPr/>
          <p:nvPr/>
        </p:nvSpPr>
        <p:spPr>
          <a:xfrm>
            <a:off x="788670" y="3926324"/>
            <a:ext cx="6251615" cy="1419463"/>
          </a:xfrm>
          <a:prstGeom prst="roundRect">
            <a:avLst>
              <a:gd fmla="val 238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777475" y="3926325"/>
            <a:ext cx="6273900" cy="1828800"/>
          </a:xfrm>
          <a:prstGeom prst="roundRect">
            <a:avLst>
              <a:gd fmla="val 238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1002744" y="4095274"/>
            <a:ext cx="5823466" cy="108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def withdraw(amount):</a:t>
            </a:r>
            <a:endParaRPr b="0" i="0" sz="175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if amount &lt; 0:</a:t>
            </a:r>
            <a:endParaRPr b="0" i="0" sz="175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    raise ValueError("Amount cannot be negative!")</a:t>
            </a:r>
            <a:endParaRPr b="0" i="0" sz="1750" u="none" cap="none" strike="noStrike"/>
          </a:p>
        </p:txBody>
      </p:sp>
      <p:sp>
        <p:nvSpPr>
          <p:cNvPr id="309" name="Google Shape;309;p12"/>
          <p:cNvSpPr/>
          <p:nvPr/>
        </p:nvSpPr>
        <p:spPr>
          <a:xfrm>
            <a:off x="7597735" y="2168962"/>
            <a:ext cx="506968" cy="50696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8329970" y="2168962"/>
            <a:ext cx="2817019" cy="352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raise</a:t>
            </a:r>
            <a:endParaRPr b="0" i="0" sz="2200" u="none" cap="none" strike="noStrike"/>
          </a:p>
        </p:txBody>
      </p:sp>
      <p:sp>
        <p:nvSpPr>
          <p:cNvPr id="311" name="Google Shape;311;p12"/>
          <p:cNvSpPr/>
          <p:nvPr/>
        </p:nvSpPr>
        <p:spPr>
          <a:xfrm>
            <a:off x="8329970" y="2746296"/>
            <a:ext cx="5519380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raise to throw your own errors</a:t>
            </a:r>
            <a:endParaRPr b="0" i="0" sz="1750" u="none" cap="none" strike="noStrike"/>
          </a:p>
        </p:txBody>
      </p:sp>
      <p:sp>
        <p:nvSpPr>
          <p:cNvPr id="312" name="Google Shape;312;p12"/>
          <p:cNvSpPr/>
          <p:nvPr/>
        </p:nvSpPr>
        <p:spPr>
          <a:xfrm>
            <a:off x="7597735" y="3585567"/>
            <a:ext cx="506968" cy="50696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329970" y="3585567"/>
            <a:ext cx="2817019" cy="352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Enforce Rules</a:t>
            </a:r>
            <a:endParaRPr b="0" i="0" sz="2200" u="none" cap="none" strike="noStrike"/>
          </a:p>
        </p:txBody>
      </p:sp>
      <p:sp>
        <p:nvSpPr>
          <p:cNvPr id="314" name="Google Shape;314;p12"/>
          <p:cNvSpPr/>
          <p:nvPr/>
        </p:nvSpPr>
        <p:spPr>
          <a:xfrm>
            <a:off x="8329970" y="4162901"/>
            <a:ext cx="5519380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Helps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enforce rules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in your program</a:t>
            </a:r>
            <a:endParaRPr b="0" i="0" sz="1750" u="none" cap="none" strike="noStrike"/>
          </a:p>
        </p:txBody>
      </p:sp>
      <p:sp>
        <p:nvSpPr>
          <p:cNvPr id="315" name="Google Shape;315;p12"/>
          <p:cNvSpPr/>
          <p:nvPr/>
        </p:nvSpPr>
        <p:spPr>
          <a:xfrm>
            <a:off x="7597735" y="5002173"/>
            <a:ext cx="506968" cy="50696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8329970" y="5002173"/>
            <a:ext cx="3019187" cy="352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Clear Communication</a:t>
            </a:r>
            <a:endParaRPr b="0" i="0" sz="2200" u="none" cap="none" strike="noStrike"/>
          </a:p>
        </p:txBody>
      </p:sp>
      <p:sp>
        <p:nvSpPr>
          <p:cNvPr id="317" name="Google Shape;317;p12"/>
          <p:cNvSpPr/>
          <p:nvPr/>
        </p:nvSpPr>
        <p:spPr>
          <a:xfrm>
            <a:off x="8329970" y="5579507"/>
            <a:ext cx="5519380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Clearly communicates what went wrong</a:t>
            </a:r>
            <a:endParaRPr b="0" i="0" sz="1750" u="none" cap="none" strike="noStrike"/>
          </a:p>
        </p:txBody>
      </p:sp>
      <p:sp>
        <p:nvSpPr>
          <p:cNvPr id="318" name="Google Shape;318;p12"/>
          <p:cNvSpPr/>
          <p:nvPr/>
        </p:nvSpPr>
        <p:spPr>
          <a:xfrm>
            <a:off x="7597735" y="6418778"/>
            <a:ext cx="506968" cy="50696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8329970" y="6418778"/>
            <a:ext cx="2817019" cy="352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Reliability</a:t>
            </a:r>
            <a:endParaRPr b="0" i="0" sz="2200" u="none" cap="none" strike="noStrike"/>
          </a:p>
        </p:txBody>
      </p:sp>
      <p:sp>
        <p:nvSpPr>
          <p:cNvPr id="320" name="Google Shape;320;p12"/>
          <p:cNvSpPr/>
          <p:nvPr/>
        </p:nvSpPr>
        <p:spPr>
          <a:xfrm>
            <a:off x="8329970" y="6996113"/>
            <a:ext cx="5519380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Makes your code more reliable</a:t>
            </a:r>
            <a:endParaRPr b="0" i="0" sz="1750" u="none" cap="none" strike="noStrike"/>
          </a:p>
        </p:txBody>
      </p:sp>
      <p:pic>
        <p:nvPicPr>
          <p:cNvPr descr="preencoded.png" id="321" name="Google Shape;3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"/>
          <p:cNvSpPr/>
          <p:nvPr/>
        </p:nvSpPr>
        <p:spPr>
          <a:xfrm>
            <a:off x="793790" y="2439352"/>
            <a:ext cx="1054572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Custom Exception in try-except</a:t>
            </a:r>
            <a:endParaRPr b="0" i="0" sz="4450" u="none" cap="none" strike="noStrike"/>
          </a:p>
        </p:txBody>
      </p:sp>
      <p:sp>
        <p:nvSpPr>
          <p:cNvPr id="328" name="Google Shape;328;p13"/>
          <p:cNvSpPr/>
          <p:nvPr/>
        </p:nvSpPr>
        <p:spPr>
          <a:xfrm>
            <a:off x="793790" y="3743444"/>
            <a:ext cx="6244709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782479" y="3743444"/>
            <a:ext cx="6267331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1009293" y="3913465"/>
            <a:ext cx="581370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withdraw(-100)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ValueError as 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print(f"Error: {e}")</a:t>
            </a:r>
            <a:endParaRPr b="0" i="0" sz="1750" u="none" cap="none" strike="noStrike"/>
          </a:p>
        </p:txBody>
      </p:sp>
      <p:sp>
        <p:nvSpPr>
          <p:cNvPr id="331" name="Google Shape;331;p13"/>
          <p:cNvSpPr/>
          <p:nvPr/>
        </p:nvSpPr>
        <p:spPr>
          <a:xfrm>
            <a:off x="7599521" y="356758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Catch the error you raised.</a:t>
            </a:r>
            <a:endParaRPr b="0" i="0" sz="1750" u="none" cap="none" strike="noStrike"/>
          </a:p>
        </p:txBody>
      </p:sp>
      <p:sp>
        <p:nvSpPr>
          <p:cNvPr id="332" name="Google Shape;332;p13"/>
          <p:cNvSpPr/>
          <p:nvPr/>
        </p:nvSpPr>
        <p:spPr>
          <a:xfrm>
            <a:off x="7599521" y="4009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Useful for validating inputs.</a:t>
            </a:r>
            <a:endParaRPr b="0" i="0" sz="1750" u="none" cap="none" strike="noStrike"/>
          </a:p>
        </p:txBody>
      </p:sp>
      <p:sp>
        <p:nvSpPr>
          <p:cNvPr id="333" name="Google Shape;333;p13"/>
          <p:cNvSpPr/>
          <p:nvPr/>
        </p:nvSpPr>
        <p:spPr>
          <a:xfrm>
            <a:off x="7599521" y="4451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Helps in large applications (banking, APIs).</a:t>
            </a:r>
            <a:endParaRPr b="0" i="0" sz="1750" u="none" cap="none" strike="noStrike"/>
          </a:p>
        </p:txBody>
      </p:sp>
      <p:sp>
        <p:nvSpPr>
          <p:cNvPr id="334" name="Google Shape;334;p13"/>
          <p:cNvSpPr/>
          <p:nvPr/>
        </p:nvSpPr>
        <p:spPr>
          <a:xfrm>
            <a:off x="7599521" y="4894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Separates error logic from main logic.</a:t>
            </a:r>
            <a:endParaRPr b="0" i="0" sz="1750" u="none" cap="none" strike="noStrike"/>
          </a:p>
        </p:txBody>
      </p:sp>
      <p:sp>
        <p:nvSpPr>
          <p:cNvPr id="335" name="Google Shape;335;p13"/>
          <p:cNvSpPr/>
          <p:nvPr/>
        </p:nvSpPr>
        <p:spPr>
          <a:xfrm>
            <a:off x="7599521" y="5336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Avoids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unexpected results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pic>
        <p:nvPicPr>
          <p:cNvPr descr="preencoded.png" id="336" name="Google Shape;3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/>
          <p:nvPr/>
        </p:nvSpPr>
        <p:spPr>
          <a:xfrm>
            <a:off x="793790" y="195310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Tips to Follow</a:t>
            </a:r>
            <a:endParaRPr b="0" i="0" sz="4450" u="none" cap="none" strike="noStrike"/>
          </a:p>
        </p:txBody>
      </p:sp>
      <p:sp>
        <p:nvSpPr>
          <p:cNvPr id="343" name="Google Shape;343;p14"/>
          <p:cNvSpPr/>
          <p:nvPr/>
        </p:nvSpPr>
        <p:spPr>
          <a:xfrm>
            <a:off x="793790" y="3370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878860" y="341316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45" name="Google Shape;345;p14"/>
          <p:cNvSpPr/>
          <p:nvPr/>
        </p:nvSpPr>
        <p:spPr>
          <a:xfrm>
            <a:off x="1530906" y="3370659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Always use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specific exceptions</a:t>
            </a:r>
            <a:endParaRPr b="0" i="0" sz="2200" u="none" cap="none" strike="noStrike"/>
          </a:p>
        </p:txBody>
      </p:sp>
      <p:sp>
        <p:nvSpPr>
          <p:cNvPr id="346" name="Google Shape;346;p14"/>
          <p:cNvSpPr/>
          <p:nvPr/>
        </p:nvSpPr>
        <p:spPr>
          <a:xfrm>
            <a:off x="1530906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Target exactly what might go wrong</a:t>
            </a:r>
            <a:endParaRPr b="0" i="0" sz="1750" u="none" cap="none" strike="noStrike"/>
          </a:p>
        </p:txBody>
      </p:sp>
      <p:sp>
        <p:nvSpPr>
          <p:cNvPr id="347" name="Google Shape;347;p14"/>
          <p:cNvSpPr/>
          <p:nvPr/>
        </p:nvSpPr>
        <p:spPr>
          <a:xfrm>
            <a:off x="5216962" y="3370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5302032" y="341316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49" name="Google Shape;349;p14"/>
          <p:cNvSpPr/>
          <p:nvPr/>
        </p:nvSpPr>
        <p:spPr>
          <a:xfrm>
            <a:off x="5954078" y="3370659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Keep try blocks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as small as possible</a:t>
            </a:r>
            <a:endParaRPr b="0" i="0" sz="2200" u="none" cap="none" strike="noStrike"/>
          </a:p>
        </p:txBody>
      </p:sp>
      <p:sp>
        <p:nvSpPr>
          <p:cNvPr id="350" name="Google Shape;350;p14"/>
          <p:cNvSpPr/>
          <p:nvPr/>
        </p:nvSpPr>
        <p:spPr>
          <a:xfrm>
            <a:off x="5954078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Only include code that might raise exceptions</a:t>
            </a:r>
            <a:endParaRPr b="0" i="0" sz="1750" u="none" cap="none" strike="noStrike"/>
          </a:p>
        </p:txBody>
      </p:sp>
      <p:sp>
        <p:nvSpPr>
          <p:cNvPr id="351" name="Google Shape;351;p14"/>
          <p:cNvSpPr/>
          <p:nvPr/>
        </p:nvSpPr>
        <p:spPr>
          <a:xfrm>
            <a:off x="9640133" y="3370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9725204" y="341316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53" name="Google Shape;353;p14"/>
          <p:cNvSpPr/>
          <p:nvPr/>
        </p:nvSpPr>
        <p:spPr>
          <a:xfrm>
            <a:off x="10377249" y="3370659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finally for clean-up like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closing files</a:t>
            </a:r>
            <a:endParaRPr b="0" i="0" sz="2200" u="none" cap="none" strike="noStrike"/>
          </a:p>
        </p:txBody>
      </p:sp>
      <p:sp>
        <p:nvSpPr>
          <p:cNvPr id="354" name="Google Shape;354;p14"/>
          <p:cNvSpPr/>
          <p:nvPr/>
        </p:nvSpPr>
        <p:spPr>
          <a:xfrm>
            <a:off x="10377249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Ensure resources are properly released</a:t>
            </a:r>
            <a:endParaRPr b="0" i="0" sz="1750" u="none" cap="none" strike="noStrike"/>
          </a:p>
        </p:txBody>
      </p:sp>
      <p:sp>
        <p:nvSpPr>
          <p:cNvPr id="355" name="Google Shape;355;p14"/>
          <p:cNvSpPr/>
          <p:nvPr/>
        </p:nvSpPr>
        <p:spPr>
          <a:xfrm>
            <a:off x="793790" y="542317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878860" y="546568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357" name="Google Shape;357;p14"/>
          <p:cNvSpPr/>
          <p:nvPr/>
        </p:nvSpPr>
        <p:spPr>
          <a:xfrm>
            <a:off x="1530906" y="5423178"/>
            <a:ext cx="518279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Avoid except: without exception type</a:t>
            </a:r>
            <a:endParaRPr b="0" i="0" sz="2200" u="none" cap="none" strike="noStrike"/>
          </a:p>
        </p:txBody>
      </p:sp>
      <p:sp>
        <p:nvSpPr>
          <p:cNvPr id="358" name="Google Shape;358;p14"/>
          <p:cNvSpPr/>
          <p:nvPr/>
        </p:nvSpPr>
        <p:spPr>
          <a:xfrm>
            <a:off x="1530906" y="5913596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Don't catch errors blindly</a:t>
            </a:r>
            <a:endParaRPr b="0" i="0" sz="1750" u="none" cap="none" strike="noStrike"/>
          </a:p>
        </p:txBody>
      </p:sp>
      <p:sp>
        <p:nvSpPr>
          <p:cNvPr id="359" name="Google Shape;359;p14"/>
          <p:cNvSpPr/>
          <p:nvPr/>
        </p:nvSpPr>
        <p:spPr>
          <a:xfrm>
            <a:off x="7428667" y="542317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7513737" y="546568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361" name="Google Shape;361;p14"/>
          <p:cNvSpPr/>
          <p:nvPr/>
        </p:nvSpPr>
        <p:spPr>
          <a:xfrm>
            <a:off x="8165783" y="5423178"/>
            <a:ext cx="548009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logging instead of print() for errors</a:t>
            </a:r>
            <a:endParaRPr b="0" i="0" sz="2200" u="none" cap="none" strike="noStrike"/>
          </a:p>
        </p:txBody>
      </p:sp>
      <p:sp>
        <p:nvSpPr>
          <p:cNvPr id="362" name="Google Shape;362;p14"/>
          <p:cNvSpPr/>
          <p:nvPr/>
        </p:nvSpPr>
        <p:spPr>
          <a:xfrm>
            <a:off x="8165783" y="5913596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Better for production environments</a:t>
            </a:r>
            <a:endParaRPr b="0" i="0" sz="1750" u="none" cap="none" strike="noStrike"/>
          </a:p>
        </p:txBody>
      </p:sp>
      <p:pic>
        <p:nvPicPr>
          <p:cNvPr descr="preencoded.png" id="363" name="Google Shape;3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793790" y="2250758"/>
            <a:ext cx="573893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Did We Learn?</a:t>
            </a:r>
            <a:endParaRPr b="0" i="0" sz="4450" u="none" cap="none" strike="noStrike"/>
          </a:p>
        </p:txBody>
      </p:sp>
      <p:sp>
        <p:nvSpPr>
          <p:cNvPr id="370" name="Google Shape;370;p15"/>
          <p:cNvSpPr/>
          <p:nvPr/>
        </p:nvSpPr>
        <p:spPr>
          <a:xfrm>
            <a:off x="793790" y="366831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878860" y="371082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72" name="Google Shape;372;p15"/>
          <p:cNvSpPr/>
          <p:nvPr/>
        </p:nvSpPr>
        <p:spPr>
          <a:xfrm>
            <a:off x="1530906" y="3668316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exceptions are and why they happen</a:t>
            </a:r>
            <a:endParaRPr b="0" i="0" sz="2200" u="none" cap="none" strike="noStrike"/>
          </a:p>
        </p:txBody>
      </p:sp>
      <p:sp>
        <p:nvSpPr>
          <p:cNvPr id="373" name="Google Shape;373;p15"/>
          <p:cNvSpPr/>
          <p:nvPr/>
        </p:nvSpPr>
        <p:spPr>
          <a:xfrm>
            <a:off x="5216962" y="366831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302032" y="371082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75" name="Google Shape;375;p15"/>
          <p:cNvSpPr/>
          <p:nvPr/>
        </p:nvSpPr>
        <p:spPr>
          <a:xfrm>
            <a:off x="5954078" y="3668316"/>
            <a:ext cx="3459242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to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them gracefully</a:t>
            </a: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using try-except</a:t>
            </a:r>
            <a:endParaRPr b="0" i="0" sz="2200" u="none" cap="none" strike="noStrike"/>
          </a:p>
        </p:txBody>
      </p:sp>
      <p:sp>
        <p:nvSpPr>
          <p:cNvPr id="376" name="Google Shape;376;p15"/>
          <p:cNvSpPr/>
          <p:nvPr/>
        </p:nvSpPr>
        <p:spPr>
          <a:xfrm>
            <a:off x="9640133" y="366831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9725204" y="371082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78" name="Google Shape;378;p15"/>
          <p:cNvSpPr/>
          <p:nvPr/>
        </p:nvSpPr>
        <p:spPr>
          <a:xfrm>
            <a:off x="10377249" y="3668316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to handle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multiple or generic</a:t>
            </a: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exceptions</a:t>
            </a:r>
            <a:endParaRPr b="0" i="0" sz="2200" u="none" cap="none" strike="noStrike"/>
          </a:p>
        </p:txBody>
      </p:sp>
      <p:sp>
        <p:nvSpPr>
          <p:cNvPr id="379" name="Google Shape;379;p15"/>
          <p:cNvSpPr/>
          <p:nvPr/>
        </p:nvSpPr>
        <p:spPr>
          <a:xfrm>
            <a:off x="793790" y="521327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878860" y="525577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381" name="Google Shape;381;p15"/>
          <p:cNvSpPr/>
          <p:nvPr/>
        </p:nvSpPr>
        <p:spPr>
          <a:xfrm>
            <a:off x="1530906" y="5213271"/>
            <a:ext cx="383917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role of the finally block</a:t>
            </a:r>
            <a:endParaRPr b="0" i="0" sz="2200" u="none" cap="none" strike="noStrike"/>
          </a:p>
        </p:txBody>
      </p:sp>
      <p:sp>
        <p:nvSpPr>
          <p:cNvPr id="382" name="Google Shape;382;p15"/>
          <p:cNvSpPr/>
          <p:nvPr/>
        </p:nvSpPr>
        <p:spPr>
          <a:xfrm>
            <a:off x="7428667" y="521327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7513737" y="525577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384" name="Google Shape;384;p15"/>
          <p:cNvSpPr/>
          <p:nvPr/>
        </p:nvSpPr>
        <p:spPr>
          <a:xfrm>
            <a:off x="8165783" y="5213271"/>
            <a:ext cx="567094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to create and use custom exceptions</a:t>
            </a:r>
            <a:endParaRPr b="0" i="0" sz="2200" u="none" cap="none" strike="noStrike"/>
          </a:p>
        </p:txBody>
      </p:sp>
      <p:pic>
        <p:nvPicPr>
          <p:cNvPr descr="preencoded.png" id="385" name="Google Shape;3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793790" y="193178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Safe List Indexing</a:t>
            </a:r>
            <a:endParaRPr b="0" i="0" sz="4450" u="none" cap="none" strike="noStrike"/>
          </a:p>
        </p:txBody>
      </p:sp>
      <p:sp>
        <p:nvSpPr>
          <p:cNvPr id="392" name="Google Shape;392;p16"/>
          <p:cNvSpPr/>
          <p:nvPr/>
        </p:nvSpPr>
        <p:spPr>
          <a:xfrm>
            <a:off x="793790" y="3094196"/>
            <a:ext cx="4196358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Get User Input</a:t>
            </a:r>
            <a:endParaRPr b="0" i="0" sz="2200" u="none" cap="none" strike="noStrike"/>
          </a:p>
        </p:txBody>
      </p:sp>
      <p:sp>
        <p:nvSpPr>
          <p:cNvPr id="394" name="Google Shape;394;p16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Collect and convert user's index number to integer.</a:t>
            </a:r>
            <a:endParaRPr b="0" i="0" sz="1750" u="none" cap="none" strike="noStrike"/>
          </a:p>
        </p:txBody>
      </p:sp>
      <p:sp>
        <p:nvSpPr>
          <p:cNvPr id="395" name="Google Shape;395;p16"/>
          <p:cNvSpPr/>
          <p:nvPr/>
        </p:nvSpPr>
        <p:spPr>
          <a:xfrm>
            <a:off x="5216962" y="3094196"/>
            <a:ext cx="4196358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Access List Element</a:t>
            </a:r>
            <a:endParaRPr b="0" i="0" sz="2200" u="none" cap="none" strike="noStrike"/>
          </a:p>
        </p:txBody>
      </p:sp>
      <p:sp>
        <p:nvSpPr>
          <p:cNvPr id="397" name="Google Shape;397;p16"/>
          <p:cNvSpPr/>
          <p:nvPr/>
        </p:nvSpPr>
        <p:spPr>
          <a:xfrm>
            <a:off x="5443776" y="3811429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Retrieve the item at specified position using bracket notation.</a:t>
            </a:r>
            <a:endParaRPr b="0" i="0" sz="1750" u="none" cap="none" strike="noStrike"/>
          </a:p>
        </p:txBody>
      </p:sp>
      <p:sp>
        <p:nvSpPr>
          <p:cNvPr id="398" name="Google Shape;398;p16"/>
          <p:cNvSpPr/>
          <p:nvPr/>
        </p:nvSpPr>
        <p:spPr>
          <a:xfrm>
            <a:off x="9640133" y="3094196"/>
            <a:ext cx="4196358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9866948" y="3321010"/>
            <a:ext cx="299811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Missing Index</a:t>
            </a:r>
            <a:endParaRPr b="0" i="0" sz="2200" u="none" cap="none" strike="noStrike"/>
          </a:p>
        </p:txBody>
      </p:sp>
      <p:sp>
        <p:nvSpPr>
          <p:cNvPr id="400" name="Google Shape;400;p16"/>
          <p:cNvSpPr/>
          <p:nvPr/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Catch IndexError exceptions to prevent program crashes.</a:t>
            </a:r>
            <a:endParaRPr b="0" i="0" sz="1750" u="none" cap="none" strike="noStrike"/>
          </a:p>
        </p:txBody>
      </p:sp>
      <p:sp>
        <p:nvSpPr>
          <p:cNvPr id="401" name="Google Shape;401;p16"/>
          <p:cNvSpPr/>
          <p:nvPr/>
        </p:nvSpPr>
        <p:spPr>
          <a:xfrm>
            <a:off x="793790" y="4990862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1020604" y="5217676"/>
            <a:ext cx="365438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Display Friendly Messages</a:t>
            </a:r>
            <a:endParaRPr b="0" i="0" sz="2200" u="none" cap="none" strike="noStrike"/>
          </a:p>
        </p:txBody>
      </p:sp>
      <p:sp>
        <p:nvSpPr>
          <p:cNvPr id="403" name="Google Shape;403;p16"/>
          <p:cNvSpPr/>
          <p:nvPr/>
        </p:nvSpPr>
        <p:spPr>
          <a:xfrm>
            <a:off x="1020604" y="570809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Show error message instead of crashing.</a:t>
            </a:r>
            <a:endParaRPr b="0" i="0" sz="1750" u="none" cap="none" strike="noStrike"/>
          </a:p>
        </p:txBody>
      </p:sp>
      <p:sp>
        <p:nvSpPr>
          <p:cNvPr id="404" name="Google Shape;404;p16"/>
          <p:cNvSpPr/>
          <p:nvPr/>
        </p:nvSpPr>
        <p:spPr>
          <a:xfrm>
            <a:off x="7428667" y="4990862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7655481" y="5217676"/>
            <a:ext cx="303918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 try-except</a:t>
            </a:r>
            <a:endParaRPr b="0" i="0" sz="2200" u="none" cap="none" strike="noStrike"/>
          </a:p>
        </p:txBody>
      </p:sp>
      <p:sp>
        <p:nvSpPr>
          <p:cNvPr id="406" name="Google Shape;406;p16"/>
          <p:cNvSpPr/>
          <p:nvPr/>
        </p:nvSpPr>
        <p:spPr>
          <a:xfrm>
            <a:off x="7655481" y="570809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try-except structure for error handling.</a:t>
            </a:r>
            <a:endParaRPr b="0" i="0" sz="1750" u="none" cap="none" strike="noStrike"/>
          </a:p>
        </p:txBody>
      </p:sp>
      <p:pic>
        <p:nvPicPr>
          <p:cNvPr descr="preencoded.png" id="407" name="Google Shape;4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"/>
          <p:cNvSpPr/>
          <p:nvPr/>
        </p:nvSpPr>
        <p:spPr>
          <a:xfrm>
            <a:off x="793790" y="1514594"/>
            <a:ext cx="790086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String to Integer Conversion</a:t>
            </a:r>
            <a:endParaRPr b="0" i="0" sz="4450" u="none" cap="none" strike="noStrike"/>
          </a:p>
        </p:txBody>
      </p:sp>
      <p:pic>
        <p:nvPicPr>
          <p:cNvPr descr="preencoded.png" id="414" name="Google Shape;4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7700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7"/>
          <p:cNvSpPr/>
          <p:nvPr/>
        </p:nvSpPr>
        <p:spPr>
          <a:xfrm>
            <a:off x="793790" y="5507236"/>
            <a:ext cx="303299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Take input as a string</a:t>
            </a:r>
            <a:endParaRPr b="0" i="0" sz="2200" u="none" cap="none" strike="noStrike"/>
          </a:p>
        </p:txBody>
      </p:sp>
      <p:sp>
        <p:nvSpPr>
          <p:cNvPr id="416" name="Google Shape;416;p17"/>
          <p:cNvSpPr/>
          <p:nvPr/>
        </p:nvSpPr>
        <p:spPr>
          <a:xfrm>
            <a:off x="793790" y="5997654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Get user input in string format</a:t>
            </a:r>
            <a:endParaRPr b="0" i="0" sz="1750" u="none" cap="none" strike="noStrike"/>
          </a:p>
        </p:txBody>
      </p:sp>
      <p:pic>
        <p:nvPicPr>
          <p:cNvPr descr="preencoded.png" id="417" name="Google Shape;4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677001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5254704" y="5507355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Try to convert it to an integer</a:t>
            </a:r>
            <a:endParaRPr b="0" i="0" sz="2200" u="none" cap="none" strike="noStrike"/>
          </a:p>
        </p:txBody>
      </p:sp>
      <p:sp>
        <p:nvSpPr>
          <p:cNvPr id="419" name="Google Shape;419;p17"/>
          <p:cNvSpPr/>
          <p:nvPr/>
        </p:nvSpPr>
        <p:spPr>
          <a:xfrm>
            <a:off x="5254704" y="6352103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int() function for conversion</a:t>
            </a:r>
            <a:endParaRPr b="0" i="0" sz="1750" u="none" cap="none" strike="noStrike"/>
          </a:p>
        </p:txBody>
      </p:sp>
      <p:pic>
        <p:nvPicPr>
          <p:cNvPr descr="preencoded.png" id="420" name="Google Shape;4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67700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7"/>
          <p:cNvSpPr/>
          <p:nvPr/>
        </p:nvSpPr>
        <p:spPr>
          <a:xfrm>
            <a:off x="9715738" y="5507236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the case using ValueError</a:t>
            </a:r>
            <a:endParaRPr b="0" i="0" sz="2200" u="none" cap="none" strike="noStrike"/>
          </a:p>
        </p:txBody>
      </p:sp>
      <p:sp>
        <p:nvSpPr>
          <p:cNvPr id="422" name="Google Shape;422;p17"/>
          <p:cNvSpPr/>
          <p:nvPr/>
        </p:nvSpPr>
        <p:spPr>
          <a:xfrm>
            <a:off x="9715738" y="6351984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 friendly error messages</a:t>
            </a:r>
            <a:endParaRPr b="0" i="0" sz="1750" u="none" cap="none" strike="noStrike"/>
          </a:p>
        </p:txBody>
      </p:sp>
      <p:pic>
        <p:nvPicPr>
          <p:cNvPr descr="preencoded.png" id="423" name="Google Shape;42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9" name="Google Shape;4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/>
          <p:nvPr/>
        </p:nvSpPr>
        <p:spPr>
          <a:xfrm>
            <a:off x="793790" y="1355288"/>
            <a:ext cx="4820007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b="0" i="0" lang="en-US" sz="3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 a File Safely</a:t>
            </a:r>
            <a:endParaRPr b="0" i="0" sz="3750" u="none" cap="none" strike="noStrike"/>
          </a:p>
        </p:txBody>
      </p:sp>
      <p:pic>
        <p:nvPicPr>
          <p:cNvPr descr="preencoded.png" id="431" name="Google Shape;4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246948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8"/>
          <p:cNvSpPr/>
          <p:nvPr/>
        </p:nvSpPr>
        <p:spPr>
          <a:xfrm>
            <a:off x="2046922" y="2439710"/>
            <a:ext cx="3188375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Prompt user for a filename</a:t>
            </a:r>
            <a:endParaRPr b="0" i="0" sz="1850" u="none" cap="none" strike="noStrike"/>
          </a:p>
        </p:txBody>
      </p:sp>
      <p:pic>
        <p:nvPicPr>
          <p:cNvPr descr="preencoded.png" id="433" name="Google Shape;43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403759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8"/>
          <p:cNvSpPr/>
          <p:nvPr/>
        </p:nvSpPr>
        <p:spPr>
          <a:xfrm>
            <a:off x="2046922" y="3596521"/>
            <a:ext cx="3363397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Try to open and read the file</a:t>
            </a:r>
            <a:endParaRPr b="0" i="0" sz="1850" u="none" cap="none" strike="noStrike"/>
          </a:p>
        </p:txBody>
      </p:sp>
      <p:pic>
        <p:nvPicPr>
          <p:cNvPr descr="preencoded.png" id="435" name="Google Shape;4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560570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8"/>
          <p:cNvSpPr/>
          <p:nvPr/>
        </p:nvSpPr>
        <p:spPr>
          <a:xfrm>
            <a:off x="2046922" y="4753332"/>
            <a:ext cx="3087410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FileNotFoundError</a:t>
            </a:r>
            <a:endParaRPr b="0" i="0" sz="1850" u="none" cap="none" strike="noStrike"/>
          </a:p>
        </p:txBody>
      </p:sp>
      <p:pic>
        <p:nvPicPr>
          <p:cNvPr descr="preencoded.png" id="437" name="Google Shape;43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5717381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8"/>
          <p:cNvSpPr/>
          <p:nvPr/>
        </p:nvSpPr>
        <p:spPr>
          <a:xfrm>
            <a:off x="2046922" y="5910143"/>
            <a:ext cx="4194929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Print appropriate error if not found</a:t>
            </a:r>
            <a:endParaRPr b="0" i="0" sz="1850" u="none" cap="none" strike="noStrike"/>
          </a:p>
        </p:txBody>
      </p:sp>
      <p:pic>
        <p:nvPicPr>
          <p:cNvPr descr="preencoded.png" id="439" name="Google Shape;43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0" name="Google Shape;4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560572"/>
            <a:ext cx="963930" cy="115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6" name="Google Shape;4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9"/>
          <p:cNvSpPr/>
          <p:nvPr/>
        </p:nvSpPr>
        <p:spPr>
          <a:xfrm>
            <a:off x="6280190" y="229790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User Age Validator</a:t>
            </a:r>
            <a:endParaRPr b="0" i="0" sz="4450" u="none" cap="none" strike="noStrike"/>
          </a:p>
        </p:txBody>
      </p:sp>
      <p:sp>
        <p:nvSpPr>
          <p:cNvPr id="448" name="Google Shape;448;p19"/>
          <p:cNvSpPr/>
          <p:nvPr/>
        </p:nvSpPr>
        <p:spPr>
          <a:xfrm>
            <a:off x="6280190" y="3346847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Ask the user for their age.</a:t>
            </a:r>
            <a:endParaRPr b="0" i="0" sz="1750" u="none" cap="none" strike="noStrike"/>
          </a:p>
        </p:txBody>
      </p:sp>
      <p:sp>
        <p:nvSpPr>
          <p:cNvPr id="449" name="Google Shape;449;p19"/>
          <p:cNvSpPr/>
          <p:nvPr/>
        </p:nvSpPr>
        <p:spPr>
          <a:xfrm>
            <a:off x="6280190" y="3879652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age &lt; 0 or &gt; 120, raise ValueError.</a:t>
            </a:r>
            <a:endParaRPr b="0" i="0" sz="1750" u="none" cap="none" strike="noStrike"/>
          </a:p>
        </p:txBody>
      </p:sp>
      <p:sp>
        <p:nvSpPr>
          <p:cNvPr id="450" name="Google Shape;450;p19"/>
          <p:cNvSpPr/>
          <p:nvPr/>
        </p:nvSpPr>
        <p:spPr>
          <a:xfrm>
            <a:off x="6280190" y="4412456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Catch the error and print the message.</a:t>
            </a:r>
            <a:endParaRPr b="0" i="0" sz="1750" u="none" cap="none" strike="noStrike"/>
          </a:p>
        </p:txBody>
      </p:sp>
      <p:sp>
        <p:nvSpPr>
          <p:cNvPr id="451" name="Google Shape;451;p19"/>
          <p:cNvSpPr/>
          <p:nvPr/>
        </p:nvSpPr>
        <p:spPr>
          <a:xfrm>
            <a:off x="6280190" y="4945261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</a:rPr>
              <a:t>     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Demonstrates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custom condition checks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sp>
        <p:nvSpPr>
          <p:cNvPr id="452" name="Google Shape;452;p19"/>
          <p:cNvSpPr/>
          <p:nvPr/>
        </p:nvSpPr>
        <p:spPr>
          <a:xfrm>
            <a:off x="6280190" y="5478066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Practical validation practice.</a:t>
            </a:r>
            <a:endParaRPr b="0" i="0" sz="1750" u="none" cap="none" strike="noStrike"/>
          </a:p>
        </p:txBody>
      </p:sp>
      <p:pic>
        <p:nvPicPr>
          <p:cNvPr descr="preencoded.png" id="453" name="Google Shape;4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9" name="Google Shape;4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031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789503" y="620316"/>
            <a:ext cx="6699052" cy="669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Bank Withdrawal System</a:t>
            </a:r>
            <a:endParaRPr b="0" i="0" sz="4200" u="none" cap="none" strike="noStrike"/>
          </a:p>
        </p:txBody>
      </p:sp>
      <p:sp>
        <p:nvSpPr>
          <p:cNvPr id="461" name="Google Shape;461;p20"/>
          <p:cNvSpPr/>
          <p:nvPr/>
        </p:nvSpPr>
        <p:spPr>
          <a:xfrm>
            <a:off x="789503" y="1611392"/>
            <a:ext cx="7564993" cy="123455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>
            <a:off x="1003697" y="1825585"/>
            <a:ext cx="4524256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Define withdraw(amount, balance)</a:t>
            </a:r>
            <a:endParaRPr b="0" i="0" sz="2100" u="none" cap="none" strike="noStrike"/>
          </a:p>
        </p:txBody>
      </p:sp>
      <p:sp>
        <p:nvSpPr>
          <p:cNvPr id="463" name="Google Shape;463;p20"/>
          <p:cNvSpPr/>
          <p:nvPr/>
        </p:nvSpPr>
        <p:spPr>
          <a:xfrm>
            <a:off x="1003697" y="2288858"/>
            <a:ext cx="7136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a function that handles withdrawals</a:t>
            </a:r>
            <a:endParaRPr b="0" i="0" sz="1650" u="none" cap="none" strike="noStrike"/>
          </a:p>
        </p:txBody>
      </p:sp>
      <p:sp>
        <p:nvSpPr>
          <p:cNvPr id="464" name="Google Shape;464;p20"/>
          <p:cNvSpPr/>
          <p:nvPr/>
        </p:nvSpPr>
        <p:spPr>
          <a:xfrm>
            <a:off x="789503" y="3060144"/>
            <a:ext cx="7564993" cy="1652349"/>
          </a:xfrm>
          <a:prstGeom prst="roundRect">
            <a:avLst>
              <a:gd fmla="val 194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>
            <a:off x="1003697" y="3274338"/>
            <a:ext cx="2678668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Raise exception if:</a:t>
            </a:r>
            <a:endParaRPr b="0" i="0" sz="2100" u="none" cap="none" strike="noStrike"/>
          </a:p>
        </p:txBody>
      </p:sp>
      <p:sp>
        <p:nvSpPr>
          <p:cNvPr id="466" name="Google Shape;466;p20"/>
          <p:cNvSpPr/>
          <p:nvPr/>
        </p:nvSpPr>
        <p:spPr>
          <a:xfrm>
            <a:off x="1003697" y="3737610"/>
            <a:ext cx="7136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Amount &gt; balance</a:t>
            </a:r>
            <a:endParaRPr b="0" i="0" sz="1650" u="none" cap="none" strike="noStrike"/>
          </a:p>
        </p:txBody>
      </p:sp>
      <p:sp>
        <p:nvSpPr>
          <p:cNvPr id="467" name="Google Shape;467;p20"/>
          <p:cNvSpPr/>
          <p:nvPr/>
        </p:nvSpPr>
        <p:spPr>
          <a:xfrm>
            <a:off x="1003697" y="4155400"/>
            <a:ext cx="7136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Amount &lt; 0</a:t>
            </a:r>
            <a:endParaRPr b="0" i="0" sz="1650" u="none" cap="none" strike="noStrike"/>
          </a:p>
        </p:txBody>
      </p:sp>
      <p:sp>
        <p:nvSpPr>
          <p:cNvPr id="468" name="Google Shape;468;p20"/>
          <p:cNvSpPr/>
          <p:nvPr/>
        </p:nvSpPr>
        <p:spPr>
          <a:xfrm>
            <a:off x="789503" y="4926687"/>
            <a:ext cx="7564993" cy="123455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1003697" y="5140881"/>
            <a:ext cx="4583192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Else, deduct and print new balance</a:t>
            </a:r>
            <a:endParaRPr b="0" i="0" sz="2100" u="none" cap="none" strike="noStrike"/>
          </a:p>
        </p:txBody>
      </p:sp>
      <p:sp>
        <p:nvSpPr>
          <p:cNvPr id="470" name="Google Shape;470;p20"/>
          <p:cNvSpPr/>
          <p:nvPr/>
        </p:nvSpPr>
        <p:spPr>
          <a:xfrm>
            <a:off x="1003697" y="5604153"/>
            <a:ext cx="7136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Complete the transaction if all conditions are met</a:t>
            </a:r>
            <a:endParaRPr b="0" i="0" sz="1650" u="none" cap="none" strike="noStrike"/>
          </a:p>
        </p:txBody>
      </p:sp>
      <p:sp>
        <p:nvSpPr>
          <p:cNvPr id="471" name="Google Shape;471;p20"/>
          <p:cNvSpPr/>
          <p:nvPr/>
        </p:nvSpPr>
        <p:spPr>
          <a:xfrm>
            <a:off x="789503" y="6375440"/>
            <a:ext cx="7564993" cy="123455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1003697" y="6589633"/>
            <a:ext cx="3781782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Good use of raise, try-except</a:t>
            </a:r>
            <a:endParaRPr b="0" i="0" sz="2100" u="none" cap="none" strike="noStrike"/>
          </a:p>
        </p:txBody>
      </p:sp>
      <p:sp>
        <p:nvSpPr>
          <p:cNvPr id="473" name="Google Shape;473;p20"/>
          <p:cNvSpPr/>
          <p:nvPr/>
        </p:nvSpPr>
        <p:spPr>
          <a:xfrm>
            <a:off x="1003697" y="7052905"/>
            <a:ext cx="71366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Simulates real banking logic</a:t>
            </a:r>
            <a:endParaRPr b="0" i="0" sz="1650" u="none" cap="none" strike="noStrike"/>
          </a:p>
        </p:txBody>
      </p:sp>
      <p:pic>
        <p:nvPicPr>
          <p:cNvPr descr="preencoded.png" id="474" name="Google Shape;4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/>
          <p:nvPr/>
        </p:nvSpPr>
        <p:spPr>
          <a:xfrm>
            <a:off x="793790" y="1152168"/>
            <a:ext cx="76769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Ensure Cleanup with finally</a:t>
            </a:r>
            <a:endParaRPr b="0" i="0" sz="4450" u="none" cap="none" strike="noStrike"/>
          </a:p>
        </p:txBody>
      </p:sp>
      <p:sp>
        <p:nvSpPr>
          <p:cNvPr id="481" name="Google Shape;481;p21"/>
          <p:cNvSpPr/>
          <p:nvPr/>
        </p:nvSpPr>
        <p:spPr>
          <a:xfrm>
            <a:off x="793790" y="256972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61223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1"/>
          <p:cNvSpPr/>
          <p:nvPr/>
        </p:nvSpPr>
        <p:spPr>
          <a:xfrm>
            <a:off x="1530906" y="2569726"/>
            <a:ext cx="510039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Try to simulate database connection</a:t>
            </a:r>
            <a:endParaRPr b="0" i="0" sz="2200" u="none" cap="none" strike="noStrike"/>
          </a:p>
        </p:txBody>
      </p:sp>
      <p:sp>
        <p:nvSpPr>
          <p:cNvPr id="484" name="Google Shape;484;p21"/>
          <p:cNvSpPr/>
          <p:nvPr/>
        </p:nvSpPr>
        <p:spPr>
          <a:xfrm>
            <a:off x="793790" y="381714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5" name="Google Shape;4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385964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1"/>
          <p:cNvSpPr/>
          <p:nvPr/>
        </p:nvSpPr>
        <p:spPr>
          <a:xfrm>
            <a:off x="1530906" y="3817144"/>
            <a:ext cx="406896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Print error if connection fails</a:t>
            </a:r>
            <a:endParaRPr b="0" i="0" sz="2200" u="none" cap="none" strike="noStrike"/>
          </a:p>
        </p:txBody>
      </p:sp>
      <p:sp>
        <p:nvSpPr>
          <p:cNvPr id="487" name="Google Shape;487;p21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1"/>
          <p:cNvSpPr/>
          <p:nvPr/>
        </p:nvSpPr>
        <p:spPr>
          <a:xfrm>
            <a:off x="1530906" y="5064562"/>
            <a:ext cx="494228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finally to "close" the connection</a:t>
            </a:r>
            <a:endParaRPr b="0" i="0" sz="2200" u="none" cap="none" strike="noStrike"/>
          </a:p>
        </p:txBody>
      </p:sp>
      <p:sp>
        <p:nvSpPr>
          <p:cNvPr id="490" name="Google Shape;490;p21"/>
          <p:cNvSpPr/>
          <p:nvPr/>
        </p:nvSpPr>
        <p:spPr>
          <a:xfrm>
            <a:off x="793790" y="631197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860" y="635448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1"/>
          <p:cNvSpPr/>
          <p:nvPr/>
        </p:nvSpPr>
        <p:spPr>
          <a:xfrm>
            <a:off x="1530906" y="6311979"/>
            <a:ext cx="56258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Even if error happens, connection closes</a:t>
            </a:r>
            <a:endParaRPr b="0" i="0" sz="2200" u="none" cap="none" strike="noStrike"/>
          </a:p>
        </p:txBody>
      </p:sp>
      <p:pic>
        <p:nvPicPr>
          <p:cNvPr descr="preencoded.png" id="493" name="Google Shape;49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"/>
          <p:cNvSpPr/>
          <p:nvPr/>
        </p:nvSpPr>
        <p:spPr>
          <a:xfrm>
            <a:off x="793790" y="1690926"/>
            <a:ext cx="567713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Try These Exercises!</a:t>
            </a:r>
            <a:endParaRPr b="0" i="0" sz="4450" u="none" cap="none" strike="noStrike"/>
          </a:p>
        </p:txBody>
      </p:sp>
      <p:pic>
        <p:nvPicPr>
          <p:cNvPr descr="preencoded.png" id="500" name="Google Shape;5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678" y="285333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2"/>
          <p:cNvSpPr/>
          <p:nvPr/>
        </p:nvSpPr>
        <p:spPr>
          <a:xfrm>
            <a:off x="793790" y="3647122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Apply what you've learned today</a:t>
            </a:r>
            <a:endParaRPr b="0" i="0" sz="2200" u="none" cap="none" strike="noStrike"/>
          </a:p>
        </p:txBody>
      </p:sp>
      <p:pic>
        <p:nvPicPr>
          <p:cNvPr descr="preencoded.png" id="502" name="Google Shape;5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593" y="285333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2"/>
          <p:cNvSpPr/>
          <p:nvPr/>
        </p:nvSpPr>
        <p:spPr>
          <a:xfrm>
            <a:off x="5254704" y="3647122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catching real-world errors</a:t>
            </a:r>
            <a:endParaRPr b="0" i="0" sz="2200" u="none" cap="none" strike="noStrike"/>
          </a:p>
        </p:txBody>
      </p:sp>
      <p:pic>
        <p:nvPicPr>
          <p:cNvPr descr="preencoded.png" id="504" name="Google Shape;5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2627" y="285333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2"/>
          <p:cNvSpPr/>
          <p:nvPr/>
        </p:nvSpPr>
        <p:spPr>
          <a:xfrm>
            <a:off x="9715738" y="3647122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Write clean, readable, and safe code</a:t>
            </a:r>
            <a:endParaRPr b="0" i="0" sz="2200" u="none" cap="none" strike="noStrike"/>
          </a:p>
        </p:txBody>
      </p:sp>
      <p:pic>
        <p:nvPicPr>
          <p:cNvPr descr="preencoded.png" id="506" name="Google Shape;5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1076" y="50362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2"/>
          <p:cNvSpPr/>
          <p:nvPr/>
        </p:nvSpPr>
        <p:spPr>
          <a:xfrm>
            <a:off x="3024188" y="5830014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Improve user experience with </a:t>
            </a: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graceful error handling</a:t>
            </a:r>
            <a:endParaRPr b="0" i="0" sz="2200" u="none" cap="none" strike="noStrike"/>
          </a:p>
        </p:txBody>
      </p:sp>
      <p:pic>
        <p:nvPicPr>
          <p:cNvPr descr="preencoded.png" id="508" name="Google Shape;50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62110" y="50362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2"/>
          <p:cNvSpPr/>
          <p:nvPr/>
        </p:nvSpPr>
        <p:spPr>
          <a:xfrm>
            <a:off x="7485221" y="5830014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Become confident with exception handling!</a:t>
            </a:r>
            <a:endParaRPr b="0" i="0" sz="2200" u="none" cap="none" strike="noStrike"/>
          </a:p>
        </p:txBody>
      </p:sp>
      <p:pic>
        <p:nvPicPr>
          <p:cNvPr descr="preencoded.png" id="510" name="Google Shape;51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"/>
          <p:cNvSpPr/>
          <p:nvPr/>
        </p:nvSpPr>
        <p:spPr>
          <a:xfrm>
            <a:off x="793790" y="1330762"/>
            <a:ext cx="848939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Summary: Exception Handling</a:t>
            </a:r>
            <a:endParaRPr b="0" i="0" sz="4450" u="none" cap="none" strike="noStrike"/>
          </a:p>
        </p:txBody>
      </p:sp>
      <p:sp>
        <p:nvSpPr>
          <p:cNvPr id="517" name="Google Shape;517;p23"/>
          <p:cNvSpPr/>
          <p:nvPr/>
        </p:nvSpPr>
        <p:spPr>
          <a:xfrm>
            <a:off x="793790" y="249316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We've explored how to write robust Python code that handles errors gracefully.</a:t>
            </a:r>
            <a:endParaRPr b="0" i="0" sz="1750" u="none" cap="none" strike="noStrike"/>
          </a:p>
        </p:txBody>
      </p:sp>
      <p:sp>
        <p:nvSpPr>
          <p:cNvPr id="518" name="Google Shape;518;p23"/>
          <p:cNvSpPr/>
          <p:nvPr/>
        </p:nvSpPr>
        <p:spPr>
          <a:xfrm>
            <a:off x="793790" y="336637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9" name="Google Shape;5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40887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3"/>
          <p:cNvSpPr/>
          <p:nvPr/>
        </p:nvSpPr>
        <p:spPr>
          <a:xfrm>
            <a:off x="1530906" y="3366373"/>
            <a:ext cx="344840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Exception Fundamentals</a:t>
            </a:r>
            <a:endParaRPr b="0" i="0" sz="2200" u="none" cap="none" strike="noStrike"/>
          </a:p>
        </p:txBody>
      </p:sp>
      <p:sp>
        <p:nvSpPr>
          <p:cNvPr id="521" name="Google Shape;521;p23"/>
          <p:cNvSpPr/>
          <p:nvPr/>
        </p:nvSpPr>
        <p:spPr>
          <a:xfrm>
            <a:off x="1530906" y="3856792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Learned about syntax vs. runtime errors and how exceptions disrupt normal program flow</a:t>
            </a:r>
            <a:endParaRPr b="0" i="0" sz="1750" u="none" cap="none" strike="noStrike"/>
          </a:p>
        </p:txBody>
      </p:sp>
      <p:sp>
        <p:nvSpPr>
          <p:cNvPr id="522" name="Google Shape;522;p23"/>
          <p:cNvSpPr/>
          <p:nvPr/>
        </p:nvSpPr>
        <p:spPr>
          <a:xfrm>
            <a:off x="7428667" y="336637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3" name="Google Shape;5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3737" y="340887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3"/>
          <p:cNvSpPr/>
          <p:nvPr/>
        </p:nvSpPr>
        <p:spPr>
          <a:xfrm>
            <a:off x="8165783" y="3366373"/>
            <a:ext cx="31669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Try-Except Techniques</a:t>
            </a:r>
            <a:endParaRPr b="0" i="0" sz="2200" u="none" cap="none" strike="noStrike"/>
          </a:p>
        </p:txBody>
      </p:sp>
      <p:sp>
        <p:nvSpPr>
          <p:cNvPr id="525" name="Google Shape;525;p23"/>
          <p:cNvSpPr/>
          <p:nvPr/>
        </p:nvSpPr>
        <p:spPr>
          <a:xfrm>
            <a:off x="8165783" y="3856792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Explored handling specific, multiple, and generic exceptions to prevent program crashes</a:t>
            </a:r>
            <a:endParaRPr b="0" i="0" sz="1750" u="none" cap="none" strike="noStrike"/>
          </a:p>
        </p:txBody>
      </p:sp>
      <p:sp>
        <p:nvSpPr>
          <p:cNvPr id="526" name="Google Shape;526;p23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3"/>
          <p:cNvSpPr/>
          <p:nvPr/>
        </p:nvSpPr>
        <p:spPr>
          <a:xfrm>
            <a:off x="1530906" y="5064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Custom Exceptions</a:t>
            </a:r>
            <a:endParaRPr b="0" i="0" sz="2200" u="none" cap="none" strike="noStrike"/>
          </a:p>
        </p:txBody>
      </p:sp>
      <p:sp>
        <p:nvSpPr>
          <p:cNvPr id="529" name="Google Shape;529;p23"/>
          <p:cNvSpPr/>
          <p:nvPr/>
        </p:nvSpPr>
        <p:spPr>
          <a:xfrm>
            <a:off x="1530906" y="5554980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Created and used custom exception classes for application-specific error handling</a:t>
            </a:r>
            <a:endParaRPr b="0" i="0" sz="1750" u="none" cap="none" strike="noStrike"/>
          </a:p>
        </p:txBody>
      </p:sp>
      <p:sp>
        <p:nvSpPr>
          <p:cNvPr id="530" name="Google Shape;530;p23"/>
          <p:cNvSpPr/>
          <p:nvPr/>
        </p:nvSpPr>
        <p:spPr>
          <a:xfrm>
            <a:off x="7428667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1" name="Google Shape;53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3737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3"/>
          <p:cNvSpPr/>
          <p:nvPr/>
        </p:nvSpPr>
        <p:spPr>
          <a:xfrm>
            <a:off x="8165783" y="5064562"/>
            <a:ext cx="31661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Resource Management</a:t>
            </a:r>
            <a:endParaRPr b="0" i="0" sz="2200" u="none" cap="none" strike="noStrike"/>
          </a:p>
        </p:txBody>
      </p:sp>
      <p:sp>
        <p:nvSpPr>
          <p:cNvPr id="533" name="Google Shape;533;p23"/>
          <p:cNvSpPr/>
          <p:nvPr/>
        </p:nvSpPr>
        <p:spPr>
          <a:xfrm>
            <a:off x="8165783" y="5554980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Implemented finally blocks to ensure proper cleanup regardless of exceptions</a:t>
            </a:r>
            <a:endParaRPr b="0" i="0" sz="1750" u="none" cap="none" strike="noStrike"/>
          </a:p>
        </p:txBody>
      </p:sp>
      <p:sp>
        <p:nvSpPr>
          <p:cNvPr id="534" name="Google Shape;534;p23"/>
          <p:cNvSpPr/>
          <p:nvPr/>
        </p:nvSpPr>
        <p:spPr>
          <a:xfrm>
            <a:off x="793790" y="653593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By implementing these practices, you'll write more reliable, user-friendly, and maintainable Python applications.</a:t>
            </a:r>
            <a:endParaRPr b="0" i="0" sz="1750" u="none" cap="none" strike="noStrike"/>
          </a:p>
        </p:txBody>
      </p:sp>
      <p:pic>
        <p:nvPicPr>
          <p:cNvPr descr="preencoded.png" id="535" name="Google Shape;53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2025-04-15T12:16:55Z</dcterms:created>
  <dc:creator>PptxGenJS</dc:creator>
</cp:coreProperties>
</file>