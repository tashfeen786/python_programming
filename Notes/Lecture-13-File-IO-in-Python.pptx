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embeddedFontLst>
    <p:embeddedFont>
      <p:font typeface="Platypi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XEn19R4bBDarbZ9znkL6XCyep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regular.fntdata"/><Relationship Id="rId25" Type="http://schemas.openxmlformats.org/officeDocument/2006/relationships/slide" Target="slides/slide21.xml"/><Relationship Id="rId28" Type="http://schemas.openxmlformats.org/officeDocument/2006/relationships/font" Target="fonts/PlatypiMedium-italic.fntdata"/><Relationship Id="rId27" Type="http://schemas.openxmlformats.org/officeDocument/2006/relationships/font" Target="fonts/Platypi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typi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5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43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Relationship Id="rId6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"/>
          <p:cNvSpPr/>
          <p:nvPr/>
        </p:nvSpPr>
        <p:spPr>
          <a:xfrm>
            <a:off x="6255790" y="187394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13: </a:t>
            </a:r>
            <a:endParaRPr b="0" i="0" sz="4450" u="none" cap="none" strike="noStrike"/>
          </a:p>
        </p:txBody>
      </p:sp>
      <p:sp>
        <p:nvSpPr>
          <p:cNvPr id="81" name="Google Shape;81;p1"/>
          <p:cNvSpPr/>
          <p:nvPr/>
        </p:nvSpPr>
        <p:spPr>
          <a:xfrm>
            <a:off x="6255790" y="2922888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File I/O (Input/Output) in Python</a:t>
            </a:r>
            <a:endParaRPr b="0" i="0" sz="4450" u="none" cap="none" strike="noStrike"/>
          </a:p>
        </p:txBody>
      </p:sp>
      <p:pic>
        <p:nvPicPr>
          <p:cNvPr descr="preencoded.png" id="82" name="Google Shape;8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5790" y="4956915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793790" y="11521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Topics Covered</a:t>
            </a:r>
            <a:endParaRPr b="0" i="0" sz="445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793790" y="256972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61223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1530906" y="25697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File I/O?</a:t>
            </a:r>
            <a:endParaRPr b="0" i="0" sz="22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7428667" y="256972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3737" y="261223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8165783" y="2569726"/>
            <a:ext cx="44675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Do We Need File Handling?</a:t>
            </a:r>
            <a:endParaRPr b="0" i="0" sz="22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793790" y="381714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385964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1530906" y="3817144"/>
            <a:ext cx="50482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Opening and Closing Files in Python</a:t>
            </a:r>
            <a:endParaRPr b="0" i="0" sz="22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7428667" y="381714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3737" y="385964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8165783" y="3817144"/>
            <a:ext cx="47153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Reading from and Writing to Files</a:t>
            </a:r>
            <a:endParaRPr b="0" i="0" sz="22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860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1530906" y="5064562"/>
            <a:ext cx="49402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Working with JSON Files in Python</a:t>
            </a:r>
            <a:endParaRPr b="0" i="0" sz="2200" u="none" cap="none" strike="noStrike"/>
          </a:p>
        </p:txBody>
      </p:sp>
      <p:sp>
        <p:nvSpPr>
          <p:cNvPr id="105" name="Google Shape;105;p2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13737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8165783" y="5064562"/>
            <a:ext cx="344245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File Exceptions</a:t>
            </a:r>
            <a:endParaRPr b="0" i="0" sz="2200" u="none" cap="none" strike="noStrike"/>
          </a:p>
        </p:txBody>
      </p:sp>
      <p:sp>
        <p:nvSpPr>
          <p:cNvPr id="108" name="Google Shape;108;p2"/>
          <p:cNvSpPr/>
          <p:nvPr/>
        </p:nvSpPr>
        <p:spPr>
          <a:xfrm>
            <a:off x="793790" y="631197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8860" y="635448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30906" y="6311979"/>
            <a:ext cx="421909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 in File Handling</a:t>
            </a:r>
            <a:endParaRPr b="0" i="0" sz="2200" u="none" cap="none" strike="noStrike"/>
          </a:p>
        </p:txBody>
      </p:sp>
      <p:sp>
        <p:nvSpPr>
          <p:cNvPr id="111" name="Google Shape;111;p2"/>
          <p:cNvSpPr/>
          <p:nvPr/>
        </p:nvSpPr>
        <p:spPr>
          <a:xfrm>
            <a:off x="7428667" y="631197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13737" y="635448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8165783" y="63119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Exercises</a:t>
            </a:r>
            <a:endParaRPr b="0" i="0" sz="2200" u="none" cap="none" strike="noStrike"/>
          </a:p>
        </p:txBody>
      </p:sp>
      <p:pic>
        <p:nvPicPr>
          <p:cNvPr descr="preencoded.png" id="114" name="Google Shape;114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File I/O?</a:t>
            </a:r>
            <a:endParaRPr b="0" i="0" sz="4450" u="none" cap="none" strike="noStrike"/>
          </a:p>
        </p:txBody>
      </p:sp>
      <p:sp>
        <p:nvSpPr>
          <p:cNvPr id="122" name="Google Shape;122;p3"/>
          <p:cNvSpPr/>
          <p:nvPr/>
        </p:nvSpPr>
        <p:spPr>
          <a:xfrm>
            <a:off x="793790" y="1730454"/>
            <a:ext cx="36648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020604" y="19572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24" name="Google Shape;124;p3"/>
          <p:cNvSpPr/>
          <p:nvPr/>
        </p:nvSpPr>
        <p:spPr>
          <a:xfrm>
            <a:off x="1020604" y="2447687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I/O (Input/Output) allows a program to interact with files.</a:t>
            </a:r>
            <a:endParaRPr b="0" i="0" sz="1750" u="none" cap="none" strike="noStrike"/>
          </a:p>
        </p:txBody>
      </p:sp>
      <p:sp>
        <p:nvSpPr>
          <p:cNvPr id="125" name="Google Shape;125;p3"/>
          <p:cNvSpPr/>
          <p:nvPr/>
        </p:nvSpPr>
        <p:spPr>
          <a:xfrm>
            <a:off x="4685467" y="1730454"/>
            <a:ext cx="36648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912281" y="19572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</a:t>
            </a:r>
            <a:endParaRPr b="0" i="0" sz="2200" u="none" cap="none" strike="noStrike"/>
          </a:p>
        </p:txBody>
      </p:sp>
      <p:sp>
        <p:nvSpPr>
          <p:cNvPr id="127" name="Google Shape;127;p3"/>
          <p:cNvSpPr/>
          <p:nvPr/>
        </p:nvSpPr>
        <p:spPr>
          <a:xfrm>
            <a:off x="4912281" y="2447687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Reading from a file is an example of input.</a:t>
            </a:r>
            <a:endParaRPr b="0" i="0" sz="1750" u="none" cap="none" strike="noStrike"/>
          </a:p>
        </p:txBody>
      </p:sp>
      <p:sp>
        <p:nvSpPr>
          <p:cNvPr id="128" name="Google Shape;128;p3"/>
          <p:cNvSpPr/>
          <p:nvPr/>
        </p:nvSpPr>
        <p:spPr>
          <a:xfrm>
            <a:off x="793790" y="3627120"/>
            <a:ext cx="3664863" cy="2387084"/>
          </a:xfrm>
          <a:prstGeom prst="roundRect">
            <a:avLst>
              <a:gd fmla="val 142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020604" y="38539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Output</a:t>
            </a:r>
            <a:endParaRPr b="0" i="0" sz="2200" u="none" cap="none" strike="noStrike"/>
          </a:p>
        </p:txBody>
      </p:sp>
      <p:sp>
        <p:nvSpPr>
          <p:cNvPr id="130" name="Google Shape;130;p3"/>
          <p:cNvSpPr/>
          <p:nvPr/>
        </p:nvSpPr>
        <p:spPr>
          <a:xfrm>
            <a:off x="1020604" y="4344353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Writing to a file is an example of output.</a:t>
            </a:r>
            <a:endParaRPr b="0" i="0" sz="1750" u="none" cap="none" strike="noStrike"/>
          </a:p>
        </p:txBody>
      </p:sp>
      <p:sp>
        <p:nvSpPr>
          <p:cNvPr id="131" name="Google Shape;131;p3"/>
          <p:cNvSpPr/>
          <p:nvPr/>
        </p:nvSpPr>
        <p:spPr>
          <a:xfrm>
            <a:off x="4685467" y="3627120"/>
            <a:ext cx="3664863" cy="2387084"/>
          </a:xfrm>
          <a:prstGeom prst="roundRect">
            <a:avLst>
              <a:gd fmla="val 142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912281" y="3853934"/>
            <a:ext cx="32112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Implementation</a:t>
            </a:r>
            <a:endParaRPr b="0" i="0" sz="2200" u="none" cap="none" strike="noStrike"/>
          </a:p>
        </p:txBody>
      </p:sp>
      <p:sp>
        <p:nvSpPr>
          <p:cNvPr id="133" name="Google Shape;133;p3"/>
          <p:cNvSpPr/>
          <p:nvPr/>
        </p:nvSpPr>
        <p:spPr>
          <a:xfrm>
            <a:off x="4912281" y="4698683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provides built-in functions like open() for file operations.</a:t>
            </a:r>
            <a:endParaRPr b="0" i="0" sz="1750" u="none" cap="none" strike="noStrike"/>
          </a:p>
        </p:txBody>
      </p:sp>
      <p:sp>
        <p:nvSpPr>
          <p:cNvPr id="134" name="Google Shape;134;p3"/>
          <p:cNvSpPr/>
          <p:nvPr/>
        </p:nvSpPr>
        <p:spPr>
          <a:xfrm>
            <a:off x="793790" y="6241018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020604" y="64678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Examples</a:t>
            </a:r>
            <a:endParaRPr b="0" i="0" sz="2200" u="none" cap="none" strike="noStrike"/>
          </a:p>
        </p:txBody>
      </p:sp>
      <p:sp>
        <p:nvSpPr>
          <p:cNvPr id="136" name="Google Shape;136;p3"/>
          <p:cNvSpPr/>
          <p:nvPr/>
        </p:nvSpPr>
        <p:spPr>
          <a:xfrm>
            <a:off x="1020604" y="6958251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Examples: reading text, writing data, handling JSON/CSV files.</a:t>
            </a:r>
            <a:endParaRPr b="0" i="0" sz="1750" u="none" cap="none" strike="noStrike"/>
          </a:p>
        </p:txBody>
      </p:sp>
      <p:pic>
        <p:nvPicPr>
          <p:cNvPr descr="preencoded.png" id="137" name="Google Shape;13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>
            <a:off x="793790" y="1183362"/>
            <a:ext cx="893897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Do We Need File Handling?</a:t>
            </a:r>
            <a:endParaRPr b="0" i="0" sz="4450" u="none" cap="none" strike="noStrike"/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678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1436489" y="31395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Persistent Storage</a:t>
            </a:r>
            <a:endParaRPr b="0" i="0" sz="2200" u="none" cap="none" strike="noStrike"/>
          </a:p>
        </p:txBody>
      </p:sp>
      <p:sp>
        <p:nvSpPr>
          <p:cNvPr id="146" name="Google Shape;146;p4"/>
          <p:cNvSpPr/>
          <p:nvPr/>
        </p:nvSpPr>
        <p:spPr>
          <a:xfrm>
            <a:off x="793790" y="3629978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 store and retrieve persistent data.</a:t>
            </a:r>
            <a:endParaRPr b="0" i="0" sz="1750" u="none" cap="none" strike="noStrike"/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1593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5897523" y="31395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Sharing</a:t>
            </a:r>
            <a:endParaRPr b="0" i="0" sz="2200" u="none" cap="none" strike="noStrike"/>
          </a:p>
        </p:txBody>
      </p:sp>
      <p:sp>
        <p:nvSpPr>
          <p:cNvPr id="149" name="Google Shape;149;p4"/>
          <p:cNvSpPr/>
          <p:nvPr/>
        </p:nvSpPr>
        <p:spPr>
          <a:xfrm>
            <a:off x="5254704" y="3629978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Enables sharing data between different programs.</a:t>
            </a:r>
            <a:endParaRPr b="0" i="0" sz="1750" u="none" cap="none" strike="noStrike"/>
          </a:p>
        </p:txBody>
      </p:sp>
      <p:pic>
        <p:nvPicPr>
          <p:cNvPr descr="preencoded.png" id="150" name="Google Shape;1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2627" y="234576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10358438" y="31395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Large Datasets</a:t>
            </a:r>
            <a:endParaRPr b="0" i="0" sz="2200" u="none" cap="none" strike="noStrike"/>
          </a:p>
        </p:txBody>
      </p:sp>
      <p:sp>
        <p:nvSpPr>
          <p:cNvPr id="152" name="Google Shape;152;p4"/>
          <p:cNvSpPr/>
          <p:nvPr/>
        </p:nvSpPr>
        <p:spPr>
          <a:xfrm>
            <a:off x="9715738" y="362997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Useful when working with large datasets.</a:t>
            </a:r>
            <a:endParaRPr b="0" i="0" sz="1750" u="none" cap="none" strike="noStrike"/>
          </a:p>
        </p:txBody>
      </p:sp>
      <p:pic>
        <p:nvPicPr>
          <p:cNvPr descr="preencoded.png" id="153" name="Google Shape;15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1076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3667006" y="58300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User Preferences</a:t>
            </a:r>
            <a:endParaRPr b="0" i="0" sz="2200" u="none" cap="none" strike="noStrike"/>
          </a:p>
        </p:txBody>
      </p:sp>
      <p:sp>
        <p:nvSpPr>
          <p:cNvPr id="155" name="Google Shape;155;p4"/>
          <p:cNvSpPr/>
          <p:nvPr/>
        </p:nvSpPr>
        <p:spPr>
          <a:xfrm>
            <a:off x="3024188" y="6320433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Saves user preferences in applications.</a:t>
            </a:r>
            <a:endParaRPr b="0" i="0" sz="1750" u="none" cap="none" strike="noStrike"/>
          </a:p>
        </p:txBody>
      </p:sp>
      <p:pic>
        <p:nvPicPr>
          <p:cNvPr descr="preencoded.png" id="156" name="Google Shape;15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62110" y="503622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8128040" y="58300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Logging</a:t>
            </a:r>
            <a:endParaRPr b="0" i="0" sz="2200" u="none" cap="none" strike="noStrike"/>
          </a:p>
        </p:txBody>
      </p:sp>
      <p:sp>
        <p:nvSpPr>
          <p:cNvPr id="158" name="Google Shape;158;p4"/>
          <p:cNvSpPr/>
          <p:nvPr/>
        </p:nvSpPr>
        <p:spPr>
          <a:xfrm>
            <a:off x="7485221" y="6320433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Stores logs for future analysis or debugging.</a:t>
            </a:r>
            <a:endParaRPr b="0" i="0" sz="1750" u="none" cap="none" strike="noStrike"/>
          </a:p>
        </p:txBody>
      </p:sp>
      <p:pic>
        <p:nvPicPr>
          <p:cNvPr descr="preencoded.png" id="159" name="Google Shape;15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6280190" y="111668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Opening and Closing Files in Python</a:t>
            </a:r>
            <a:endParaRPr b="0" i="0" sz="4450" u="none" cap="none" strike="noStrike"/>
          </a:p>
        </p:txBody>
      </p:sp>
      <p:sp>
        <p:nvSpPr>
          <p:cNvPr id="167" name="Google Shape;167;p5"/>
          <p:cNvSpPr/>
          <p:nvPr/>
        </p:nvSpPr>
        <p:spPr>
          <a:xfrm>
            <a:off x="6280190" y="2874407"/>
            <a:ext cx="170021" cy="1352312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790373" y="28744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the File</a:t>
            </a:r>
            <a:endParaRPr b="0" i="0" sz="2200" u="none" cap="none" strike="noStrike"/>
          </a:p>
        </p:txBody>
      </p:sp>
      <p:sp>
        <p:nvSpPr>
          <p:cNvPr id="169" name="Google Shape;169;p5"/>
          <p:cNvSpPr/>
          <p:nvPr/>
        </p:nvSpPr>
        <p:spPr>
          <a:xfrm>
            <a:off x="6790373" y="3364825"/>
            <a:ext cx="70462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the open() function to open a file.</a:t>
            </a:r>
            <a:endParaRPr b="0" i="0" sz="1750" u="none" cap="none" strike="noStrike"/>
          </a:p>
        </p:txBody>
      </p:sp>
      <p:sp>
        <p:nvSpPr>
          <p:cNvPr id="170" name="Google Shape;170;p5"/>
          <p:cNvSpPr/>
          <p:nvPr/>
        </p:nvSpPr>
        <p:spPr>
          <a:xfrm>
            <a:off x="6790373" y="3863816"/>
            <a:ext cx="70462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Syntax: file = open('filename.txt', 'mode')</a:t>
            </a:r>
            <a:endParaRPr b="0" i="0" sz="1750" u="none" cap="none" strike="noStrike"/>
          </a:p>
        </p:txBody>
      </p:sp>
      <p:sp>
        <p:nvSpPr>
          <p:cNvPr id="171" name="Google Shape;171;p5"/>
          <p:cNvSpPr/>
          <p:nvPr/>
        </p:nvSpPr>
        <p:spPr>
          <a:xfrm>
            <a:off x="6620351" y="4453533"/>
            <a:ext cx="170021" cy="853321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7130534" y="44535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Perform Operations</a:t>
            </a:r>
            <a:endParaRPr b="0" i="0" sz="2200" u="none" cap="none" strike="noStrike"/>
          </a:p>
        </p:txBody>
      </p:sp>
      <p:sp>
        <p:nvSpPr>
          <p:cNvPr id="173" name="Google Shape;173;p5"/>
          <p:cNvSpPr/>
          <p:nvPr/>
        </p:nvSpPr>
        <p:spPr>
          <a:xfrm>
            <a:off x="7130534" y="4943951"/>
            <a:ext cx="67060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Perform operations on the file (read/write).</a:t>
            </a:r>
            <a:endParaRPr b="0" i="0" sz="1750" u="none" cap="none" strike="noStrike"/>
          </a:p>
        </p:txBody>
      </p:sp>
      <p:sp>
        <p:nvSpPr>
          <p:cNvPr id="174" name="Google Shape;174;p5"/>
          <p:cNvSpPr/>
          <p:nvPr/>
        </p:nvSpPr>
        <p:spPr>
          <a:xfrm>
            <a:off x="6960632" y="5533668"/>
            <a:ext cx="170021" cy="1352312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470815" y="55336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Close the File</a:t>
            </a:r>
            <a:endParaRPr b="0" i="0" sz="2200" u="none" cap="none" strike="noStrike"/>
          </a:p>
        </p:txBody>
      </p:sp>
      <p:sp>
        <p:nvSpPr>
          <p:cNvPr id="176" name="Google Shape;176;p5"/>
          <p:cNvSpPr/>
          <p:nvPr/>
        </p:nvSpPr>
        <p:spPr>
          <a:xfrm>
            <a:off x="7470815" y="6024086"/>
            <a:ext cx="63657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Close the file using file.close().</a:t>
            </a:r>
            <a:endParaRPr b="0" i="0" sz="1750" u="none" cap="none" strike="noStrike"/>
          </a:p>
        </p:txBody>
      </p:sp>
      <p:sp>
        <p:nvSpPr>
          <p:cNvPr id="177" name="Google Shape;177;p5"/>
          <p:cNvSpPr/>
          <p:nvPr/>
        </p:nvSpPr>
        <p:spPr>
          <a:xfrm>
            <a:off x="7470815" y="6523077"/>
            <a:ext cx="63657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Always close files to free system resources.</a:t>
            </a:r>
            <a:endParaRPr b="0" i="0" sz="1750" u="none" cap="none" strike="noStrike"/>
          </a:p>
        </p:txBody>
      </p:sp>
      <p:pic>
        <p:nvPicPr>
          <p:cNvPr descr="preencoded.png" id="178" name="Google Shape;1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793790" y="2301954"/>
            <a:ext cx="966811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– Opening &amp; Closing Files</a:t>
            </a:r>
            <a:endParaRPr b="0" i="0" sz="4450" u="none" cap="none" strike="noStrike"/>
          </a:p>
        </p:txBody>
      </p:sp>
      <p:sp>
        <p:nvSpPr>
          <p:cNvPr id="185" name="Google Shape;185;p6"/>
          <p:cNvSpPr/>
          <p:nvPr/>
        </p:nvSpPr>
        <p:spPr>
          <a:xfrm>
            <a:off x="793790" y="3606046"/>
            <a:ext cx="6244709" cy="1428750"/>
          </a:xfrm>
          <a:prstGeom prst="roundRect">
            <a:avLst>
              <a:gd fmla="val 23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782479" y="3606046"/>
            <a:ext cx="6267331" cy="1428750"/>
          </a:xfrm>
          <a:prstGeom prst="roundRect">
            <a:avLst>
              <a:gd fmla="val 23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009293" y="3776067"/>
            <a:ext cx="581370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file = open('example.txt', 'w')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file.write('Hello, this is a sample file!')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file.close()</a:t>
            </a:r>
            <a:endParaRPr b="0" i="0" sz="1750" u="none" cap="none" strike="noStrike"/>
          </a:p>
        </p:txBody>
      </p:sp>
      <p:sp>
        <p:nvSpPr>
          <p:cNvPr id="188" name="Google Shape;188;p6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189" name="Google Shape;189;p6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code creates a new file named example.txt.</a:t>
            </a:r>
            <a:endParaRPr b="0" i="0" sz="1750" u="none" cap="none" strike="noStrike"/>
          </a:p>
        </p:txBody>
      </p:sp>
      <p:sp>
        <p:nvSpPr>
          <p:cNvPr id="190" name="Google Shape;190;p6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Writes a line of text to the file.</a:t>
            </a:r>
            <a:endParaRPr b="0" i="0" sz="1750" u="none" cap="none" strike="noStrike"/>
          </a:p>
        </p:txBody>
      </p:sp>
      <p:sp>
        <p:nvSpPr>
          <p:cNvPr id="191" name="Google Shape;191;p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is opened in 'w' (write) mode.</a:t>
            </a:r>
            <a:endParaRPr b="0" i="0" sz="1750" u="none" cap="none" strike="noStrike"/>
          </a:p>
        </p:txBody>
      </p:sp>
      <p:sp>
        <p:nvSpPr>
          <p:cNvPr id="192" name="Google Shape;192;p6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Finally, the file is closed using file.close().</a:t>
            </a:r>
            <a:endParaRPr b="0" i="0" sz="1750" u="none" cap="none" strike="noStrike"/>
          </a:p>
        </p:txBody>
      </p:sp>
      <p:pic>
        <p:nvPicPr>
          <p:cNvPr descr="preencoded.png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93790" y="2311718"/>
            <a:ext cx="79047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Reading and Writing to Files</a:t>
            </a:r>
            <a:endParaRPr b="0" i="0" sz="445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793790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77178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1530906" y="37292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'r' → Read mode</a:t>
            </a:r>
            <a:endParaRPr b="0" i="0" sz="2200" u="none" cap="none" strike="noStrike"/>
          </a:p>
        </p:txBody>
      </p:sp>
      <p:sp>
        <p:nvSpPr>
          <p:cNvPr id="203" name="Google Shape;203;p7"/>
          <p:cNvSpPr/>
          <p:nvPr/>
        </p:nvSpPr>
        <p:spPr>
          <a:xfrm>
            <a:off x="1530906" y="4219694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must exist.</a:t>
            </a:r>
            <a:endParaRPr b="0" i="0" sz="1750" u="none" cap="none" strike="noStrike"/>
          </a:p>
        </p:txBody>
      </p:sp>
      <p:sp>
        <p:nvSpPr>
          <p:cNvPr id="204" name="Google Shape;204;p7"/>
          <p:cNvSpPr/>
          <p:nvPr/>
        </p:nvSpPr>
        <p:spPr>
          <a:xfrm>
            <a:off x="7428667" y="372927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3737" y="377178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8165783" y="37292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'w' → Write mode</a:t>
            </a:r>
            <a:endParaRPr b="0" i="0" sz="2200" u="none" cap="none" strike="noStrike"/>
          </a:p>
        </p:txBody>
      </p:sp>
      <p:sp>
        <p:nvSpPr>
          <p:cNvPr id="207" name="Google Shape;207;p7"/>
          <p:cNvSpPr/>
          <p:nvPr/>
        </p:nvSpPr>
        <p:spPr>
          <a:xfrm>
            <a:off x="8165783" y="4219694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Overwrites or creates new file.</a:t>
            </a:r>
            <a:endParaRPr b="0" i="0" sz="175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1530906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'a' → Append mode</a:t>
            </a:r>
            <a:endParaRPr b="0" i="0" sz="2200" u="none" cap="none" strike="noStrike"/>
          </a:p>
        </p:txBody>
      </p:sp>
      <p:sp>
        <p:nvSpPr>
          <p:cNvPr id="211" name="Google Shape;211;p7"/>
          <p:cNvSpPr/>
          <p:nvPr/>
        </p:nvSpPr>
        <p:spPr>
          <a:xfrm>
            <a:off x="1530906" y="555498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Adds data without deleting content.</a:t>
            </a:r>
            <a:endParaRPr b="0" i="0" sz="1750" u="none" cap="none" strike="noStrike"/>
          </a:p>
        </p:txBody>
      </p:sp>
      <p:sp>
        <p:nvSpPr>
          <p:cNvPr id="212" name="Google Shape;212;p7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3737" y="510706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8165783" y="5064562"/>
            <a:ext cx="36421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'r+' → Read and write mode</a:t>
            </a:r>
            <a:endParaRPr b="0" i="0" sz="2200" u="none" cap="none" strike="noStrike"/>
          </a:p>
        </p:txBody>
      </p:sp>
      <p:sp>
        <p:nvSpPr>
          <p:cNvPr id="215" name="Google Shape;215;p7"/>
          <p:cNvSpPr/>
          <p:nvPr/>
        </p:nvSpPr>
        <p:spPr>
          <a:xfrm>
            <a:off x="8165783" y="555498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appropriate mode based on operation.</a:t>
            </a:r>
            <a:endParaRPr b="0" i="0" sz="1750" u="none" cap="none" strike="noStrike"/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793790" y="207645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 Mode 'r'</a:t>
            </a:r>
            <a:endParaRPr b="0" i="0" sz="4450" u="none" cap="none" strike="noStrike"/>
          </a:p>
        </p:txBody>
      </p:sp>
      <p:sp>
        <p:nvSpPr>
          <p:cNvPr id="223" name="Google Shape;223;p8"/>
          <p:cNvSpPr/>
          <p:nvPr/>
        </p:nvSpPr>
        <p:spPr>
          <a:xfrm>
            <a:off x="793790" y="3380542"/>
            <a:ext cx="6244709" cy="2517458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82475" y="3380551"/>
            <a:ext cx="6267300" cy="2789700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009293" y="3550563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with open('example.txt', 'r')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content = file.read()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print('File Content:', content)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FileNotFoundError: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print('Error: The file does not exist!')</a:t>
            </a:r>
            <a:endParaRPr b="0" i="0" sz="1750" u="none" cap="none" strike="noStrike"/>
          </a:p>
        </p:txBody>
      </p:sp>
      <p:sp>
        <p:nvSpPr>
          <p:cNvPr id="226" name="Google Shape;226;p8"/>
          <p:cNvSpPr/>
          <p:nvPr/>
        </p:nvSpPr>
        <p:spPr>
          <a:xfrm>
            <a:off x="7599521" y="33522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227" name="Google Shape;227;p8"/>
          <p:cNvSpPr/>
          <p:nvPr/>
        </p:nvSpPr>
        <p:spPr>
          <a:xfrm>
            <a:off x="7599521" y="39333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Opens file for reading.</a:t>
            </a:r>
            <a:endParaRPr b="0" i="0" sz="1750" u="none" cap="none" strike="noStrike"/>
          </a:p>
        </p:txBody>
      </p:sp>
      <p:sp>
        <p:nvSpPr>
          <p:cNvPr id="228" name="Google Shape;228;p8"/>
          <p:cNvSpPr/>
          <p:nvPr/>
        </p:nvSpPr>
        <p:spPr>
          <a:xfrm>
            <a:off x="7599521" y="4375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Uses with open() for automatic closing.</a:t>
            </a:r>
            <a:endParaRPr b="0" i="0" sz="1750" u="none" cap="none" strike="noStrike"/>
          </a:p>
        </p:txBody>
      </p:sp>
      <p:sp>
        <p:nvSpPr>
          <p:cNvPr id="229" name="Google Shape;229;p8"/>
          <p:cNvSpPr/>
          <p:nvPr/>
        </p:nvSpPr>
        <p:spPr>
          <a:xfrm>
            <a:off x="7599521" y="481774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Catches FileNotFoundError if file doesn't exist.</a:t>
            </a:r>
            <a:endParaRPr b="0" i="0" sz="1750" u="none" cap="none" strike="noStrike"/>
          </a:p>
        </p:txBody>
      </p:sp>
      <p:sp>
        <p:nvSpPr>
          <p:cNvPr id="230" name="Google Shape;230;p8"/>
          <p:cNvSpPr/>
          <p:nvPr/>
        </p:nvSpPr>
        <p:spPr>
          <a:xfrm>
            <a:off x="7599521" y="525994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Prints file content if successful.</a:t>
            </a:r>
            <a:endParaRPr b="0" i="0" sz="1750" u="none" cap="none" strike="noStrike"/>
          </a:p>
        </p:txBody>
      </p:sp>
      <p:pic>
        <p:nvPicPr>
          <p:cNvPr descr="preencoded.png"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793790" y="208085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Write Mode 'w'</a:t>
            </a:r>
            <a:endParaRPr b="0" i="0" sz="4450" u="none" cap="none" strike="noStrike"/>
          </a:p>
        </p:txBody>
      </p:sp>
      <p:sp>
        <p:nvSpPr>
          <p:cNvPr id="238" name="Google Shape;238;p9"/>
          <p:cNvSpPr/>
          <p:nvPr/>
        </p:nvSpPr>
        <p:spPr>
          <a:xfrm>
            <a:off x="793790" y="3384947"/>
            <a:ext cx="6244709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82479" y="3384947"/>
            <a:ext cx="6267331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009293" y="3554968"/>
            <a:ext cx="581370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with open('example.txt', 'w')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file.write('This is a new file created using write mode.')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print('File written successfully.')</a:t>
            </a:r>
            <a:endParaRPr b="0" i="0" sz="1750" u="none" cap="none" strike="noStrike"/>
          </a:p>
        </p:txBody>
      </p:sp>
      <p:sp>
        <p:nvSpPr>
          <p:cNvPr id="241" name="Google Shape;241;p9"/>
          <p:cNvSpPr/>
          <p:nvPr/>
        </p:nvSpPr>
        <p:spPr>
          <a:xfrm>
            <a:off x="7599521" y="3356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242" name="Google Shape;242;p9"/>
          <p:cNvSpPr/>
          <p:nvPr/>
        </p:nvSpPr>
        <p:spPr>
          <a:xfrm>
            <a:off x="7599521" y="393775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or overwrites the file.</a:t>
            </a:r>
            <a:endParaRPr b="0" i="0" sz="1750" u="none" cap="none" strike="noStrike"/>
          </a:p>
        </p:txBody>
      </p:sp>
      <p:sp>
        <p:nvSpPr>
          <p:cNvPr id="243" name="Google Shape;243;p9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Writes new content to the file.</a:t>
            </a:r>
            <a:endParaRPr b="0" i="0" sz="1750" u="none" cap="none" strike="noStrike"/>
          </a:p>
        </p:txBody>
      </p:sp>
      <p:sp>
        <p:nvSpPr>
          <p:cNvPr id="244" name="Google Shape;244;p9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Old content is lost.</a:t>
            </a:r>
            <a:endParaRPr b="0" i="0" sz="1750" u="none" cap="none" strike="noStrike"/>
          </a:p>
        </p:txBody>
      </p:sp>
      <p:sp>
        <p:nvSpPr>
          <p:cNvPr id="245" name="Google Shape;245;p9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is automatically closed.</a:t>
            </a:r>
            <a:endParaRPr b="0" i="0" sz="1750" u="none" cap="none" strike="noStrike"/>
          </a:p>
        </p:txBody>
      </p:sp>
      <p:sp>
        <p:nvSpPr>
          <p:cNvPr id="246" name="Google Shape;246;p9"/>
          <p:cNvSpPr/>
          <p:nvPr/>
        </p:nvSpPr>
        <p:spPr>
          <a:xfrm>
            <a:off x="7599521" y="5706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Confirm with print statement.</a:t>
            </a:r>
            <a:endParaRPr b="0" i="0" sz="1750" u="none" cap="none" strike="noStrike"/>
          </a:p>
        </p:txBody>
      </p:sp>
      <p:pic>
        <p:nvPicPr>
          <p:cNvPr descr="preencoded.png"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793790" y="208085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Append Mode 'a'</a:t>
            </a:r>
            <a:endParaRPr b="0" i="0" sz="4450" u="none" cap="none" strike="noStrike"/>
          </a:p>
        </p:txBody>
      </p:sp>
      <p:sp>
        <p:nvSpPr>
          <p:cNvPr id="254" name="Google Shape;254;p10"/>
          <p:cNvSpPr/>
          <p:nvPr/>
        </p:nvSpPr>
        <p:spPr>
          <a:xfrm>
            <a:off x="793790" y="3384947"/>
            <a:ext cx="6244709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82479" y="3384947"/>
            <a:ext cx="6267331" cy="1791652"/>
          </a:xfrm>
          <a:prstGeom prst="roundRect">
            <a:avLst>
              <a:gd fmla="val 189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009293" y="3554968"/>
            <a:ext cx="581370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with open('example.txt', 'a')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file.write('\nThis is a new line added using append mode.')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print('New content appended successfully.')</a:t>
            </a:r>
            <a:endParaRPr b="0" i="0" sz="1750" u="none" cap="none" strike="noStrike"/>
          </a:p>
        </p:txBody>
      </p:sp>
      <p:sp>
        <p:nvSpPr>
          <p:cNvPr id="257" name="Google Shape;257;p10"/>
          <p:cNvSpPr/>
          <p:nvPr/>
        </p:nvSpPr>
        <p:spPr>
          <a:xfrm>
            <a:off x="7599521" y="33566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258" name="Google Shape;258;p10"/>
          <p:cNvSpPr/>
          <p:nvPr/>
        </p:nvSpPr>
        <p:spPr>
          <a:xfrm>
            <a:off x="7599521" y="393775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Adds content to the end of the file.</a:t>
            </a:r>
            <a:endParaRPr b="0" i="0" sz="1750" u="none" cap="none" strike="noStrike"/>
          </a:p>
        </p:txBody>
      </p:sp>
      <p:sp>
        <p:nvSpPr>
          <p:cNvPr id="259" name="Google Shape;259;p10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Original content remains unchanged.</a:t>
            </a:r>
            <a:endParaRPr b="0" i="0" sz="1750" u="none" cap="none" strike="noStrike"/>
          </a:p>
        </p:txBody>
      </p:sp>
      <p:sp>
        <p:nvSpPr>
          <p:cNvPr id="260" name="Google Shape;260;p10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Useful for logs or continuous data.</a:t>
            </a:r>
            <a:endParaRPr b="0" i="0" sz="1750" u="none" cap="none" strike="noStrike"/>
          </a:p>
        </p:txBody>
      </p:sp>
      <p:sp>
        <p:nvSpPr>
          <p:cNvPr id="261" name="Google Shape;261;p10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Adds a new line with \n.</a:t>
            </a:r>
            <a:endParaRPr b="0" i="0" sz="1750" u="none" cap="none" strike="noStrike"/>
          </a:p>
        </p:txBody>
      </p:sp>
      <p:sp>
        <p:nvSpPr>
          <p:cNvPr id="262" name="Google Shape;262;p10"/>
          <p:cNvSpPr/>
          <p:nvPr/>
        </p:nvSpPr>
        <p:spPr>
          <a:xfrm>
            <a:off x="7599521" y="5706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Automatically closes file.</a:t>
            </a:r>
            <a:endParaRPr b="0" i="0" sz="1750" u="none" cap="none" strike="noStrike"/>
          </a:p>
        </p:txBody>
      </p:sp>
      <p:pic>
        <p:nvPicPr>
          <p:cNvPr descr="preencoded.png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793790" y="2076450"/>
            <a:ext cx="623566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 &amp; Write Mode 'r+'</a:t>
            </a:r>
            <a:endParaRPr b="0" i="0" sz="4450" u="none" cap="none" strike="noStrike"/>
          </a:p>
        </p:txBody>
      </p:sp>
      <p:sp>
        <p:nvSpPr>
          <p:cNvPr id="270" name="Google Shape;270;p11"/>
          <p:cNvSpPr/>
          <p:nvPr/>
        </p:nvSpPr>
        <p:spPr>
          <a:xfrm>
            <a:off x="793790" y="3380542"/>
            <a:ext cx="6244709" cy="2517458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82475" y="3380550"/>
            <a:ext cx="6267300" cy="2684400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1009293" y="3550563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with open('example.txt', 'r+')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content = file.read()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print('Current Content:', content)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file.write('\nAdding new content in read+write mode.')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print('Content updated successfully.')</a:t>
            </a:r>
            <a:endParaRPr b="0" i="0" sz="1750" u="none" cap="none" strike="noStrike"/>
          </a:p>
        </p:txBody>
      </p:sp>
      <p:sp>
        <p:nvSpPr>
          <p:cNvPr id="273" name="Google Shape;273;p11"/>
          <p:cNvSpPr/>
          <p:nvPr/>
        </p:nvSpPr>
        <p:spPr>
          <a:xfrm>
            <a:off x="7599521" y="33522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274" name="Google Shape;274;p11"/>
          <p:cNvSpPr/>
          <p:nvPr/>
        </p:nvSpPr>
        <p:spPr>
          <a:xfrm>
            <a:off x="7599521" y="39333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must exist.</a:t>
            </a:r>
            <a:endParaRPr b="0" i="0" sz="1750" u="none" cap="none" strike="noStrike"/>
          </a:p>
        </p:txBody>
      </p:sp>
      <p:sp>
        <p:nvSpPr>
          <p:cNvPr id="275" name="Google Shape;275;p11"/>
          <p:cNvSpPr/>
          <p:nvPr/>
        </p:nvSpPr>
        <p:spPr>
          <a:xfrm>
            <a:off x="7599521" y="4375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Reads and writes to the same file.</a:t>
            </a:r>
            <a:endParaRPr b="0" i="0" sz="1750" u="none" cap="none" strike="noStrike"/>
          </a:p>
        </p:txBody>
      </p:sp>
      <p:sp>
        <p:nvSpPr>
          <p:cNvPr id="276" name="Google Shape;276;p11"/>
          <p:cNvSpPr/>
          <p:nvPr/>
        </p:nvSpPr>
        <p:spPr>
          <a:xfrm>
            <a:off x="7599521" y="481774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Prints current content.</a:t>
            </a:r>
            <a:endParaRPr b="0" i="0" sz="1750" u="none" cap="none" strike="noStrike"/>
          </a:p>
        </p:txBody>
      </p:sp>
      <p:sp>
        <p:nvSpPr>
          <p:cNvPr id="277" name="Google Shape;277;p11"/>
          <p:cNvSpPr/>
          <p:nvPr/>
        </p:nvSpPr>
        <p:spPr>
          <a:xfrm>
            <a:off x="7599521" y="525994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Appends new content after reading.</a:t>
            </a:r>
            <a:endParaRPr b="0" i="0" sz="1750" u="none" cap="none" strike="noStrike"/>
          </a:p>
        </p:txBody>
      </p:sp>
      <p:sp>
        <p:nvSpPr>
          <p:cNvPr id="278" name="Google Shape;278;p11"/>
          <p:cNvSpPr/>
          <p:nvPr/>
        </p:nvSpPr>
        <p:spPr>
          <a:xfrm>
            <a:off x="7599521" y="570214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Closes automatically using with.</a:t>
            </a:r>
            <a:endParaRPr b="0" i="0" sz="1750" u="none" cap="none" strike="noStrike"/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"/>
          <p:cNvSpPr/>
          <p:nvPr/>
        </p:nvSpPr>
        <p:spPr>
          <a:xfrm>
            <a:off x="793790" y="1451372"/>
            <a:ext cx="754534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of Read and Write</a:t>
            </a:r>
            <a:endParaRPr b="0" i="0" sz="4450" u="none" cap="none" strike="noStrike"/>
          </a:p>
        </p:txBody>
      </p:sp>
      <p:sp>
        <p:nvSpPr>
          <p:cNvPr id="286" name="Google Shape;286;p12"/>
          <p:cNvSpPr/>
          <p:nvPr/>
        </p:nvSpPr>
        <p:spPr>
          <a:xfrm>
            <a:off x="793790" y="2613779"/>
            <a:ext cx="4196358" cy="4164449"/>
          </a:xfrm>
          <a:prstGeom prst="roundRect">
            <a:avLst>
              <a:gd fmla="val 81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1020604" y="28405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Write to File</a:t>
            </a:r>
            <a:endParaRPr b="0" i="0" sz="2200" u="none" cap="none" strike="noStrike"/>
          </a:p>
        </p:txBody>
      </p:sp>
      <p:sp>
        <p:nvSpPr>
          <p:cNvPr id="288" name="Google Shape;288;p12"/>
          <p:cNvSpPr/>
          <p:nvPr/>
        </p:nvSpPr>
        <p:spPr>
          <a:xfrm>
            <a:off x="1020604" y="3331012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with open('example.txt', 'w') as file:</a:t>
            </a:r>
            <a:endParaRPr b="0" i="0" sz="1750" u="none" cap="none" strike="noStrike"/>
          </a:p>
        </p:txBody>
      </p:sp>
      <p:sp>
        <p:nvSpPr>
          <p:cNvPr id="289" name="Google Shape;289;p12"/>
          <p:cNvSpPr/>
          <p:nvPr/>
        </p:nvSpPr>
        <p:spPr>
          <a:xfrm>
            <a:off x="1020604" y="3830003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file.write('This is a new line.')</a:t>
            </a:r>
            <a:endParaRPr b="0" i="0" sz="1750" u="none" cap="none" strike="noStrike"/>
          </a:p>
        </p:txBody>
      </p:sp>
      <p:sp>
        <p:nvSpPr>
          <p:cNvPr id="290" name="Google Shape;290;p12"/>
          <p:cNvSpPr/>
          <p:nvPr/>
        </p:nvSpPr>
        <p:spPr>
          <a:xfrm>
            <a:off x="5216962" y="2613779"/>
            <a:ext cx="4196358" cy="4164449"/>
          </a:xfrm>
          <a:prstGeom prst="roundRect">
            <a:avLst>
              <a:gd fmla="val 81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443776" y="28405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Read from File</a:t>
            </a:r>
            <a:endParaRPr b="0" i="0" sz="2200" u="none" cap="none" strike="noStrike"/>
          </a:p>
        </p:txBody>
      </p:sp>
      <p:sp>
        <p:nvSpPr>
          <p:cNvPr id="292" name="Google Shape;292;p12"/>
          <p:cNvSpPr/>
          <p:nvPr/>
        </p:nvSpPr>
        <p:spPr>
          <a:xfrm>
            <a:off x="5443776" y="3331012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with open('example.txt', 'r') as file:</a:t>
            </a:r>
            <a:endParaRPr b="0" i="0" sz="1750" u="none" cap="none" strike="noStrike"/>
          </a:p>
        </p:txBody>
      </p:sp>
      <p:sp>
        <p:nvSpPr>
          <p:cNvPr id="293" name="Google Shape;293;p12"/>
          <p:cNvSpPr/>
          <p:nvPr/>
        </p:nvSpPr>
        <p:spPr>
          <a:xfrm>
            <a:off x="5443776" y="3830003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content = file.read()</a:t>
            </a:r>
            <a:endParaRPr b="0" i="0" sz="1750" u="none" cap="none" strike="noStrike"/>
          </a:p>
        </p:txBody>
      </p:sp>
      <p:sp>
        <p:nvSpPr>
          <p:cNvPr id="294" name="Google Shape;294;p12"/>
          <p:cNvSpPr/>
          <p:nvPr/>
        </p:nvSpPr>
        <p:spPr>
          <a:xfrm>
            <a:off x="5443776" y="4328993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print(content)</a:t>
            </a:r>
            <a:endParaRPr b="0" i="0" sz="1750" u="none" cap="none" strike="noStrike"/>
          </a:p>
        </p:txBody>
      </p:sp>
      <p:sp>
        <p:nvSpPr>
          <p:cNvPr id="295" name="Google Shape;295;p12"/>
          <p:cNvSpPr/>
          <p:nvPr/>
        </p:nvSpPr>
        <p:spPr>
          <a:xfrm>
            <a:off x="9640133" y="2613779"/>
            <a:ext cx="4196358" cy="4164449"/>
          </a:xfrm>
          <a:prstGeom prst="roundRect">
            <a:avLst>
              <a:gd fmla="val 81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9866948" y="28405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</a:t>
            </a:r>
            <a:endParaRPr b="0" i="0" sz="2200" u="none" cap="none" strike="noStrike"/>
          </a:p>
        </p:txBody>
      </p:sp>
      <p:sp>
        <p:nvSpPr>
          <p:cNvPr id="297" name="Google Shape;297;p12"/>
          <p:cNvSpPr/>
          <p:nvPr/>
        </p:nvSpPr>
        <p:spPr>
          <a:xfrm>
            <a:off x="9866948" y="333101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First block writes a line to the file.</a:t>
            </a:r>
            <a:endParaRPr b="0" i="0" sz="1750" u="none" cap="none" strike="noStrike"/>
          </a:p>
        </p:txBody>
      </p:sp>
      <p:sp>
        <p:nvSpPr>
          <p:cNvPr id="298" name="Google Shape;298;p12"/>
          <p:cNvSpPr/>
          <p:nvPr/>
        </p:nvSpPr>
        <p:spPr>
          <a:xfrm>
            <a:off x="9866948" y="413611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Second block reads the updated file.</a:t>
            </a:r>
            <a:endParaRPr b="0" i="0" sz="1750" u="none" cap="none" strike="noStrike"/>
          </a:p>
        </p:txBody>
      </p:sp>
      <p:sp>
        <p:nvSpPr>
          <p:cNvPr id="299" name="Google Shape;299;p12"/>
          <p:cNvSpPr/>
          <p:nvPr/>
        </p:nvSpPr>
        <p:spPr>
          <a:xfrm>
            <a:off x="9866948" y="4941213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'w' mode replaces content.</a:t>
            </a:r>
            <a:endParaRPr b="0" i="0" sz="1750" u="none" cap="none" strike="noStrike"/>
          </a:p>
        </p:txBody>
      </p:sp>
      <p:sp>
        <p:nvSpPr>
          <p:cNvPr id="300" name="Google Shape;300;p12"/>
          <p:cNvSpPr/>
          <p:nvPr/>
        </p:nvSpPr>
        <p:spPr>
          <a:xfrm>
            <a:off x="9866948" y="5383411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'r' mode fetches file content.</a:t>
            </a:r>
            <a:endParaRPr b="0" i="0" sz="1750" u="none" cap="none" strike="noStrike"/>
          </a:p>
        </p:txBody>
      </p:sp>
      <p:sp>
        <p:nvSpPr>
          <p:cNvPr id="301" name="Google Shape;301;p12"/>
          <p:cNvSpPr/>
          <p:nvPr/>
        </p:nvSpPr>
        <p:spPr>
          <a:xfrm>
            <a:off x="9866948" y="5825609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Simple demonstration of file I/O cycle.</a:t>
            </a:r>
            <a:endParaRPr b="0" i="0" sz="1750" u="none" cap="none" strike="noStrike"/>
          </a:p>
        </p:txBody>
      </p:sp>
      <p:pic>
        <p:nvPicPr>
          <p:cNvPr descr="preencoded.png" id="302" name="Google Shape;3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8" name="Google Shape;3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6280190" y="1033105"/>
            <a:ext cx="70083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Working with JSON Files</a:t>
            </a:r>
            <a:endParaRPr b="0" i="0" sz="4450" u="none" cap="none" strike="noStrike"/>
          </a:p>
        </p:txBody>
      </p:sp>
      <p:sp>
        <p:nvSpPr>
          <p:cNvPr id="310" name="Google Shape;310;p13"/>
          <p:cNvSpPr/>
          <p:nvPr/>
        </p:nvSpPr>
        <p:spPr>
          <a:xfrm>
            <a:off x="6280190" y="233719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37970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/>
          <p:nvPr/>
        </p:nvSpPr>
        <p:spPr>
          <a:xfrm>
            <a:off x="7017306" y="2337197"/>
            <a:ext cx="48669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JSON = JavaScript Object Notation</a:t>
            </a:r>
            <a:endParaRPr b="0" i="0" sz="2200" u="none" cap="none" strike="noStrike"/>
          </a:p>
        </p:txBody>
      </p:sp>
      <p:sp>
        <p:nvSpPr>
          <p:cNvPr id="313" name="Google Shape;313;p13"/>
          <p:cNvSpPr/>
          <p:nvPr/>
        </p:nvSpPr>
        <p:spPr>
          <a:xfrm>
            <a:off x="7017306" y="282761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Popular format for storing/exchanging data.</a:t>
            </a:r>
            <a:endParaRPr b="0" i="0" sz="1750" u="none" cap="none" strike="noStrike"/>
          </a:p>
        </p:txBody>
      </p:sp>
      <p:sp>
        <p:nvSpPr>
          <p:cNvPr id="314" name="Google Shape;314;p13"/>
          <p:cNvSpPr/>
          <p:nvPr/>
        </p:nvSpPr>
        <p:spPr>
          <a:xfrm>
            <a:off x="6280190" y="367248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371498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/>
          <p:nvPr/>
        </p:nvSpPr>
        <p:spPr>
          <a:xfrm>
            <a:off x="7017306" y="3672483"/>
            <a:ext cx="44650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has built-in json module</a:t>
            </a:r>
            <a:endParaRPr b="0" i="0" sz="2200" u="none" cap="none" strike="noStrike"/>
          </a:p>
        </p:txBody>
      </p:sp>
      <p:sp>
        <p:nvSpPr>
          <p:cNvPr id="317" name="Google Shape;317;p13"/>
          <p:cNvSpPr/>
          <p:nvPr/>
        </p:nvSpPr>
        <p:spPr>
          <a:xfrm>
            <a:off x="7017306" y="4162901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it to work with JSON data.</a:t>
            </a:r>
            <a:endParaRPr b="0" i="0" sz="1750" u="none" cap="none" strike="noStrike"/>
          </a:p>
        </p:txBody>
      </p:sp>
      <p:sp>
        <p:nvSpPr>
          <p:cNvPr id="318" name="Google Shape;318;p13"/>
          <p:cNvSpPr/>
          <p:nvPr/>
        </p:nvSpPr>
        <p:spPr>
          <a:xfrm>
            <a:off x="6280190" y="500776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505027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7017306" y="5007769"/>
            <a:ext cx="45558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json.dump() to write to a file</a:t>
            </a:r>
            <a:endParaRPr b="0" i="0" sz="2200" u="none" cap="none" strike="noStrike"/>
          </a:p>
        </p:txBody>
      </p:sp>
      <p:sp>
        <p:nvSpPr>
          <p:cNvPr id="321" name="Google Shape;321;p13"/>
          <p:cNvSpPr/>
          <p:nvPr/>
        </p:nvSpPr>
        <p:spPr>
          <a:xfrm>
            <a:off x="7017306" y="549818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Converts Python objects to JSON format.</a:t>
            </a:r>
            <a:endParaRPr b="0" i="0" sz="1750" u="none" cap="none" strike="noStrike"/>
          </a:p>
        </p:txBody>
      </p:sp>
      <p:sp>
        <p:nvSpPr>
          <p:cNvPr id="322" name="Google Shape;322;p13"/>
          <p:cNvSpPr/>
          <p:nvPr/>
        </p:nvSpPr>
        <p:spPr>
          <a:xfrm>
            <a:off x="6280190" y="634305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260" y="638556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7017306" y="6343055"/>
            <a:ext cx="46149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json.load() to read from a file</a:t>
            </a:r>
            <a:endParaRPr b="0" i="0" sz="2200" u="none" cap="none" strike="noStrike"/>
          </a:p>
        </p:txBody>
      </p:sp>
      <p:sp>
        <p:nvSpPr>
          <p:cNvPr id="325" name="Google Shape;325;p13"/>
          <p:cNvSpPr/>
          <p:nvPr/>
        </p:nvSpPr>
        <p:spPr>
          <a:xfrm>
            <a:off x="7017306" y="6833473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Converts JSON data back to Python objects.</a:t>
            </a:r>
            <a:endParaRPr b="0" i="0" sz="1750" u="none" cap="none" strike="noStrike"/>
          </a:p>
        </p:txBody>
      </p:sp>
      <p:pic>
        <p:nvPicPr>
          <p:cNvPr descr="preencoded.png" id="326" name="Google Shape;32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793790" y="1350645"/>
            <a:ext cx="87082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JSON Example – Save and Load</a:t>
            </a:r>
            <a:endParaRPr b="0" i="0" sz="4450" u="none" cap="none" strike="noStrike"/>
          </a:p>
        </p:txBody>
      </p:sp>
      <p:sp>
        <p:nvSpPr>
          <p:cNvPr id="333" name="Google Shape;333;p14"/>
          <p:cNvSpPr/>
          <p:nvPr/>
        </p:nvSpPr>
        <p:spPr>
          <a:xfrm>
            <a:off x="793790" y="2654737"/>
            <a:ext cx="6244709" cy="3969067"/>
          </a:xfrm>
          <a:prstGeom prst="roundRect">
            <a:avLst>
              <a:gd fmla="val 857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782475" y="2654722"/>
            <a:ext cx="6267300" cy="4956300"/>
          </a:xfrm>
          <a:prstGeom prst="roundRect">
            <a:avLst>
              <a:gd fmla="val 857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1009293" y="2824758"/>
            <a:ext cx="5813703" cy="362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data = {'name': 'Haris', 'age': 25, 'city': 'Lahore'}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with open('data.json', 'w')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json.dump(data, file)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with open('data.json', 'r')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loaded_data = json.load(file)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print(loaded_data)</a:t>
            </a:r>
            <a:endParaRPr b="0" i="0" sz="1750" u="none" cap="none" strike="noStrike"/>
          </a:p>
        </p:txBody>
      </p:sp>
      <p:sp>
        <p:nvSpPr>
          <p:cNvPr id="336" name="Google Shape;336;p14"/>
          <p:cNvSpPr/>
          <p:nvPr/>
        </p:nvSpPr>
        <p:spPr>
          <a:xfrm>
            <a:off x="7599521" y="26264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337" name="Google Shape;337;p14"/>
          <p:cNvSpPr/>
          <p:nvPr/>
        </p:nvSpPr>
        <p:spPr>
          <a:xfrm>
            <a:off x="7599521" y="320754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Saves dictionary as JSON.</a:t>
            </a:r>
            <a:endParaRPr b="0" i="0" sz="1750" u="none" cap="none" strike="noStrike"/>
          </a:p>
        </p:txBody>
      </p:sp>
      <p:sp>
        <p:nvSpPr>
          <p:cNvPr id="338" name="Google Shape;338;p14"/>
          <p:cNvSpPr/>
          <p:nvPr/>
        </p:nvSpPr>
        <p:spPr>
          <a:xfrm>
            <a:off x="7599521" y="364974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Writes to data.json.</a:t>
            </a:r>
            <a:endParaRPr b="0" i="0" sz="1750" u="none" cap="none" strike="noStrike"/>
          </a:p>
        </p:txBody>
      </p:sp>
      <p:sp>
        <p:nvSpPr>
          <p:cNvPr id="339" name="Google Shape;339;p14"/>
          <p:cNvSpPr/>
          <p:nvPr/>
        </p:nvSpPr>
        <p:spPr>
          <a:xfrm>
            <a:off x="7599521" y="409194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Reads the file back into Python.</a:t>
            </a:r>
            <a:endParaRPr b="0" i="0" sz="1750" u="none" cap="none" strike="noStrike"/>
          </a:p>
        </p:txBody>
      </p:sp>
      <p:sp>
        <p:nvSpPr>
          <p:cNvPr id="340" name="Google Shape;340;p14"/>
          <p:cNvSpPr/>
          <p:nvPr/>
        </p:nvSpPr>
        <p:spPr>
          <a:xfrm>
            <a:off x="7599521" y="453413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Prints loaded JSON data.</a:t>
            </a:r>
            <a:endParaRPr b="0" i="0" sz="1750" u="none" cap="none" strike="noStrike"/>
          </a:p>
        </p:txBody>
      </p:sp>
      <p:sp>
        <p:nvSpPr>
          <p:cNvPr id="341" name="Google Shape;341;p14"/>
          <p:cNvSpPr/>
          <p:nvPr/>
        </p:nvSpPr>
        <p:spPr>
          <a:xfrm>
            <a:off x="7599521" y="497633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Useful for storing structured data.</a:t>
            </a:r>
            <a:endParaRPr b="0" i="0" sz="1750" u="none" cap="none" strike="noStrike"/>
          </a:p>
        </p:txBody>
      </p:sp>
      <p:pic>
        <p:nvPicPr>
          <p:cNvPr descr="preencoded.png" id="342" name="Google Shape;3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/>
          <p:nvPr/>
        </p:nvSpPr>
        <p:spPr>
          <a:xfrm>
            <a:off x="793790" y="2521506"/>
            <a:ext cx="688764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File Exceptions</a:t>
            </a:r>
            <a:endParaRPr b="0" i="0" sz="4450" u="none" cap="none" strike="noStrike"/>
          </a:p>
        </p:txBody>
      </p:sp>
      <p:sp>
        <p:nvSpPr>
          <p:cNvPr id="349" name="Google Shape;349;p15"/>
          <p:cNvSpPr/>
          <p:nvPr/>
        </p:nvSpPr>
        <p:spPr>
          <a:xfrm>
            <a:off x="793790" y="3683913"/>
            <a:ext cx="4196358" cy="2024182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1020604" y="3910727"/>
            <a:ext cx="374273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Errors can occur during file access</a:t>
            </a:r>
            <a:endParaRPr b="0" i="0" sz="2200" u="none" cap="none" strike="noStrike"/>
          </a:p>
        </p:txBody>
      </p:sp>
      <p:sp>
        <p:nvSpPr>
          <p:cNvPr id="351" name="Google Shape;351;p15"/>
          <p:cNvSpPr/>
          <p:nvPr/>
        </p:nvSpPr>
        <p:spPr>
          <a:xfrm>
            <a:off x="1020604" y="4755475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try-except to avoid program crash</a:t>
            </a:r>
            <a:endParaRPr b="0" i="0" sz="1750" u="none" cap="none" strike="noStrike"/>
          </a:p>
        </p:txBody>
      </p:sp>
      <p:sp>
        <p:nvSpPr>
          <p:cNvPr id="352" name="Google Shape;352;p15"/>
          <p:cNvSpPr/>
          <p:nvPr/>
        </p:nvSpPr>
        <p:spPr>
          <a:xfrm>
            <a:off x="5216962" y="3683913"/>
            <a:ext cx="4196358" cy="2024182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443776" y="39107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errors</a:t>
            </a:r>
            <a:endParaRPr b="0" i="0" sz="2200" u="none" cap="none" strike="noStrike"/>
          </a:p>
        </p:txBody>
      </p:sp>
      <p:sp>
        <p:nvSpPr>
          <p:cNvPr id="354" name="Google Shape;354;p15"/>
          <p:cNvSpPr/>
          <p:nvPr/>
        </p:nvSpPr>
        <p:spPr>
          <a:xfrm>
            <a:off x="5443776" y="4401145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File does not exist, permission issues, file in use</a:t>
            </a:r>
            <a:endParaRPr b="0" i="0" sz="1750" u="none" cap="none" strike="noStrike"/>
          </a:p>
        </p:txBody>
      </p:sp>
      <p:sp>
        <p:nvSpPr>
          <p:cNvPr id="355" name="Google Shape;355;p15"/>
          <p:cNvSpPr/>
          <p:nvPr/>
        </p:nvSpPr>
        <p:spPr>
          <a:xfrm>
            <a:off x="9640133" y="3683913"/>
            <a:ext cx="4196358" cy="2024182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9866948" y="3910727"/>
            <a:ext cx="335196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errors gracefully</a:t>
            </a:r>
            <a:endParaRPr b="0" i="0" sz="2200" u="none" cap="none" strike="noStrike"/>
          </a:p>
        </p:txBody>
      </p:sp>
      <p:sp>
        <p:nvSpPr>
          <p:cNvPr id="357" name="Google Shape;357;p15"/>
          <p:cNvSpPr/>
          <p:nvPr/>
        </p:nvSpPr>
        <p:spPr>
          <a:xfrm>
            <a:off x="9866948" y="4401145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Prevent program crashes with proper exception handling</a:t>
            </a:r>
            <a:endParaRPr b="0" i="0" sz="1750" u="none" cap="none" strike="noStrike"/>
          </a:p>
        </p:txBody>
      </p:sp>
      <p:pic>
        <p:nvPicPr>
          <p:cNvPr descr="preencoded.png" id="358" name="Google Shape;3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/>
          <p:nvPr/>
        </p:nvSpPr>
        <p:spPr>
          <a:xfrm>
            <a:off x="793790" y="2076450"/>
            <a:ext cx="818316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– FileNotFoundError</a:t>
            </a:r>
            <a:endParaRPr b="0" i="0" sz="4450" u="none" cap="none" strike="noStrike"/>
          </a:p>
        </p:txBody>
      </p:sp>
      <p:sp>
        <p:nvSpPr>
          <p:cNvPr id="365" name="Google Shape;365;p16"/>
          <p:cNvSpPr/>
          <p:nvPr/>
        </p:nvSpPr>
        <p:spPr>
          <a:xfrm>
            <a:off x="793790" y="3380542"/>
            <a:ext cx="6244709" cy="2517458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782475" y="3380552"/>
            <a:ext cx="6267300" cy="3082800"/>
          </a:xfrm>
          <a:prstGeom prst="roundRect">
            <a:avLst>
              <a:gd fmla="val 1352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1009293" y="3550563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try: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with open('non_existent_file.txt', 'r') as file: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content = file.read()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print(content)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except FileNotFoundError: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print('Error: The file does not exist!')</a:t>
            </a:r>
            <a:endParaRPr b="0" i="0" sz="1750" u="none" cap="none" strike="noStrike"/>
          </a:p>
        </p:txBody>
      </p:sp>
      <p:sp>
        <p:nvSpPr>
          <p:cNvPr id="368" name="Google Shape;368;p16"/>
          <p:cNvSpPr/>
          <p:nvPr/>
        </p:nvSpPr>
        <p:spPr>
          <a:xfrm>
            <a:off x="7599521" y="33522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Explanation</a:t>
            </a:r>
            <a:endParaRPr b="0" i="0" sz="2200" u="none" cap="none" strike="noStrike"/>
          </a:p>
        </p:txBody>
      </p:sp>
      <p:sp>
        <p:nvSpPr>
          <p:cNvPr id="369" name="Google Shape;369;p16"/>
          <p:cNvSpPr/>
          <p:nvPr/>
        </p:nvSpPr>
        <p:spPr>
          <a:xfrm>
            <a:off x="7599521" y="39333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Attempts to read a non-existent file.</a:t>
            </a:r>
            <a:endParaRPr b="0" i="0" sz="1750" u="none" cap="none" strike="noStrike"/>
          </a:p>
        </p:txBody>
      </p:sp>
      <p:sp>
        <p:nvSpPr>
          <p:cNvPr id="370" name="Google Shape;370;p16"/>
          <p:cNvSpPr/>
          <p:nvPr/>
        </p:nvSpPr>
        <p:spPr>
          <a:xfrm>
            <a:off x="7599521" y="437554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Raises FileNotFoundError.</a:t>
            </a:r>
            <a:endParaRPr b="0" i="0" sz="1750" u="none" cap="none" strike="noStrike"/>
          </a:p>
        </p:txBody>
      </p:sp>
      <p:sp>
        <p:nvSpPr>
          <p:cNvPr id="371" name="Google Shape;371;p16"/>
          <p:cNvSpPr/>
          <p:nvPr/>
        </p:nvSpPr>
        <p:spPr>
          <a:xfrm>
            <a:off x="7599521" y="481774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Error is caught with except.</a:t>
            </a:r>
            <a:endParaRPr b="0" i="0" sz="1750" u="none" cap="none" strike="noStrike"/>
          </a:p>
        </p:txBody>
      </p:sp>
      <p:sp>
        <p:nvSpPr>
          <p:cNvPr id="372" name="Google Shape;372;p16"/>
          <p:cNvSpPr/>
          <p:nvPr/>
        </p:nvSpPr>
        <p:spPr>
          <a:xfrm>
            <a:off x="7599521" y="525994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Displays user-friendly message.</a:t>
            </a:r>
            <a:endParaRPr b="0" i="0" sz="1750" u="none" cap="none" strike="noStrike"/>
          </a:p>
        </p:txBody>
      </p:sp>
      <p:sp>
        <p:nvSpPr>
          <p:cNvPr id="373" name="Google Shape;373;p16"/>
          <p:cNvSpPr/>
          <p:nvPr/>
        </p:nvSpPr>
        <p:spPr>
          <a:xfrm>
            <a:off x="7599521" y="570214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Prevents program from crashing.</a:t>
            </a:r>
            <a:endParaRPr b="0" i="0" sz="1750" u="none" cap="none" strike="noStrike"/>
          </a:p>
        </p:txBody>
      </p:sp>
      <p:pic>
        <p:nvPicPr>
          <p:cNvPr descr="preencoded.png" id="374" name="Google Shape;3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/>
          <p:nvPr/>
        </p:nvSpPr>
        <p:spPr>
          <a:xfrm>
            <a:off x="793790" y="2113240"/>
            <a:ext cx="844176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 in File Handling</a:t>
            </a:r>
            <a:endParaRPr b="0" i="0" sz="4450" u="none" cap="none" strike="noStrike"/>
          </a:p>
        </p:txBody>
      </p:sp>
      <p:sp>
        <p:nvSpPr>
          <p:cNvPr id="381" name="Google Shape;381;p17"/>
          <p:cNvSpPr/>
          <p:nvPr/>
        </p:nvSpPr>
        <p:spPr>
          <a:xfrm>
            <a:off x="793790" y="3275648"/>
            <a:ext cx="4196358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Close Files</a:t>
            </a:r>
            <a:endParaRPr b="0" i="0" sz="2200" u="none" cap="none" strike="noStrike"/>
          </a:p>
        </p:txBody>
      </p:sp>
      <p:sp>
        <p:nvSpPr>
          <p:cNvPr id="383" name="Google Shape;383;p17"/>
          <p:cNvSpPr/>
          <p:nvPr/>
        </p:nvSpPr>
        <p:spPr>
          <a:xfrm>
            <a:off x="1020604" y="3992880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Always close the file after opening it.</a:t>
            </a:r>
            <a:endParaRPr b="0" i="0" sz="1750" u="none" cap="none" strike="noStrike"/>
          </a:p>
        </p:txBody>
      </p:sp>
      <p:sp>
        <p:nvSpPr>
          <p:cNvPr id="384" name="Google Shape;384;p17"/>
          <p:cNvSpPr/>
          <p:nvPr/>
        </p:nvSpPr>
        <p:spPr>
          <a:xfrm>
            <a:off x="5216962" y="3275648"/>
            <a:ext cx="4196358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5443776" y="3502462"/>
            <a:ext cx="31278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Context Managers</a:t>
            </a:r>
            <a:endParaRPr b="0" i="0" sz="2200" u="none" cap="none" strike="noStrike"/>
          </a:p>
        </p:txBody>
      </p:sp>
      <p:sp>
        <p:nvSpPr>
          <p:cNvPr id="386" name="Google Shape;386;p17"/>
          <p:cNvSpPr/>
          <p:nvPr/>
        </p:nvSpPr>
        <p:spPr>
          <a:xfrm>
            <a:off x="5443776" y="3992880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Prefer with open() for auto-closing.</a:t>
            </a:r>
            <a:endParaRPr b="0" i="0" sz="1750" u="none" cap="none" strike="noStrike"/>
          </a:p>
        </p:txBody>
      </p:sp>
      <p:sp>
        <p:nvSpPr>
          <p:cNvPr id="387" name="Google Shape;387;p17"/>
          <p:cNvSpPr/>
          <p:nvPr/>
        </p:nvSpPr>
        <p:spPr>
          <a:xfrm>
            <a:off x="9640133" y="3275648"/>
            <a:ext cx="4196358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9866948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Exceptions</a:t>
            </a:r>
            <a:endParaRPr b="0" i="0" sz="2200" u="none" cap="none" strike="noStrike"/>
          </a:p>
        </p:txBody>
      </p:sp>
      <p:sp>
        <p:nvSpPr>
          <p:cNvPr id="389" name="Google Shape;389;p17"/>
          <p:cNvSpPr/>
          <p:nvPr/>
        </p:nvSpPr>
        <p:spPr>
          <a:xfrm>
            <a:off x="9866948" y="3992880"/>
            <a:ext cx="37427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try-except for error handling.</a:t>
            </a:r>
            <a:endParaRPr b="0" i="0" sz="1750" u="none" cap="none" strike="noStrike"/>
          </a:p>
        </p:txBody>
      </p:sp>
      <p:sp>
        <p:nvSpPr>
          <p:cNvPr id="390" name="Google Shape;390;p17"/>
          <p:cNvSpPr/>
          <p:nvPr/>
        </p:nvSpPr>
        <p:spPr>
          <a:xfrm>
            <a:off x="793790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Path Management</a:t>
            </a:r>
            <a:endParaRPr b="0" i="0" sz="2200" u="none" cap="none" strike="noStrike"/>
          </a:p>
        </p:txBody>
      </p:sp>
      <p:sp>
        <p:nvSpPr>
          <p:cNvPr id="392" name="Google Shape;392;p17"/>
          <p:cNvSpPr/>
          <p:nvPr/>
        </p:nvSpPr>
        <p:spPr>
          <a:xfrm>
            <a:off x="1020604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Avoid hardcoding paths – use os.path.join().</a:t>
            </a:r>
            <a:endParaRPr b="0" i="0" sz="1750" u="none" cap="none" strike="noStrike"/>
          </a:p>
        </p:txBody>
      </p:sp>
      <p:sp>
        <p:nvSpPr>
          <p:cNvPr id="393" name="Google Shape;393;p17"/>
          <p:cNvSpPr/>
          <p:nvPr/>
        </p:nvSpPr>
        <p:spPr>
          <a:xfrm>
            <a:off x="7428667" y="480941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7655481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Structured Data</a:t>
            </a:r>
            <a:endParaRPr b="0" i="0" sz="2200" u="none" cap="none" strike="noStrike"/>
          </a:p>
        </p:txBody>
      </p:sp>
      <p:sp>
        <p:nvSpPr>
          <p:cNvPr id="395" name="Google Shape;395;p17"/>
          <p:cNvSpPr/>
          <p:nvPr/>
        </p:nvSpPr>
        <p:spPr>
          <a:xfrm>
            <a:off x="7655481" y="552664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json.dump() and json.load() for structured data.</a:t>
            </a:r>
            <a:endParaRPr b="0" i="0" sz="1750" u="none" cap="none" strike="noStrike"/>
          </a:p>
        </p:txBody>
      </p:sp>
      <p:pic>
        <p:nvPicPr>
          <p:cNvPr descr="preencoded.png" id="396" name="Google Shape;3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2" name="Google Shape;4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8"/>
          <p:cNvSpPr/>
          <p:nvPr/>
        </p:nvSpPr>
        <p:spPr>
          <a:xfrm>
            <a:off x="793790" y="1421487"/>
            <a:ext cx="72947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Exercises – Beginner Level</a:t>
            </a:r>
            <a:endParaRPr b="0" i="0" sz="4450" u="none" cap="none" strike="noStrike"/>
          </a:p>
        </p:txBody>
      </p:sp>
      <p:sp>
        <p:nvSpPr>
          <p:cNvPr id="404" name="Google Shape;404;p18"/>
          <p:cNvSpPr/>
          <p:nvPr/>
        </p:nvSpPr>
        <p:spPr>
          <a:xfrm>
            <a:off x="793790" y="2470428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020604" y="26972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Count Lines in a File</a:t>
            </a:r>
            <a:endParaRPr b="0" i="0" sz="2200" u="none" cap="none" strike="noStrike"/>
          </a:p>
        </p:txBody>
      </p:sp>
      <p:sp>
        <p:nvSpPr>
          <p:cNvPr id="406" name="Google Shape;406;p18"/>
          <p:cNvSpPr/>
          <p:nvPr/>
        </p:nvSpPr>
        <p:spPr>
          <a:xfrm>
            <a:off x="1020604" y="318766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 a program to count and print number of lines in a file.</a:t>
            </a:r>
            <a:endParaRPr b="0" i="0" sz="1750" u="none" cap="none" strike="noStrike"/>
          </a:p>
        </p:txBody>
      </p:sp>
      <p:sp>
        <p:nvSpPr>
          <p:cNvPr id="407" name="Google Shape;407;p18"/>
          <p:cNvSpPr/>
          <p:nvPr/>
        </p:nvSpPr>
        <p:spPr>
          <a:xfrm>
            <a:off x="793790" y="4004191"/>
            <a:ext cx="7556421" cy="2803922"/>
          </a:xfrm>
          <a:prstGeom prst="roundRect">
            <a:avLst>
              <a:gd fmla="val 121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1020604" y="4231005"/>
            <a:ext cx="287714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Check If a File Exists</a:t>
            </a:r>
            <a:endParaRPr b="0" i="0" sz="2200" u="none" cap="none" strike="noStrike"/>
          </a:p>
        </p:txBody>
      </p:sp>
      <p:sp>
        <p:nvSpPr>
          <p:cNvPr id="409" name="Google Shape;409;p18"/>
          <p:cNvSpPr/>
          <p:nvPr/>
        </p:nvSpPr>
        <p:spPr>
          <a:xfrm>
            <a:off x="1020604" y="4721423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Ask user for filename and check if it exists.</a:t>
            </a:r>
            <a:endParaRPr b="0" i="0" sz="1750" u="none" cap="none" strike="noStrike"/>
          </a:p>
        </p:txBody>
      </p:sp>
      <p:sp>
        <p:nvSpPr>
          <p:cNvPr id="410" name="Google Shape;410;p18"/>
          <p:cNvSpPr/>
          <p:nvPr/>
        </p:nvSpPr>
        <p:spPr>
          <a:xfrm>
            <a:off x="1020604" y="5220414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os.path.exists() for existence check.</a:t>
            </a:r>
            <a:endParaRPr b="0" i="0" sz="1750" u="none" cap="none" strike="noStrike"/>
          </a:p>
        </p:txBody>
      </p:sp>
      <p:sp>
        <p:nvSpPr>
          <p:cNvPr id="411" name="Google Shape;411;p18"/>
          <p:cNvSpPr/>
          <p:nvPr/>
        </p:nvSpPr>
        <p:spPr>
          <a:xfrm>
            <a:off x="1020604" y="5719405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reading and conditionally accessing files.</a:t>
            </a:r>
            <a:endParaRPr b="0" i="0" sz="1750" u="none" cap="none" strike="noStrike"/>
          </a:p>
        </p:txBody>
      </p:sp>
      <p:sp>
        <p:nvSpPr>
          <p:cNvPr id="412" name="Google Shape;412;p18"/>
          <p:cNvSpPr/>
          <p:nvPr/>
        </p:nvSpPr>
        <p:spPr>
          <a:xfrm>
            <a:off x="1020604" y="6218396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Good for getting started with file basics.</a:t>
            </a:r>
            <a:endParaRPr b="0" i="0" sz="1750" u="none" cap="none" strike="noStrike"/>
          </a:p>
        </p:txBody>
      </p:sp>
      <p:pic>
        <p:nvPicPr>
          <p:cNvPr descr="preencoded.png" id="413" name="Google Shape;4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9" name="Google Shape;4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9"/>
          <p:cNvSpPr/>
          <p:nvPr/>
        </p:nvSpPr>
        <p:spPr>
          <a:xfrm>
            <a:off x="6280190" y="106703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Exercises – Intermediate Level</a:t>
            </a:r>
            <a:endParaRPr b="0" i="0" sz="4450" u="none" cap="none" strike="noStrike"/>
          </a:p>
        </p:txBody>
      </p:sp>
      <p:sp>
        <p:nvSpPr>
          <p:cNvPr id="421" name="Google Shape;421;p19"/>
          <p:cNvSpPr/>
          <p:nvPr/>
        </p:nvSpPr>
        <p:spPr>
          <a:xfrm>
            <a:off x="6535341" y="2824758"/>
            <a:ext cx="30480" cy="4337685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6760012" y="3319820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6280190" y="307990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312241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9"/>
          <p:cNvSpPr/>
          <p:nvPr/>
        </p:nvSpPr>
        <p:spPr>
          <a:xfrm>
            <a:off x="7669411" y="3051572"/>
            <a:ext cx="28377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Reverse File Content</a:t>
            </a:r>
            <a:endParaRPr b="0" i="0" sz="2200" u="none" cap="none" strike="noStrike"/>
          </a:p>
        </p:txBody>
      </p:sp>
      <p:sp>
        <p:nvSpPr>
          <p:cNvPr id="426" name="Google Shape;426;p19"/>
          <p:cNvSpPr/>
          <p:nvPr/>
        </p:nvSpPr>
        <p:spPr>
          <a:xfrm>
            <a:off x="7669411" y="3541990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Read a file, reverse its content, and save to a new file.</a:t>
            </a:r>
            <a:endParaRPr b="0" i="0" sz="1750" u="none" cap="none" strike="noStrike"/>
          </a:p>
        </p:txBody>
      </p:sp>
      <p:sp>
        <p:nvSpPr>
          <p:cNvPr id="427" name="Google Shape;427;p19"/>
          <p:cNvSpPr/>
          <p:nvPr/>
        </p:nvSpPr>
        <p:spPr>
          <a:xfrm>
            <a:off x="6760012" y="4853583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6280190" y="461367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465617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/>
          <p:nvPr/>
        </p:nvSpPr>
        <p:spPr>
          <a:xfrm>
            <a:off x="7669411" y="45853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Copy File Content</a:t>
            </a:r>
            <a:endParaRPr b="0" i="0" sz="2200" u="none" cap="none" strike="noStrike"/>
          </a:p>
        </p:txBody>
      </p:sp>
      <p:sp>
        <p:nvSpPr>
          <p:cNvPr id="431" name="Google Shape;431;p19"/>
          <p:cNvSpPr/>
          <p:nvPr/>
        </p:nvSpPr>
        <p:spPr>
          <a:xfrm>
            <a:off x="7669411" y="5075753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Copy contents from one file to another.</a:t>
            </a:r>
            <a:endParaRPr b="0" i="0" sz="1750" u="none" cap="none" strike="noStrike"/>
          </a:p>
        </p:txBody>
      </p:sp>
      <p:sp>
        <p:nvSpPr>
          <p:cNvPr id="432" name="Google Shape;432;p19"/>
          <p:cNvSpPr/>
          <p:nvPr/>
        </p:nvSpPr>
        <p:spPr>
          <a:xfrm>
            <a:off x="7669411" y="5574744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reading/writing line-by-line.</a:t>
            </a:r>
            <a:endParaRPr b="0" i="0" sz="1750" u="none" cap="none" strike="noStrike"/>
          </a:p>
        </p:txBody>
      </p:sp>
      <p:sp>
        <p:nvSpPr>
          <p:cNvPr id="433" name="Google Shape;433;p19"/>
          <p:cNvSpPr/>
          <p:nvPr/>
        </p:nvSpPr>
        <p:spPr>
          <a:xfrm>
            <a:off x="7669411" y="6073735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Work with string manipulation.</a:t>
            </a:r>
            <a:endParaRPr b="0" i="0" sz="1750" u="none" cap="none" strike="noStrike"/>
          </a:p>
        </p:txBody>
      </p:sp>
      <p:sp>
        <p:nvSpPr>
          <p:cNvPr id="434" name="Google Shape;434;p19"/>
          <p:cNvSpPr/>
          <p:nvPr/>
        </p:nvSpPr>
        <p:spPr>
          <a:xfrm>
            <a:off x="7669411" y="6572726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Useful for text-based file processing.</a:t>
            </a:r>
            <a:endParaRPr b="0" i="0" sz="1750" u="none" cap="none" strike="noStrike"/>
          </a:p>
        </p:txBody>
      </p:sp>
      <p:pic>
        <p:nvPicPr>
          <p:cNvPr descr="preencoded.png" id="435" name="Google Shape;4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1" name="Google Shape;4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0"/>
          <p:cNvSpPr/>
          <p:nvPr/>
        </p:nvSpPr>
        <p:spPr>
          <a:xfrm>
            <a:off x="793790" y="1240036"/>
            <a:ext cx="748581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Exercises – Advanced Level</a:t>
            </a:r>
            <a:endParaRPr b="0" i="0" sz="4450" u="none" cap="none" strike="noStrike"/>
          </a:p>
        </p:txBody>
      </p:sp>
      <p:sp>
        <p:nvSpPr>
          <p:cNvPr id="443" name="Google Shape;443;p20"/>
          <p:cNvSpPr/>
          <p:nvPr/>
        </p:nvSpPr>
        <p:spPr>
          <a:xfrm>
            <a:off x="1048941" y="2288977"/>
            <a:ext cx="30480" cy="4700588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/>
          <p:cNvSpPr/>
          <p:nvPr/>
        </p:nvSpPr>
        <p:spPr>
          <a:xfrm>
            <a:off x="1273612" y="2784038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"/>
          <p:cNvSpPr/>
          <p:nvPr/>
        </p:nvSpPr>
        <p:spPr>
          <a:xfrm>
            <a:off x="793790" y="254412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258663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0"/>
          <p:cNvSpPr/>
          <p:nvPr/>
        </p:nvSpPr>
        <p:spPr>
          <a:xfrm>
            <a:off x="2183011" y="25157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Merge Multiple Files</a:t>
            </a:r>
            <a:endParaRPr b="0" i="0" sz="2200" u="none" cap="none" strike="noStrike"/>
          </a:p>
        </p:txBody>
      </p:sp>
      <p:sp>
        <p:nvSpPr>
          <p:cNvPr id="448" name="Google Shape;448;p20"/>
          <p:cNvSpPr/>
          <p:nvPr/>
        </p:nvSpPr>
        <p:spPr>
          <a:xfrm>
            <a:off x="2183011" y="3006209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 contents of two files into one.</a:t>
            </a:r>
            <a:endParaRPr b="0" i="0" sz="1750" u="none" cap="none" strike="noStrike"/>
          </a:p>
        </p:txBody>
      </p:sp>
      <p:sp>
        <p:nvSpPr>
          <p:cNvPr id="449" name="Google Shape;449;p20"/>
          <p:cNvSpPr/>
          <p:nvPr/>
        </p:nvSpPr>
        <p:spPr>
          <a:xfrm>
            <a:off x="1273612" y="4317802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793790" y="407789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412039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0"/>
          <p:cNvSpPr/>
          <p:nvPr/>
        </p:nvSpPr>
        <p:spPr>
          <a:xfrm>
            <a:off x="2183011" y="4049554"/>
            <a:ext cx="34716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 File with Timestamp</a:t>
            </a:r>
            <a:endParaRPr b="0" i="0" sz="2200" u="none" cap="none" strike="noStrike"/>
          </a:p>
        </p:txBody>
      </p:sp>
      <p:sp>
        <p:nvSpPr>
          <p:cNvPr id="453" name="Google Shape;453;p20"/>
          <p:cNvSpPr/>
          <p:nvPr/>
        </p:nvSpPr>
        <p:spPr>
          <a:xfrm>
            <a:off x="2183011" y="4539972"/>
            <a:ext cx="61671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Append a log entry with timestamp every time program runs.</a:t>
            </a:r>
            <a:endParaRPr b="0" i="0" sz="1750" u="none" cap="none" strike="noStrike"/>
          </a:p>
        </p:txBody>
      </p:sp>
      <p:sp>
        <p:nvSpPr>
          <p:cNvPr id="454" name="Google Shape;454;p20"/>
          <p:cNvSpPr/>
          <p:nvPr/>
        </p:nvSpPr>
        <p:spPr>
          <a:xfrm>
            <a:off x="2183011" y="5401866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datetime.now() for timestamps.</a:t>
            </a:r>
            <a:endParaRPr b="0" i="0" sz="1750" u="none" cap="none" strike="noStrike"/>
          </a:p>
        </p:txBody>
      </p:sp>
      <p:sp>
        <p:nvSpPr>
          <p:cNvPr id="455" name="Google Shape;455;p20"/>
          <p:cNvSpPr/>
          <p:nvPr/>
        </p:nvSpPr>
        <p:spPr>
          <a:xfrm>
            <a:off x="2183011" y="5900857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handling multiple files.</a:t>
            </a:r>
            <a:endParaRPr b="0" i="0" sz="1750" u="none" cap="none" strike="noStrike"/>
          </a:p>
        </p:txBody>
      </p:sp>
      <p:sp>
        <p:nvSpPr>
          <p:cNvPr id="456" name="Google Shape;456;p20"/>
          <p:cNvSpPr/>
          <p:nvPr/>
        </p:nvSpPr>
        <p:spPr>
          <a:xfrm>
            <a:off x="2183011" y="6399848"/>
            <a:ext cx="61671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Simulate real-world logging system.</a:t>
            </a:r>
            <a:endParaRPr b="0" i="0" sz="1750" u="none" cap="none" strike="noStrike"/>
          </a:p>
        </p:txBody>
      </p:sp>
      <p:pic>
        <p:nvPicPr>
          <p:cNvPr descr="preencoded.png" id="457" name="Google Shape;45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"/>
          <p:cNvSpPr/>
          <p:nvPr/>
        </p:nvSpPr>
        <p:spPr>
          <a:xfrm>
            <a:off x="793790" y="1771650"/>
            <a:ext cx="689621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and Final Note</a:t>
            </a:r>
            <a:endParaRPr b="0" i="0" sz="4450" u="none" cap="none" strike="noStrike"/>
          </a:p>
        </p:txBody>
      </p:sp>
      <p:sp>
        <p:nvSpPr>
          <p:cNvPr id="464" name="Google Shape;464;p21"/>
          <p:cNvSpPr/>
          <p:nvPr/>
        </p:nvSpPr>
        <p:spPr>
          <a:xfrm>
            <a:off x="793790" y="31892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1530906" y="3189208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different file modes</a:t>
            </a:r>
            <a:endParaRPr b="0" i="0" sz="2200" u="none" cap="none" strike="noStrike"/>
          </a:p>
        </p:txBody>
      </p:sp>
      <p:sp>
        <p:nvSpPr>
          <p:cNvPr id="466" name="Google Shape;466;p21"/>
          <p:cNvSpPr/>
          <p:nvPr/>
        </p:nvSpPr>
        <p:spPr>
          <a:xfrm>
            <a:off x="1530906" y="4033957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Try these exercises to master File I/O! Practice different file modes (r, w, a, r+).</a:t>
            </a:r>
            <a:endParaRPr b="0" i="0" sz="1750" u="none" cap="none" strike="noStrike"/>
          </a:p>
        </p:txBody>
      </p:sp>
      <p:sp>
        <p:nvSpPr>
          <p:cNvPr id="467" name="Google Shape;467;p21"/>
          <p:cNvSpPr/>
          <p:nvPr/>
        </p:nvSpPr>
        <p:spPr>
          <a:xfrm>
            <a:off x="5216962" y="31892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5954078" y="3189208"/>
            <a:ext cx="30494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Work with JSON data</a:t>
            </a:r>
            <a:endParaRPr b="0" i="0" sz="2200" u="none" cap="none" strike="noStrike"/>
          </a:p>
        </p:txBody>
      </p:sp>
      <p:sp>
        <p:nvSpPr>
          <p:cNvPr id="469" name="Google Shape;469;p21"/>
          <p:cNvSpPr/>
          <p:nvPr/>
        </p:nvSpPr>
        <p:spPr>
          <a:xfrm>
            <a:off x="5954078" y="3679627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Work with JSON data using json module.</a:t>
            </a:r>
            <a:endParaRPr b="0" i="0" sz="1750" u="none" cap="none" strike="noStrike"/>
          </a:p>
        </p:txBody>
      </p:sp>
      <p:sp>
        <p:nvSpPr>
          <p:cNvPr id="470" name="Google Shape;470;p21"/>
          <p:cNvSpPr/>
          <p:nvPr/>
        </p:nvSpPr>
        <p:spPr>
          <a:xfrm>
            <a:off x="9640133" y="318920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10377249" y="31892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Handle errors</a:t>
            </a:r>
            <a:endParaRPr b="0" i="0" sz="2200" u="none" cap="none" strike="noStrike"/>
          </a:p>
        </p:txBody>
      </p:sp>
      <p:sp>
        <p:nvSpPr>
          <p:cNvPr id="472" name="Google Shape;472;p21"/>
          <p:cNvSpPr/>
          <p:nvPr/>
        </p:nvSpPr>
        <p:spPr>
          <a:xfrm>
            <a:off x="10377249" y="3679627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Handle errors with try-except.</a:t>
            </a:r>
            <a:endParaRPr b="0" i="0" sz="1750" u="none" cap="none" strike="noStrike"/>
          </a:p>
        </p:txBody>
      </p:sp>
      <p:sp>
        <p:nvSpPr>
          <p:cNvPr id="473" name="Google Shape;473;p21"/>
          <p:cNvSpPr/>
          <p:nvPr/>
        </p:nvSpPr>
        <p:spPr>
          <a:xfrm>
            <a:off x="793790" y="56046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1530906" y="5604629"/>
            <a:ext cx="294822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Follow best practices</a:t>
            </a:r>
            <a:endParaRPr b="0" i="0" sz="2200" u="none" cap="none" strike="noStrike"/>
          </a:p>
        </p:txBody>
      </p:sp>
      <p:sp>
        <p:nvSpPr>
          <p:cNvPr id="475" name="Google Shape;475;p21"/>
          <p:cNvSpPr/>
          <p:nvPr/>
        </p:nvSpPr>
        <p:spPr>
          <a:xfrm>
            <a:off x="1530906" y="6095048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Follow best practices for clean, safe file operations.</a:t>
            </a:r>
            <a:endParaRPr b="0" i="0" sz="1750" u="none" cap="none" strike="noStrike"/>
          </a:p>
        </p:txBody>
      </p:sp>
      <p:sp>
        <p:nvSpPr>
          <p:cNvPr id="476" name="Google Shape;476;p21"/>
          <p:cNvSpPr/>
          <p:nvPr/>
        </p:nvSpPr>
        <p:spPr>
          <a:xfrm>
            <a:off x="7428667" y="560462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8165783" y="56046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Build skills</a:t>
            </a:r>
            <a:endParaRPr b="0" i="0" sz="2200" u="none" cap="none" strike="noStrike"/>
          </a:p>
        </p:txBody>
      </p:sp>
      <p:sp>
        <p:nvSpPr>
          <p:cNvPr id="478" name="Google Shape;478;p21"/>
          <p:cNvSpPr/>
          <p:nvPr/>
        </p:nvSpPr>
        <p:spPr>
          <a:xfrm>
            <a:off x="8165783" y="6095048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 skills through structured exercises.</a:t>
            </a:r>
            <a:endParaRPr b="0" i="0" sz="1750" u="none" cap="none" strike="noStrike"/>
          </a:p>
        </p:txBody>
      </p:sp>
      <p:pic>
        <p:nvPicPr>
          <p:cNvPr descr="preencoded.png" id="479" name="Google Shape;4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2025-04-15T10:44:53Z</dcterms:created>
  <dc:creator>PptxGenJS</dc:creator>
</cp:coreProperties>
</file>