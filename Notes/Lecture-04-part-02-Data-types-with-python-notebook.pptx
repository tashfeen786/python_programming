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8229600" cx="14630400"/>
  <p:notesSz cx="8229600" cy="14630400"/>
  <p:embeddedFontLst>
    <p:embeddedFont>
      <p:font typeface="Platypi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ixAlp4IERzDKZpTObXZ5goCoNE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PlatypiMedium-regular.fntdata"/><Relationship Id="rId21" Type="http://schemas.openxmlformats.org/officeDocument/2006/relationships/slide" Target="slides/slide17.xml"/><Relationship Id="rId24" Type="http://schemas.openxmlformats.org/officeDocument/2006/relationships/font" Target="fonts/PlatypiMedium-italic.fntdata"/><Relationship Id="rId23" Type="http://schemas.openxmlformats.org/officeDocument/2006/relationships/font" Target="fonts/PlatypiMedium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PlatypiMedium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15313466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315313466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315313466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6 master">
  <p:cSld name="Slide 16 mast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7 master">
  <p:cSld name="Slide 17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5" Type="http://schemas.openxmlformats.org/officeDocument/2006/relationships/image" Target="../media/image2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7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Relationship Id="rId6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Relationship Id="rId6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g3315313466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g3315313466f_0_0"/>
          <p:cNvSpPr/>
          <p:nvPr/>
        </p:nvSpPr>
        <p:spPr>
          <a:xfrm>
            <a:off x="6329015" y="2573712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0</a:t>
            </a: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 Part 02</a:t>
            </a: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:</a:t>
            </a:r>
            <a:endParaRPr b="0" i="0" sz="4450" u="none" cap="none" strike="noStrike"/>
          </a:p>
        </p:txBody>
      </p:sp>
      <p:sp>
        <p:nvSpPr>
          <p:cNvPr id="69" name="Google Shape;69;g3315313466f_0_0"/>
          <p:cNvSpPr/>
          <p:nvPr/>
        </p:nvSpPr>
        <p:spPr>
          <a:xfrm>
            <a:off x="6329015" y="3622653"/>
            <a:ext cx="71160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types with </a:t>
            </a: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</a:t>
            </a: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ython </a:t>
            </a: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N</a:t>
            </a: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otebook</a:t>
            </a:r>
            <a:endParaRPr b="0" i="0" sz="4450" u="none" cap="none" strike="noStrike"/>
          </a:p>
        </p:txBody>
      </p:sp>
      <p:pic>
        <p:nvPicPr>
          <p:cNvPr descr="preencoded.png" id="70" name="Google Shape;70;g3315313466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9015" y="5380373"/>
            <a:ext cx="1398746" cy="13987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1" name="Google Shape;71;g3315313466f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/>
          <p:nvPr/>
        </p:nvSpPr>
        <p:spPr>
          <a:xfrm>
            <a:off x="793790" y="24010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1. Numeric Types</a:t>
            </a:r>
            <a:endParaRPr b="0" i="0" sz="4450" u="none" cap="none" strike="noStrike"/>
          </a:p>
        </p:txBody>
      </p:sp>
      <p:sp>
        <p:nvSpPr>
          <p:cNvPr id="78" name="Google Shape;78;p2"/>
          <p:cNvSpPr/>
          <p:nvPr/>
        </p:nvSpPr>
        <p:spPr>
          <a:xfrm>
            <a:off x="793790" y="3563422"/>
            <a:ext cx="126022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Python has three main numeric data types:</a:t>
            </a:r>
            <a:endParaRPr b="0" i="0" sz="1750" u="none" cap="none" strike="noStrike"/>
          </a:p>
        </p:txBody>
      </p:sp>
      <p:pic>
        <p:nvPicPr>
          <p:cNvPr descr="preencoded.png"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418147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"/>
          <p:cNvSpPr/>
          <p:nvPr/>
        </p:nvSpPr>
        <p:spPr>
          <a:xfrm>
            <a:off x="793790" y="49752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Integer (int)</a:t>
            </a:r>
            <a:endParaRPr b="0" i="0" sz="2200" u="none" cap="none" strike="noStrike"/>
          </a:p>
        </p:txBody>
      </p:sp>
      <p:sp>
        <p:nvSpPr>
          <p:cNvPr id="81" name="Google Shape;81;p2"/>
          <p:cNvSpPr/>
          <p:nvPr/>
        </p:nvSpPr>
        <p:spPr>
          <a:xfrm>
            <a:off x="793790" y="5465683"/>
            <a:ext cx="397394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Whole numbers</a:t>
            </a:r>
            <a:endParaRPr b="0" i="0" sz="1750" u="none" cap="none" strike="noStrike"/>
          </a:p>
        </p:txBody>
      </p:sp>
      <p:pic>
        <p:nvPicPr>
          <p:cNvPr descr="preencoded.png" id="82" name="Google Shape;8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7900" y="418147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2"/>
          <p:cNvSpPr/>
          <p:nvPr/>
        </p:nvSpPr>
        <p:spPr>
          <a:xfrm>
            <a:off x="5107900" y="49752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Float (float)</a:t>
            </a:r>
            <a:endParaRPr b="0" i="0" sz="2200" u="none" cap="none" strike="noStrike"/>
          </a:p>
        </p:txBody>
      </p:sp>
      <p:sp>
        <p:nvSpPr>
          <p:cNvPr id="84" name="Google Shape;84;p2"/>
          <p:cNvSpPr/>
          <p:nvPr/>
        </p:nvSpPr>
        <p:spPr>
          <a:xfrm>
            <a:off x="5107900" y="5465683"/>
            <a:ext cx="397394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Decimal numbers</a:t>
            </a:r>
            <a:endParaRPr b="0" i="0" sz="1750" u="none" cap="none" strike="noStrike"/>
          </a:p>
        </p:txBody>
      </p:sp>
      <p:pic>
        <p:nvPicPr>
          <p:cNvPr descr="preencoded.png" id="85" name="Google Shape;8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22011" y="4181475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2"/>
          <p:cNvSpPr/>
          <p:nvPr/>
        </p:nvSpPr>
        <p:spPr>
          <a:xfrm>
            <a:off x="9422011" y="4975265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Complex (complex)</a:t>
            </a:r>
            <a:endParaRPr b="0" i="0" sz="2200" u="none" cap="none" strike="noStrike"/>
          </a:p>
        </p:txBody>
      </p:sp>
      <p:sp>
        <p:nvSpPr>
          <p:cNvPr id="87" name="Google Shape;87;p2"/>
          <p:cNvSpPr/>
          <p:nvPr/>
        </p:nvSpPr>
        <p:spPr>
          <a:xfrm>
            <a:off x="9422011" y="5465683"/>
            <a:ext cx="397406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Complex numbers</a:t>
            </a:r>
            <a:endParaRPr b="0" i="0" sz="1750" u="none" cap="none" strike="noStrike"/>
          </a:p>
        </p:txBody>
      </p:sp>
      <p:pic>
        <p:nvPicPr>
          <p:cNvPr descr="preencoded.png" id="88" name="Google Shape;8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793790" y="275534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Type: Integer</a:t>
            </a:r>
            <a:endParaRPr b="0" i="0" sz="4450" u="none" cap="none" strike="noStrike"/>
          </a:p>
        </p:txBody>
      </p:sp>
      <p:sp>
        <p:nvSpPr>
          <p:cNvPr id="95" name="Google Shape;95;p3"/>
          <p:cNvSpPr/>
          <p:nvPr/>
        </p:nvSpPr>
        <p:spPr>
          <a:xfrm>
            <a:off x="793790" y="3804285"/>
            <a:ext cx="4049554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020604" y="40310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200" u="none" cap="none" strike="noStrike"/>
          </a:p>
        </p:txBody>
      </p:sp>
      <p:sp>
        <p:nvSpPr>
          <p:cNvPr id="97" name="Google Shape;97;p3"/>
          <p:cNvSpPr/>
          <p:nvPr/>
        </p:nvSpPr>
        <p:spPr>
          <a:xfrm>
            <a:off x="1020604" y="4521517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Integers represent whole numbers in Python.</a:t>
            </a:r>
            <a:endParaRPr b="0" i="0" sz="1750" u="none" cap="none" strike="noStrike"/>
          </a:p>
        </p:txBody>
      </p:sp>
      <p:sp>
        <p:nvSpPr>
          <p:cNvPr id="98" name="Google Shape;98;p3"/>
          <p:cNvSpPr/>
          <p:nvPr/>
        </p:nvSpPr>
        <p:spPr>
          <a:xfrm>
            <a:off x="5070157" y="3804285"/>
            <a:ext cx="4049554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5296972" y="40310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Examples</a:t>
            </a:r>
            <a:endParaRPr b="0" i="0" sz="2200" u="none" cap="none" strike="noStrike"/>
          </a:p>
        </p:txBody>
      </p:sp>
      <p:sp>
        <p:nvSpPr>
          <p:cNvPr id="100" name="Google Shape;100;p3"/>
          <p:cNvSpPr/>
          <p:nvPr/>
        </p:nvSpPr>
        <p:spPr>
          <a:xfrm>
            <a:off x="5296972" y="4521517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1, -5, 100</a:t>
            </a:r>
            <a:endParaRPr b="0" i="0" sz="1750" u="none" cap="none" strike="noStrike"/>
          </a:p>
        </p:txBody>
      </p:sp>
      <p:sp>
        <p:nvSpPr>
          <p:cNvPr id="101" name="Google Shape;101;p3"/>
          <p:cNvSpPr/>
          <p:nvPr/>
        </p:nvSpPr>
        <p:spPr>
          <a:xfrm>
            <a:off x="9346525" y="3804285"/>
            <a:ext cx="4049554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9573339" y="40310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Usage</a:t>
            </a:r>
            <a:endParaRPr b="0" i="0" sz="2200" u="none" cap="none" strike="noStrike"/>
          </a:p>
        </p:txBody>
      </p:sp>
      <p:sp>
        <p:nvSpPr>
          <p:cNvPr id="103" name="Google Shape;103;p3"/>
          <p:cNvSpPr/>
          <p:nvPr/>
        </p:nvSpPr>
        <p:spPr>
          <a:xfrm>
            <a:off x="9573339" y="4521517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for counting, indexing, and mathematical operations.</a:t>
            </a:r>
            <a:endParaRPr b="0" i="0" sz="1750" u="none" cap="none" strike="noStrike"/>
          </a:p>
        </p:txBody>
      </p:sp>
      <p:pic>
        <p:nvPicPr>
          <p:cNvPr descr="preencoded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793790" y="275534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Type: Float</a:t>
            </a:r>
            <a:endParaRPr b="0" i="0" sz="445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793790" y="3804285"/>
            <a:ext cx="4049554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1020604" y="40310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Decimal Numbers</a:t>
            </a:r>
            <a:endParaRPr b="0" i="0" sz="220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1020604" y="4521517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Floats represent numbers with decimal points.</a:t>
            </a:r>
            <a:endParaRPr b="0" i="0" sz="175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5070157" y="3804285"/>
            <a:ext cx="4049554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296972" y="40310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Precision</a:t>
            </a:r>
            <a:endParaRPr b="0" i="0" sz="220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5296972" y="4521517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for more precise calculations.</a:t>
            </a:r>
            <a:endParaRPr b="0" i="0" sz="175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9346525" y="3804285"/>
            <a:ext cx="4049554" cy="1669852"/>
          </a:xfrm>
          <a:prstGeom prst="roundRect">
            <a:avLst>
              <a:gd fmla="val 2038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9573339" y="403109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Examples</a:t>
            </a:r>
            <a:endParaRPr b="0" i="0" sz="220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9573339" y="4521517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3.14, -0.001, 10.0</a:t>
            </a:r>
            <a:endParaRPr b="0" i="0" sz="1750" u="none" cap="none" strike="noStrike"/>
          </a:p>
        </p:txBody>
      </p:sp>
      <p:pic>
        <p:nvPicPr>
          <p:cNvPr descr="preencoded.png" id="120" name="Google Shape;1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/>
          <p:nvPr/>
        </p:nvSpPr>
        <p:spPr>
          <a:xfrm>
            <a:off x="793790" y="215431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Type: Complex</a:t>
            </a:r>
            <a:endParaRPr b="0" i="0" sz="4450" u="none" cap="none" strike="noStrike"/>
          </a:p>
        </p:txBody>
      </p:sp>
      <p:sp>
        <p:nvSpPr>
          <p:cNvPr id="127" name="Google Shape;127;p5"/>
          <p:cNvSpPr/>
          <p:nvPr/>
        </p:nvSpPr>
        <p:spPr>
          <a:xfrm>
            <a:off x="793790" y="3316724"/>
            <a:ext cx="4049554" cy="2758559"/>
          </a:xfrm>
          <a:prstGeom prst="roundRect">
            <a:avLst>
              <a:gd fmla="val 123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020604" y="354353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200" u="none" cap="none" strike="noStrike"/>
          </a:p>
        </p:txBody>
      </p:sp>
      <p:sp>
        <p:nvSpPr>
          <p:cNvPr id="129" name="Google Shape;129;p5"/>
          <p:cNvSpPr/>
          <p:nvPr/>
        </p:nvSpPr>
        <p:spPr>
          <a:xfrm>
            <a:off x="1020604" y="4033957"/>
            <a:ext cx="3595926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Complex numbers combine real and imaginary numbers, with the imaginary part marked by 'j' (representing √-1). They follow the format: real + imaginary j</a:t>
            </a:r>
            <a:endParaRPr b="0" i="0" sz="1750" u="none" cap="none" strike="noStrike"/>
          </a:p>
        </p:txBody>
      </p:sp>
      <p:sp>
        <p:nvSpPr>
          <p:cNvPr id="130" name="Google Shape;130;p5"/>
          <p:cNvSpPr/>
          <p:nvPr/>
        </p:nvSpPr>
        <p:spPr>
          <a:xfrm>
            <a:off x="5070157" y="3316724"/>
            <a:ext cx="4049554" cy="2758559"/>
          </a:xfrm>
          <a:prstGeom prst="roundRect">
            <a:avLst>
              <a:gd fmla="val 123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296972" y="354353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Examples</a:t>
            </a:r>
            <a:endParaRPr b="0" i="0" sz="2200" u="none" cap="none" strike="noStrike"/>
          </a:p>
        </p:txBody>
      </p:sp>
      <p:sp>
        <p:nvSpPr>
          <p:cNvPr id="132" name="Google Shape;132;p5"/>
          <p:cNvSpPr/>
          <p:nvPr/>
        </p:nvSpPr>
        <p:spPr>
          <a:xfrm>
            <a:off x="5296972" y="4033957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Basic form: 2+3j (real=2, imaginary=3)</a:t>
            </a:r>
            <a:endParaRPr b="0" i="0" sz="1750" u="none" cap="none" strike="noStrike"/>
          </a:p>
        </p:txBody>
      </p:sp>
      <p:sp>
        <p:nvSpPr>
          <p:cNvPr id="133" name="Google Shape;133;p5"/>
          <p:cNvSpPr/>
          <p:nvPr/>
        </p:nvSpPr>
        <p:spPr>
          <a:xfrm>
            <a:off x="5296972" y="4839057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Other forms: -1.5+2.7j</a:t>
            </a:r>
            <a:endParaRPr b="0" i="0" sz="1750" u="none" cap="none" strike="noStrike"/>
          </a:p>
        </p:txBody>
      </p:sp>
      <p:sp>
        <p:nvSpPr>
          <p:cNvPr id="134" name="Google Shape;134;p5"/>
          <p:cNvSpPr/>
          <p:nvPr/>
        </p:nvSpPr>
        <p:spPr>
          <a:xfrm>
            <a:off x="5296972" y="5281255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Simple forms: 0+1j, 3-4j</a:t>
            </a:r>
            <a:endParaRPr b="0" i="0" sz="1750" u="none" cap="none" strike="noStrike"/>
          </a:p>
        </p:txBody>
      </p:sp>
      <p:sp>
        <p:nvSpPr>
          <p:cNvPr id="135" name="Google Shape;135;p5"/>
          <p:cNvSpPr/>
          <p:nvPr/>
        </p:nvSpPr>
        <p:spPr>
          <a:xfrm>
            <a:off x="9346525" y="3316724"/>
            <a:ext cx="4049554" cy="2758559"/>
          </a:xfrm>
          <a:prstGeom prst="roundRect">
            <a:avLst>
              <a:gd fmla="val 123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9573339" y="354353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Applications</a:t>
            </a:r>
            <a:endParaRPr b="0" i="0" sz="2200" u="none" cap="none" strike="noStrike"/>
          </a:p>
        </p:txBody>
      </p:sp>
      <p:sp>
        <p:nvSpPr>
          <p:cNvPr id="137" name="Google Shape;137;p5"/>
          <p:cNvSpPr/>
          <p:nvPr/>
        </p:nvSpPr>
        <p:spPr>
          <a:xfrm>
            <a:off x="9573339" y="4033957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Signal processing</a:t>
            </a:r>
            <a:endParaRPr b="0" i="0" sz="1750" u="none" cap="none" strike="noStrike"/>
          </a:p>
        </p:txBody>
      </p:sp>
      <p:sp>
        <p:nvSpPr>
          <p:cNvPr id="138" name="Google Shape;138;p5"/>
          <p:cNvSpPr/>
          <p:nvPr/>
        </p:nvSpPr>
        <p:spPr>
          <a:xfrm>
            <a:off x="9573339" y="4476155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Electrical engineering</a:t>
            </a:r>
            <a:endParaRPr b="0" i="0" sz="1750" u="none" cap="none" strike="noStrike"/>
          </a:p>
        </p:txBody>
      </p:sp>
      <p:sp>
        <p:nvSpPr>
          <p:cNvPr id="139" name="Google Shape;139;p5"/>
          <p:cNvSpPr/>
          <p:nvPr/>
        </p:nvSpPr>
        <p:spPr>
          <a:xfrm>
            <a:off x="9573339" y="4918353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Quantum physics</a:t>
            </a:r>
            <a:endParaRPr b="0" i="0" sz="1750" u="none" cap="none" strike="noStrike"/>
          </a:p>
        </p:txBody>
      </p:sp>
      <p:pic>
        <p:nvPicPr>
          <p:cNvPr descr="preencoded.png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6280190" y="218694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2. Strings</a:t>
            </a:r>
            <a:endParaRPr b="0" i="0" sz="4450" u="none" cap="none" strike="noStrike"/>
          </a:p>
        </p:txBody>
      </p:sp>
      <p:sp>
        <p:nvSpPr>
          <p:cNvPr id="148" name="Google Shape;148;p6"/>
          <p:cNvSpPr/>
          <p:nvPr/>
        </p:nvSpPr>
        <p:spPr>
          <a:xfrm>
            <a:off x="6280190" y="349103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458903" y="3576042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150" name="Google Shape;150;p6"/>
          <p:cNvSpPr/>
          <p:nvPr/>
        </p:nvSpPr>
        <p:spPr>
          <a:xfrm>
            <a:off x="7017306" y="3491032"/>
            <a:ext cx="270748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200" u="none" cap="none" strike="noStrike"/>
          </a:p>
        </p:txBody>
      </p:sp>
      <p:sp>
        <p:nvSpPr>
          <p:cNvPr id="151" name="Google Shape;151;p6"/>
          <p:cNvSpPr/>
          <p:nvPr/>
        </p:nvSpPr>
        <p:spPr>
          <a:xfrm>
            <a:off x="7017306" y="3981450"/>
            <a:ext cx="270748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Strings are sequences of characters in Python.</a:t>
            </a:r>
            <a:endParaRPr b="0" i="0" sz="1750" u="none" cap="none" strike="noStrike"/>
          </a:p>
        </p:txBody>
      </p:sp>
      <p:sp>
        <p:nvSpPr>
          <p:cNvPr id="152" name="Google Shape;152;p6"/>
          <p:cNvSpPr/>
          <p:nvPr/>
        </p:nvSpPr>
        <p:spPr>
          <a:xfrm>
            <a:off x="9951601" y="3491032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10096857" y="3576042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154" name="Google Shape;154;p6"/>
          <p:cNvSpPr/>
          <p:nvPr/>
        </p:nvSpPr>
        <p:spPr>
          <a:xfrm>
            <a:off x="10688717" y="3491032"/>
            <a:ext cx="270748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Enclosure</a:t>
            </a:r>
            <a:endParaRPr b="0" i="0" sz="2200" u="none" cap="none" strike="noStrike"/>
          </a:p>
        </p:txBody>
      </p:sp>
      <p:sp>
        <p:nvSpPr>
          <p:cNvPr id="155" name="Google Shape;155;p6"/>
          <p:cNvSpPr/>
          <p:nvPr/>
        </p:nvSpPr>
        <p:spPr>
          <a:xfrm>
            <a:off x="10688717" y="3981450"/>
            <a:ext cx="270748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Enclosed in single or double quotes.</a:t>
            </a:r>
            <a:endParaRPr b="0" i="0" sz="1750" u="none" cap="none" strike="noStrike"/>
          </a:p>
        </p:txBody>
      </p:sp>
      <p:sp>
        <p:nvSpPr>
          <p:cNvPr id="156" name="Google Shape;156;p6"/>
          <p:cNvSpPr/>
          <p:nvPr/>
        </p:nvSpPr>
        <p:spPr>
          <a:xfrm>
            <a:off x="6280190" y="5189220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6429137" y="5274231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158" name="Google Shape;158;p6"/>
          <p:cNvSpPr/>
          <p:nvPr/>
        </p:nvSpPr>
        <p:spPr>
          <a:xfrm>
            <a:off x="7017306" y="518922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Examples</a:t>
            </a:r>
            <a:endParaRPr b="0" i="0" sz="2200" u="none" cap="none" strike="noStrike"/>
          </a:p>
        </p:txBody>
      </p:sp>
      <p:sp>
        <p:nvSpPr>
          <p:cNvPr id="159" name="Google Shape;159;p6"/>
          <p:cNvSpPr/>
          <p:nvPr/>
        </p:nvSpPr>
        <p:spPr>
          <a:xfrm>
            <a:off x="7017306" y="5679638"/>
            <a:ext cx="637877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'Hello', "Python", '123'</a:t>
            </a:r>
            <a:endParaRPr b="0" i="0" sz="1750" u="none" cap="none" strike="noStrike"/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793790" y="252853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String Operations</a:t>
            </a:r>
            <a:endParaRPr b="0" i="0" sz="4450" u="none" cap="none" strike="noStrike"/>
          </a:p>
        </p:txBody>
      </p:sp>
      <p:pic>
        <p:nvPicPr>
          <p:cNvPr descr="preencoded.png" id="167" name="Google Shape;1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69093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793790" y="44847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Concatenation</a:t>
            </a:r>
            <a:endParaRPr b="0" i="0" sz="2200" u="none" cap="none" strike="noStrike"/>
          </a:p>
        </p:txBody>
      </p:sp>
      <p:sp>
        <p:nvSpPr>
          <p:cNvPr id="169" name="Google Shape;169;p7"/>
          <p:cNvSpPr/>
          <p:nvPr/>
        </p:nvSpPr>
        <p:spPr>
          <a:xfrm>
            <a:off x="793790" y="4975146"/>
            <a:ext cx="289536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Combining strings together</a:t>
            </a:r>
            <a:endParaRPr b="0" i="0" sz="1750" u="none" cap="none" strike="noStrike"/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29313" y="369093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4029313" y="44847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Repetition</a:t>
            </a:r>
            <a:endParaRPr b="0" i="0" sz="2200" u="none" cap="none" strike="noStrike"/>
          </a:p>
        </p:txBody>
      </p:sp>
      <p:sp>
        <p:nvSpPr>
          <p:cNvPr id="172" name="Google Shape;172;p7"/>
          <p:cNvSpPr/>
          <p:nvPr/>
        </p:nvSpPr>
        <p:spPr>
          <a:xfrm>
            <a:off x="4029313" y="4975146"/>
            <a:ext cx="289548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'Ha' * 3 → 'HaHaHa'</a:t>
            </a:r>
            <a:endParaRPr b="0" i="0" sz="1750" u="none" cap="none" strike="noStrike"/>
          </a:p>
        </p:txBody>
      </p:sp>
      <p:pic>
        <p:nvPicPr>
          <p:cNvPr descr="preencoded.png" id="173" name="Google Shape;17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64956" y="369093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7"/>
          <p:cNvSpPr/>
          <p:nvPr/>
        </p:nvSpPr>
        <p:spPr>
          <a:xfrm>
            <a:off x="7264956" y="44847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Indexing</a:t>
            </a:r>
            <a:endParaRPr b="0" i="0" sz="2200" u="none" cap="none" strike="noStrike"/>
          </a:p>
        </p:txBody>
      </p:sp>
      <p:sp>
        <p:nvSpPr>
          <p:cNvPr id="175" name="Google Shape;175;p7"/>
          <p:cNvSpPr/>
          <p:nvPr/>
        </p:nvSpPr>
        <p:spPr>
          <a:xfrm>
            <a:off x="7264956" y="4975146"/>
            <a:ext cx="289548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Accessing specific characters</a:t>
            </a:r>
            <a:endParaRPr b="0" i="0" sz="1750" u="none" cap="none" strike="noStrike"/>
          </a:p>
        </p:txBody>
      </p:sp>
      <p:pic>
        <p:nvPicPr>
          <p:cNvPr descr="preencoded.png" id="176" name="Google Shape;17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00598" y="3690938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10500598" y="44847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Slicing</a:t>
            </a:r>
            <a:endParaRPr b="0" i="0" sz="2200" u="none" cap="none" strike="noStrike"/>
          </a:p>
        </p:txBody>
      </p:sp>
      <p:sp>
        <p:nvSpPr>
          <p:cNvPr id="178" name="Google Shape;178;p7"/>
          <p:cNvSpPr/>
          <p:nvPr/>
        </p:nvSpPr>
        <p:spPr>
          <a:xfrm>
            <a:off x="10500598" y="4975146"/>
            <a:ext cx="289548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Extracting parts of strings</a:t>
            </a:r>
            <a:endParaRPr b="0" i="0" sz="1750" u="none" cap="none" strike="noStrike"/>
          </a:p>
        </p:txBody>
      </p:sp>
      <p:pic>
        <p:nvPicPr>
          <p:cNvPr descr="preencoded.png" id="179" name="Google Shape;17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793790" y="2630567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3. Boolean Type</a:t>
            </a:r>
            <a:endParaRPr b="0" i="0" sz="4450" u="none" cap="none" strike="noStrike"/>
          </a:p>
        </p:txBody>
      </p:sp>
      <p:sp>
        <p:nvSpPr>
          <p:cNvPr id="186" name="Google Shape;186;p8"/>
          <p:cNvSpPr/>
          <p:nvPr/>
        </p:nvSpPr>
        <p:spPr>
          <a:xfrm>
            <a:off x="793790" y="3792974"/>
            <a:ext cx="4049554" cy="1805940"/>
          </a:xfrm>
          <a:prstGeom prst="roundRect">
            <a:avLst>
              <a:gd fmla="val 188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1020604" y="40197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20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1020604" y="4510207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Booleans represent True or False values in Python.</a:t>
            </a:r>
            <a:endParaRPr b="0" i="0" sz="175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5070157" y="3792974"/>
            <a:ext cx="4049554" cy="1805940"/>
          </a:xfrm>
          <a:prstGeom prst="roundRect">
            <a:avLst>
              <a:gd fmla="val 188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5296972" y="40197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Usage</a:t>
            </a:r>
            <a:endParaRPr b="0" i="0" sz="2200" u="none" cap="none" strike="noStrike"/>
          </a:p>
        </p:txBody>
      </p:sp>
      <p:sp>
        <p:nvSpPr>
          <p:cNvPr id="191" name="Google Shape;191;p8"/>
          <p:cNvSpPr/>
          <p:nvPr/>
        </p:nvSpPr>
        <p:spPr>
          <a:xfrm>
            <a:off x="5296972" y="4510207"/>
            <a:ext cx="3595926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Essential for decision-making and conditional statements.</a:t>
            </a:r>
            <a:endParaRPr b="0" i="0" sz="175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9346525" y="3792974"/>
            <a:ext cx="4049554" cy="1805940"/>
          </a:xfrm>
          <a:prstGeom prst="roundRect">
            <a:avLst>
              <a:gd fmla="val 188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9573339" y="401978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Examples</a:t>
            </a:r>
            <a:endParaRPr b="0" i="0" sz="2200" u="none" cap="none" strike="noStrike"/>
          </a:p>
        </p:txBody>
      </p:sp>
      <p:sp>
        <p:nvSpPr>
          <p:cNvPr id="194" name="Google Shape;194;p8"/>
          <p:cNvSpPr/>
          <p:nvPr/>
        </p:nvSpPr>
        <p:spPr>
          <a:xfrm>
            <a:off x="9573339" y="4510207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is_python_easy = True</a:t>
            </a:r>
            <a:endParaRPr b="0" i="0" sz="1750" u="none" cap="none" strike="noStrike"/>
          </a:p>
        </p:txBody>
      </p:sp>
      <p:sp>
        <p:nvSpPr>
          <p:cNvPr id="195" name="Google Shape;195;p8"/>
          <p:cNvSpPr/>
          <p:nvPr/>
        </p:nvSpPr>
        <p:spPr>
          <a:xfrm>
            <a:off x="9573339" y="5009198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likes_coffee = False</a:t>
            </a:r>
            <a:endParaRPr b="0" i="0" sz="1750" u="none" cap="none" strike="noStrike"/>
          </a:p>
        </p:txBody>
      </p:sp>
      <p:pic>
        <p:nvPicPr>
          <p:cNvPr descr="preencoded.png"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793790" y="288012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4. NoneType</a:t>
            </a:r>
            <a:endParaRPr b="0" i="0" sz="445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793790" y="4042529"/>
            <a:ext cx="6187797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1020604" y="42693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20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1020604" y="4759762"/>
            <a:ext cx="573416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Represents the absence of a value</a:t>
            </a:r>
            <a:endParaRPr b="0" i="0" sz="175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7208401" y="4042529"/>
            <a:ext cx="6187797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7435215" y="426934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220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7435215" y="4759762"/>
            <a:ext cx="573416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nothing_here = None</a:t>
            </a:r>
            <a:endParaRPr b="0" i="0" sz="1750" u="none" cap="none" strike="noStrike"/>
          </a:p>
        </p:txBody>
      </p:sp>
      <p:pic>
        <p:nvPicPr>
          <p:cNvPr descr="preencoded.png" id="209" name="Google Shape;20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793790" y="1804154"/>
            <a:ext cx="654748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5. Collections Overview</a:t>
            </a:r>
            <a:endParaRPr b="0" i="0" sz="4450" u="none" cap="none" strike="noStrike"/>
          </a:p>
        </p:txBody>
      </p:sp>
      <p:sp>
        <p:nvSpPr>
          <p:cNvPr id="216" name="Google Shape;216;p10"/>
          <p:cNvSpPr/>
          <p:nvPr/>
        </p:nvSpPr>
        <p:spPr>
          <a:xfrm>
            <a:off x="793790" y="2966561"/>
            <a:ext cx="126022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Python has four primary built-in collections:</a:t>
            </a:r>
            <a:endParaRPr b="0" i="0" sz="1750" u="none" cap="none" strike="noStrike"/>
          </a:p>
        </p:txBody>
      </p:sp>
      <p:sp>
        <p:nvSpPr>
          <p:cNvPr id="217" name="Google Shape;217;p10"/>
          <p:cNvSpPr/>
          <p:nvPr/>
        </p:nvSpPr>
        <p:spPr>
          <a:xfrm>
            <a:off x="793790" y="3584615"/>
            <a:ext cx="6187797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1020604" y="38114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List</a:t>
            </a:r>
            <a:endParaRPr b="0" i="0" sz="2200" u="none" cap="none" strike="noStrike"/>
          </a:p>
        </p:txBody>
      </p:sp>
      <p:sp>
        <p:nvSpPr>
          <p:cNvPr id="219" name="Google Shape;219;p10"/>
          <p:cNvSpPr/>
          <p:nvPr/>
        </p:nvSpPr>
        <p:spPr>
          <a:xfrm>
            <a:off x="1020604" y="4301847"/>
            <a:ext cx="573416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Ordered, mutable sequence</a:t>
            </a:r>
            <a:endParaRPr b="0" i="0" sz="1750" u="none" cap="none" strike="noStrike"/>
          </a:p>
        </p:txBody>
      </p:sp>
      <p:sp>
        <p:nvSpPr>
          <p:cNvPr id="220" name="Google Shape;220;p10"/>
          <p:cNvSpPr/>
          <p:nvPr/>
        </p:nvSpPr>
        <p:spPr>
          <a:xfrm>
            <a:off x="7208401" y="3584615"/>
            <a:ext cx="6187797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7435215" y="3811429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Tuple</a:t>
            </a:r>
            <a:endParaRPr b="0" i="0" sz="2200" u="none" cap="none" strike="noStrike"/>
          </a:p>
        </p:txBody>
      </p:sp>
      <p:sp>
        <p:nvSpPr>
          <p:cNvPr id="222" name="Google Shape;222;p10"/>
          <p:cNvSpPr/>
          <p:nvPr/>
        </p:nvSpPr>
        <p:spPr>
          <a:xfrm>
            <a:off x="7435215" y="4301847"/>
            <a:ext cx="573416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Ordered, immutable sequence</a:t>
            </a:r>
            <a:endParaRPr b="0" i="0" sz="1750" u="none" cap="none" strike="noStrike"/>
          </a:p>
        </p:txBody>
      </p:sp>
      <p:sp>
        <p:nvSpPr>
          <p:cNvPr id="223" name="Google Shape;223;p10"/>
          <p:cNvSpPr/>
          <p:nvPr/>
        </p:nvSpPr>
        <p:spPr>
          <a:xfrm>
            <a:off x="793790" y="5118378"/>
            <a:ext cx="6187797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1020604" y="53451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Dictionary</a:t>
            </a:r>
            <a:endParaRPr b="0" i="0" sz="2200" u="none" cap="none" strike="noStrike"/>
          </a:p>
        </p:txBody>
      </p:sp>
      <p:sp>
        <p:nvSpPr>
          <p:cNvPr id="225" name="Google Shape;225;p10"/>
          <p:cNvSpPr/>
          <p:nvPr/>
        </p:nvSpPr>
        <p:spPr>
          <a:xfrm>
            <a:off x="1020604" y="5835610"/>
            <a:ext cx="573416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Unordered key-value pairs</a:t>
            </a:r>
            <a:endParaRPr b="0" i="0" sz="1750" u="none" cap="none" strike="noStrike"/>
          </a:p>
        </p:txBody>
      </p:sp>
      <p:sp>
        <p:nvSpPr>
          <p:cNvPr id="226" name="Google Shape;226;p10"/>
          <p:cNvSpPr/>
          <p:nvPr/>
        </p:nvSpPr>
        <p:spPr>
          <a:xfrm>
            <a:off x="7208401" y="5118378"/>
            <a:ext cx="6187797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7435215" y="53451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Set</a:t>
            </a:r>
            <a:endParaRPr b="0" i="0" sz="2200" u="none" cap="none" strike="noStrike"/>
          </a:p>
        </p:txBody>
      </p:sp>
      <p:sp>
        <p:nvSpPr>
          <p:cNvPr id="228" name="Google Shape;228;p10"/>
          <p:cNvSpPr/>
          <p:nvPr/>
        </p:nvSpPr>
        <p:spPr>
          <a:xfrm>
            <a:off x="7435215" y="5835610"/>
            <a:ext cx="573416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Unordered, unique elements</a:t>
            </a:r>
            <a:endParaRPr b="0" i="0" sz="1750" u="none" cap="none" strike="noStrike"/>
          </a:p>
        </p:txBody>
      </p:sp>
      <p:pic>
        <p:nvPicPr>
          <p:cNvPr descr="preencoded.png" id="229" name="Google Shape;2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793790" y="2854643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Type: List</a:t>
            </a:r>
            <a:endParaRPr b="0" i="0" sz="4450" u="none" cap="none" strike="noStrike"/>
          </a:p>
        </p:txBody>
      </p:sp>
      <p:sp>
        <p:nvSpPr>
          <p:cNvPr id="236" name="Google Shape;236;p11"/>
          <p:cNvSpPr/>
          <p:nvPr/>
        </p:nvSpPr>
        <p:spPr>
          <a:xfrm>
            <a:off x="793790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972503" y="4243745"/>
            <a:ext cx="152757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</a:t>
            </a:r>
            <a:endParaRPr b="0" i="0" sz="2650" u="none" cap="none" strike="noStrike"/>
          </a:p>
        </p:txBody>
      </p:sp>
      <p:sp>
        <p:nvSpPr>
          <p:cNvPr id="238" name="Google Shape;238;p11"/>
          <p:cNvSpPr/>
          <p:nvPr/>
        </p:nvSpPr>
        <p:spPr>
          <a:xfrm>
            <a:off x="1530906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Ordered Collection</a:t>
            </a:r>
            <a:endParaRPr b="0" i="0" sz="2200" u="none" cap="none" strike="noStrike"/>
          </a:p>
        </p:txBody>
      </p:sp>
      <p:sp>
        <p:nvSpPr>
          <p:cNvPr id="239" name="Google Shape;239;p11"/>
          <p:cNvSpPr/>
          <p:nvPr/>
        </p:nvSpPr>
        <p:spPr>
          <a:xfrm>
            <a:off x="1530906" y="4649153"/>
            <a:ext cx="331243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Lists maintain the order of items.</a:t>
            </a:r>
            <a:endParaRPr b="0" i="0" sz="1750" u="none" cap="none" strike="noStrike"/>
          </a:p>
        </p:txBody>
      </p:sp>
      <p:sp>
        <p:nvSpPr>
          <p:cNvPr id="240" name="Google Shape;240;p11"/>
          <p:cNvSpPr/>
          <p:nvPr/>
        </p:nvSpPr>
        <p:spPr>
          <a:xfrm>
            <a:off x="5070157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5215414" y="4243745"/>
            <a:ext cx="219789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</a:t>
            </a:r>
            <a:endParaRPr b="0" i="0" sz="2650" u="none" cap="none" strike="noStrike"/>
          </a:p>
        </p:txBody>
      </p:sp>
      <p:sp>
        <p:nvSpPr>
          <p:cNvPr id="242" name="Google Shape;242;p11"/>
          <p:cNvSpPr/>
          <p:nvPr/>
        </p:nvSpPr>
        <p:spPr>
          <a:xfrm>
            <a:off x="5807273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Mutable</a:t>
            </a:r>
            <a:endParaRPr b="0" i="0" sz="2200" u="none" cap="none" strike="noStrike"/>
          </a:p>
        </p:txBody>
      </p:sp>
      <p:sp>
        <p:nvSpPr>
          <p:cNvPr id="243" name="Google Shape;243;p11"/>
          <p:cNvSpPr/>
          <p:nvPr/>
        </p:nvSpPr>
        <p:spPr>
          <a:xfrm>
            <a:off x="5807273" y="4649153"/>
            <a:ext cx="331243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Can be modified after creation.</a:t>
            </a:r>
            <a:endParaRPr b="0" i="0" sz="1750" u="none" cap="none" strike="noStrike"/>
          </a:p>
        </p:txBody>
      </p:sp>
      <p:sp>
        <p:nvSpPr>
          <p:cNvPr id="244" name="Google Shape;244;p11"/>
          <p:cNvSpPr/>
          <p:nvPr/>
        </p:nvSpPr>
        <p:spPr>
          <a:xfrm>
            <a:off x="9346525" y="4158734"/>
            <a:ext cx="510302" cy="510302"/>
          </a:xfrm>
          <a:prstGeom prst="roundRect">
            <a:avLst>
              <a:gd fmla="val 6667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9495473" y="4243745"/>
            <a:ext cx="212288" cy="340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</a:t>
            </a:r>
            <a:endParaRPr b="0" i="0" sz="2650" u="none" cap="none" strike="noStrike"/>
          </a:p>
        </p:txBody>
      </p:sp>
      <p:sp>
        <p:nvSpPr>
          <p:cNvPr id="246" name="Google Shape;246;p11"/>
          <p:cNvSpPr/>
          <p:nvPr/>
        </p:nvSpPr>
        <p:spPr>
          <a:xfrm>
            <a:off x="10083641" y="415873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Examples</a:t>
            </a:r>
            <a:endParaRPr b="0" i="0" sz="2200" u="none" cap="none" strike="noStrike"/>
          </a:p>
        </p:txBody>
      </p:sp>
      <p:sp>
        <p:nvSpPr>
          <p:cNvPr id="247" name="Google Shape;247;p11"/>
          <p:cNvSpPr/>
          <p:nvPr/>
        </p:nvSpPr>
        <p:spPr>
          <a:xfrm>
            <a:off x="10083641" y="4649153"/>
            <a:ext cx="331243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[1, 2, 3], ['apple', 'banana', 'cherry']</a:t>
            </a:r>
            <a:endParaRPr b="0" i="0" sz="1750" u="none" cap="none" strike="noStrike"/>
          </a:p>
        </p:txBody>
      </p:sp>
      <p:pic>
        <p:nvPicPr>
          <p:cNvPr descr="preencoded.png" id="248" name="Google Shape;2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793790" y="2310289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Type: Tuple</a:t>
            </a:r>
            <a:endParaRPr b="0" i="0" sz="4450" u="none" cap="none" strike="noStrike"/>
          </a:p>
        </p:txBody>
      </p:sp>
      <p:pic>
        <p:nvPicPr>
          <p:cNvPr descr="preencoded.png" id="255" name="Google Shape;2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472696"/>
            <a:ext cx="4200763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/>
          <p:nvPr/>
        </p:nvSpPr>
        <p:spPr>
          <a:xfrm>
            <a:off x="1020604" y="47201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Ordered</a:t>
            </a:r>
            <a:endParaRPr b="0" i="0" sz="2200" u="none" cap="none" strike="noStrike"/>
          </a:p>
        </p:txBody>
      </p:sp>
      <p:pic>
        <p:nvPicPr>
          <p:cNvPr descr="preencoded.png" id="257" name="Google Shape;2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94553" y="3472696"/>
            <a:ext cx="4200763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/>
          <p:nvPr/>
        </p:nvSpPr>
        <p:spPr>
          <a:xfrm>
            <a:off x="5221367" y="47201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Immutable</a:t>
            </a:r>
            <a:endParaRPr b="0" i="0" sz="2200" u="none" cap="none" strike="noStrike"/>
          </a:p>
        </p:txBody>
      </p:sp>
      <p:pic>
        <p:nvPicPr>
          <p:cNvPr descr="preencoded.png" id="259" name="Google Shape;25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5316" y="3472696"/>
            <a:ext cx="4200763" cy="90725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/>
          <p:nvPr/>
        </p:nvSpPr>
        <p:spPr>
          <a:xfrm>
            <a:off x="9422130" y="472011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Efficient</a:t>
            </a:r>
            <a:endParaRPr b="0" i="0" sz="2200" u="none" cap="none" strike="noStrike"/>
          </a:p>
        </p:txBody>
      </p:sp>
      <p:sp>
        <p:nvSpPr>
          <p:cNvPr id="261" name="Google Shape;261;p12"/>
          <p:cNvSpPr/>
          <p:nvPr/>
        </p:nvSpPr>
        <p:spPr>
          <a:xfrm>
            <a:off x="793790" y="5556409"/>
            <a:ext cx="126022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Tuples are like lists, but can't be changed after creation. Examples: (1, 2, 3), ('red', 'green', 'blue')</a:t>
            </a:r>
            <a:endParaRPr b="0" i="0" sz="1750" u="none" cap="none" strike="noStrike"/>
          </a:p>
        </p:txBody>
      </p:sp>
      <p:pic>
        <p:nvPicPr>
          <p:cNvPr descr="preencoded.png" id="262" name="Google Shape;26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793790" y="2936796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Type: Set</a:t>
            </a:r>
            <a:endParaRPr b="0" i="0" sz="4450" u="none" cap="none" strike="noStrike"/>
          </a:p>
        </p:txBody>
      </p:sp>
      <p:sp>
        <p:nvSpPr>
          <p:cNvPr id="269" name="Google Shape;269;p13"/>
          <p:cNvSpPr/>
          <p:nvPr/>
        </p:nvSpPr>
        <p:spPr>
          <a:xfrm>
            <a:off x="793790" y="3985736"/>
            <a:ext cx="4049554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1020604" y="42125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Unordered</a:t>
            </a:r>
            <a:endParaRPr b="0" i="0" sz="2200" u="none" cap="none" strike="noStrike"/>
          </a:p>
        </p:txBody>
      </p:sp>
      <p:sp>
        <p:nvSpPr>
          <p:cNvPr id="271" name="Google Shape;271;p13"/>
          <p:cNvSpPr/>
          <p:nvPr/>
        </p:nvSpPr>
        <p:spPr>
          <a:xfrm>
            <a:off x="1020604" y="4702969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Sets don't maintain a specific order.</a:t>
            </a:r>
            <a:endParaRPr b="0" i="0" sz="1750" u="none" cap="none" strike="noStrike"/>
          </a:p>
        </p:txBody>
      </p:sp>
      <p:sp>
        <p:nvSpPr>
          <p:cNvPr id="272" name="Google Shape;272;p13"/>
          <p:cNvSpPr/>
          <p:nvPr/>
        </p:nvSpPr>
        <p:spPr>
          <a:xfrm>
            <a:off x="5070157" y="3985736"/>
            <a:ext cx="4049554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5296972" y="42125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Unique Items</a:t>
            </a:r>
            <a:endParaRPr b="0" i="0" sz="2200" u="none" cap="none" strike="noStrike"/>
          </a:p>
        </p:txBody>
      </p:sp>
      <p:sp>
        <p:nvSpPr>
          <p:cNvPr id="274" name="Google Shape;274;p13"/>
          <p:cNvSpPr/>
          <p:nvPr/>
        </p:nvSpPr>
        <p:spPr>
          <a:xfrm>
            <a:off x="5296972" y="4702969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 duplicates allowed in sets.</a:t>
            </a:r>
            <a:endParaRPr b="0" i="0" sz="1750" u="none" cap="none" strike="noStrike"/>
          </a:p>
        </p:txBody>
      </p:sp>
      <p:sp>
        <p:nvSpPr>
          <p:cNvPr id="275" name="Google Shape;275;p13"/>
          <p:cNvSpPr/>
          <p:nvPr/>
        </p:nvSpPr>
        <p:spPr>
          <a:xfrm>
            <a:off x="9346525" y="3985736"/>
            <a:ext cx="4049554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9573339" y="42125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2200" u="none" cap="none" strike="noStrike"/>
          </a:p>
        </p:txBody>
      </p:sp>
      <p:sp>
        <p:nvSpPr>
          <p:cNvPr id="277" name="Google Shape;277;p13"/>
          <p:cNvSpPr/>
          <p:nvPr/>
        </p:nvSpPr>
        <p:spPr>
          <a:xfrm>
            <a:off x="9573339" y="4702969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{1, 2, 3}</a:t>
            </a:r>
            <a:endParaRPr b="0" i="0" sz="1750" u="none" cap="none" strike="noStrike"/>
          </a:p>
        </p:txBody>
      </p:sp>
      <p:pic>
        <p:nvPicPr>
          <p:cNvPr descr="preencoded.png" id="278" name="Google Shape;2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/>
          <p:nvPr/>
        </p:nvSpPr>
        <p:spPr>
          <a:xfrm>
            <a:off x="793790" y="1549003"/>
            <a:ext cx="6126242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Data Type: Dictionary</a:t>
            </a:r>
            <a:endParaRPr b="0" i="0" sz="4450" u="none" cap="none" strike="noStrike"/>
          </a:p>
        </p:txBody>
      </p:sp>
      <p:pic>
        <p:nvPicPr>
          <p:cNvPr descr="preencoded.png" id="285" name="Google Shape;2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97944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4"/>
          <p:cNvSpPr/>
          <p:nvPr/>
        </p:nvSpPr>
        <p:spPr>
          <a:xfrm>
            <a:off x="2268022" y="282475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Key-Value Pairs</a:t>
            </a:r>
            <a:endParaRPr b="0" i="0" sz="2200" u="none" cap="none" strike="noStrike"/>
          </a:p>
        </p:txBody>
      </p:sp>
      <p:sp>
        <p:nvSpPr>
          <p:cNvPr id="287" name="Google Shape;287;p14"/>
          <p:cNvSpPr/>
          <p:nvPr/>
        </p:nvSpPr>
        <p:spPr>
          <a:xfrm>
            <a:off x="2268022" y="3315176"/>
            <a:ext cx="111280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Dictionaries store data in key-value format.</a:t>
            </a:r>
            <a:endParaRPr b="0" i="0" sz="1750" u="none" cap="none" strike="noStrike"/>
          </a:p>
        </p:txBody>
      </p:sp>
      <p:pic>
        <p:nvPicPr>
          <p:cNvPr descr="preencoded.png" id="288" name="Google Shape;28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958828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4"/>
          <p:cNvSpPr/>
          <p:nvPr/>
        </p:nvSpPr>
        <p:spPr>
          <a:xfrm>
            <a:off x="2268022" y="418564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Flexible</a:t>
            </a:r>
            <a:endParaRPr b="0" i="0" sz="2200" u="none" cap="none" strike="noStrike"/>
          </a:p>
        </p:txBody>
      </p:sp>
      <p:sp>
        <p:nvSpPr>
          <p:cNvPr id="290" name="Google Shape;290;p14"/>
          <p:cNvSpPr/>
          <p:nvPr/>
        </p:nvSpPr>
        <p:spPr>
          <a:xfrm>
            <a:off x="2268022" y="4676061"/>
            <a:ext cx="111280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Can store various data types.</a:t>
            </a:r>
            <a:endParaRPr b="0" i="0" sz="1750" u="none" cap="none" strike="noStrike"/>
          </a:p>
        </p:txBody>
      </p:sp>
      <p:pic>
        <p:nvPicPr>
          <p:cNvPr descr="preencoded.png" id="291" name="Google Shape;29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319713"/>
            <a:ext cx="1134070" cy="1360884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4"/>
          <p:cNvSpPr/>
          <p:nvPr/>
        </p:nvSpPr>
        <p:spPr>
          <a:xfrm>
            <a:off x="2268022" y="554652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</a:t>
            </a:r>
            <a:endParaRPr b="0" i="0" sz="2200" u="none" cap="none" strike="noStrike"/>
          </a:p>
        </p:txBody>
      </p:sp>
      <p:sp>
        <p:nvSpPr>
          <p:cNvPr id="293" name="Google Shape;293;p14"/>
          <p:cNvSpPr/>
          <p:nvPr/>
        </p:nvSpPr>
        <p:spPr>
          <a:xfrm>
            <a:off x="2268022" y="6036945"/>
            <a:ext cx="1112805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{'name': 'Alice', 'age': 25}</a:t>
            </a:r>
            <a:endParaRPr b="0" i="0" sz="1750" u="none" cap="none" strike="noStrike"/>
          </a:p>
        </p:txBody>
      </p:sp>
      <p:pic>
        <p:nvPicPr>
          <p:cNvPr descr="preencoded.png" id="294" name="Google Shape;29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"/>
          <p:cNvSpPr/>
          <p:nvPr/>
        </p:nvSpPr>
        <p:spPr>
          <a:xfrm>
            <a:off x="793790" y="2571036"/>
            <a:ext cx="7927538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6. Type Conversion (Casting)</a:t>
            </a:r>
            <a:endParaRPr b="0" i="0" sz="4450" u="none" cap="none" strike="noStrike"/>
          </a:p>
        </p:txBody>
      </p:sp>
      <p:sp>
        <p:nvSpPr>
          <p:cNvPr id="301" name="Google Shape;301;p15"/>
          <p:cNvSpPr/>
          <p:nvPr/>
        </p:nvSpPr>
        <p:spPr>
          <a:xfrm>
            <a:off x="793790" y="3733443"/>
            <a:ext cx="1260228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Converting between data types using built-in functions:</a:t>
            </a:r>
            <a:endParaRPr b="0" i="0" sz="1750" u="none" cap="none" strike="noStrike"/>
          </a:p>
        </p:txBody>
      </p:sp>
      <p:sp>
        <p:nvSpPr>
          <p:cNvPr id="302" name="Google Shape;302;p15"/>
          <p:cNvSpPr/>
          <p:nvPr/>
        </p:nvSpPr>
        <p:spPr>
          <a:xfrm>
            <a:off x="793790" y="4351496"/>
            <a:ext cx="4049554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1020604" y="45783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String to Integer</a:t>
            </a:r>
            <a:endParaRPr b="0" i="0" sz="2200" u="none" cap="none" strike="noStrike"/>
          </a:p>
        </p:txBody>
      </p:sp>
      <p:sp>
        <p:nvSpPr>
          <p:cNvPr id="304" name="Google Shape;304;p15"/>
          <p:cNvSpPr/>
          <p:nvPr/>
        </p:nvSpPr>
        <p:spPr>
          <a:xfrm>
            <a:off x="1020604" y="5068729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int('100') → 100</a:t>
            </a:r>
            <a:endParaRPr b="0" i="0" sz="1750" u="none" cap="none" strike="noStrike"/>
          </a:p>
        </p:txBody>
      </p:sp>
      <p:sp>
        <p:nvSpPr>
          <p:cNvPr id="305" name="Google Shape;305;p15"/>
          <p:cNvSpPr/>
          <p:nvPr/>
        </p:nvSpPr>
        <p:spPr>
          <a:xfrm>
            <a:off x="5070157" y="4351496"/>
            <a:ext cx="4049554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5296972" y="45783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Integer to Float</a:t>
            </a:r>
            <a:endParaRPr b="0" i="0" sz="2200" u="none" cap="none" strike="noStrike"/>
          </a:p>
        </p:txBody>
      </p:sp>
      <p:sp>
        <p:nvSpPr>
          <p:cNvPr id="307" name="Google Shape;307;p15"/>
          <p:cNvSpPr/>
          <p:nvPr/>
        </p:nvSpPr>
        <p:spPr>
          <a:xfrm>
            <a:off x="5296972" y="5068729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float(42) → 42.0</a:t>
            </a:r>
            <a:endParaRPr b="0" i="0" sz="1750" u="none" cap="none" strike="noStrike"/>
          </a:p>
        </p:txBody>
      </p:sp>
      <p:sp>
        <p:nvSpPr>
          <p:cNvPr id="308" name="Google Shape;308;p15"/>
          <p:cNvSpPr/>
          <p:nvPr/>
        </p:nvSpPr>
        <p:spPr>
          <a:xfrm>
            <a:off x="9346525" y="4351496"/>
            <a:ext cx="4049554" cy="1306949"/>
          </a:xfrm>
          <a:prstGeom prst="roundRect">
            <a:avLst>
              <a:gd fmla="val 2603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9573339" y="457831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Integer to String</a:t>
            </a:r>
            <a:endParaRPr b="0" i="0" sz="2200" u="none" cap="none" strike="noStrike"/>
          </a:p>
        </p:txBody>
      </p:sp>
      <p:sp>
        <p:nvSpPr>
          <p:cNvPr id="310" name="Google Shape;310;p15"/>
          <p:cNvSpPr/>
          <p:nvPr/>
        </p:nvSpPr>
        <p:spPr>
          <a:xfrm>
            <a:off x="9573339" y="5068729"/>
            <a:ext cx="3595926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str(42) → '42'</a:t>
            </a:r>
            <a:endParaRPr b="0" i="0" sz="1750" u="none" cap="none" strike="noStrike"/>
          </a:p>
        </p:txBody>
      </p:sp>
      <p:pic>
        <p:nvPicPr>
          <p:cNvPr descr="preencoded.png" id="311" name="Google Shape;3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"/>
          <p:cNvSpPr/>
          <p:nvPr/>
        </p:nvSpPr>
        <p:spPr>
          <a:xfrm>
            <a:off x="683895" y="538996"/>
            <a:ext cx="12712184" cy="7151489"/>
          </a:xfrm>
          <a:prstGeom prst="roundRect">
            <a:avLst>
              <a:gd fmla="val 410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6"/>
          <p:cNvSpPr/>
          <p:nvPr/>
        </p:nvSpPr>
        <p:spPr>
          <a:xfrm>
            <a:off x="691515" y="546616"/>
            <a:ext cx="12699444" cy="562094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>
            <a:off x="886897" y="671393"/>
            <a:ext cx="172200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Property</a:t>
            </a:r>
            <a:endParaRPr b="0" i="0" sz="1500" u="none" cap="none" strike="noStrike"/>
          </a:p>
        </p:txBody>
      </p:sp>
      <p:sp>
        <p:nvSpPr>
          <p:cNvPr id="320" name="Google Shape;320;p16"/>
          <p:cNvSpPr/>
          <p:nvPr/>
        </p:nvSpPr>
        <p:spPr>
          <a:xfrm>
            <a:off x="3007281" y="671393"/>
            <a:ext cx="171819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endParaRPr b="0" i="0" sz="1500" u="none" cap="none" strike="noStrike"/>
          </a:p>
        </p:txBody>
      </p:sp>
      <p:sp>
        <p:nvSpPr>
          <p:cNvPr id="321" name="Google Shape;321;p16"/>
          <p:cNvSpPr/>
          <p:nvPr/>
        </p:nvSpPr>
        <p:spPr>
          <a:xfrm>
            <a:off x="5123855" y="671393"/>
            <a:ext cx="171819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b="0" i="0" sz="1500" u="none" cap="none" strike="noStrike"/>
          </a:p>
        </p:txBody>
      </p:sp>
      <p:sp>
        <p:nvSpPr>
          <p:cNvPr id="322" name="Google Shape;322;p16"/>
          <p:cNvSpPr/>
          <p:nvPr/>
        </p:nvSpPr>
        <p:spPr>
          <a:xfrm>
            <a:off x="7240429" y="671393"/>
            <a:ext cx="171819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Tuple</a:t>
            </a:r>
            <a:endParaRPr b="0" i="0" sz="1500" u="none" cap="none" strike="noStrike"/>
          </a:p>
        </p:txBody>
      </p:sp>
      <p:sp>
        <p:nvSpPr>
          <p:cNvPr id="323" name="Google Shape;323;p16"/>
          <p:cNvSpPr/>
          <p:nvPr/>
        </p:nvSpPr>
        <p:spPr>
          <a:xfrm>
            <a:off x="9357003" y="671393"/>
            <a:ext cx="171819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endParaRPr b="0" i="0" sz="1500" u="none" cap="none" strike="noStrike"/>
          </a:p>
        </p:txBody>
      </p:sp>
      <p:sp>
        <p:nvSpPr>
          <p:cNvPr id="324" name="Google Shape;324;p16"/>
          <p:cNvSpPr/>
          <p:nvPr/>
        </p:nvSpPr>
        <p:spPr>
          <a:xfrm>
            <a:off x="11473577" y="671393"/>
            <a:ext cx="172200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Dictionary</a:t>
            </a:r>
            <a:endParaRPr b="0" i="0" sz="1500" u="none" cap="none" strike="noStrike"/>
          </a:p>
        </p:txBody>
      </p:sp>
      <p:sp>
        <p:nvSpPr>
          <p:cNvPr id="325" name="Google Shape;325;p16"/>
          <p:cNvSpPr/>
          <p:nvPr/>
        </p:nvSpPr>
        <p:spPr>
          <a:xfrm>
            <a:off x="691515" y="1108710"/>
            <a:ext cx="12699444" cy="118717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"/>
          <p:cNvSpPr/>
          <p:nvPr/>
        </p:nvSpPr>
        <p:spPr>
          <a:xfrm>
            <a:off x="886897" y="1233487"/>
            <a:ext cx="172200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0" i="0" sz="1500" u="none" cap="none" strike="noStrike"/>
          </a:p>
        </p:txBody>
      </p:sp>
      <p:sp>
        <p:nvSpPr>
          <p:cNvPr id="327" name="Google Shape;327;p16"/>
          <p:cNvSpPr/>
          <p:nvPr/>
        </p:nvSpPr>
        <p:spPr>
          <a:xfrm>
            <a:off x="3007281" y="1233487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Ordered sequence of characters</a:t>
            </a:r>
            <a:endParaRPr b="0" i="0" sz="1500" u="none" cap="none" strike="noStrike"/>
          </a:p>
        </p:txBody>
      </p:sp>
      <p:sp>
        <p:nvSpPr>
          <p:cNvPr id="328" name="Google Shape;328;p16"/>
          <p:cNvSpPr/>
          <p:nvPr/>
        </p:nvSpPr>
        <p:spPr>
          <a:xfrm>
            <a:off x="5123855" y="1233487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Ordered collection of items</a:t>
            </a:r>
            <a:endParaRPr b="0" i="0" sz="1500" u="none" cap="none" strike="noStrike"/>
          </a:p>
        </p:txBody>
      </p:sp>
      <p:sp>
        <p:nvSpPr>
          <p:cNvPr id="329" name="Google Shape;329;p16"/>
          <p:cNvSpPr/>
          <p:nvPr/>
        </p:nvSpPr>
        <p:spPr>
          <a:xfrm>
            <a:off x="7240429" y="1233487"/>
            <a:ext cx="1718191" cy="937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Ordered, immutable collection</a:t>
            </a:r>
            <a:endParaRPr b="0" i="0" sz="1500" u="none" cap="none" strike="noStrike"/>
          </a:p>
        </p:txBody>
      </p:sp>
      <p:sp>
        <p:nvSpPr>
          <p:cNvPr id="330" name="Google Shape;330;p16"/>
          <p:cNvSpPr/>
          <p:nvPr/>
        </p:nvSpPr>
        <p:spPr>
          <a:xfrm>
            <a:off x="9357003" y="1233487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Unordered, unique items</a:t>
            </a:r>
            <a:endParaRPr b="0" i="0" sz="1500" u="none" cap="none" strike="noStrike"/>
          </a:p>
        </p:txBody>
      </p:sp>
      <p:sp>
        <p:nvSpPr>
          <p:cNvPr id="331" name="Google Shape;331;p16"/>
          <p:cNvSpPr/>
          <p:nvPr/>
        </p:nvSpPr>
        <p:spPr>
          <a:xfrm>
            <a:off x="11473577" y="1233487"/>
            <a:ext cx="172200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Unordered, key-value pairs</a:t>
            </a:r>
            <a:endParaRPr b="0" i="0" sz="1500" u="none" cap="none" strike="noStrike"/>
          </a:p>
        </p:txBody>
      </p:sp>
      <p:sp>
        <p:nvSpPr>
          <p:cNvPr id="332" name="Google Shape;332;p16"/>
          <p:cNvSpPr/>
          <p:nvPr/>
        </p:nvSpPr>
        <p:spPr>
          <a:xfrm>
            <a:off x="691515" y="2295882"/>
            <a:ext cx="12699444" cy="123289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886897" y="2420660"/>
            <a:ext cx="172200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b="0" i="0" sz="1500" u="none" cap="none" strike="noStrike"/>
          </a:p>
        </p:txBody>
      </p:sp>
      <p:sp>
        <p:nvSpPr>
          <p:cNvPr id="334" name="Google Shape;334;p16"/>
          <p:cNvSpPr/>
          <p:nvPr/>
        </p:nvSpPr>
        <p:spPr>
          <a:xfrm>
            <a:off x="3007281" y="2420660"/>
            <a:ext cx="1718191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'Hello'</a:t>
            </a:r>
            <a:endParaRPr b="0" i="0" sz="1500" u="none" cap="none" strike="noStrike"/>
          </a:p>
        </p:txBody>
      </p:sp>
      <p:sp>
        <p:nvSpPr>
          <p:cNvPr id="335" name="Google Shape;335;p16"/>
          <p:cNvSpPr/>
          <p:nvPr/>
        </p:nvSpPr>
        <p:spPr>
          <a:xfrm>
            <a:off x="5123855" y="2420660"/>
            <a:ext cx="1718191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[1, 2, 3]</a:t>
            </a:r>
            <a:endParaRPr b="0" i="0" sz="1500" u="none" cap="none" strike="noStrike"/>
          </a:p>
        </p:txBody>
      </p:sp>
      <p:sp>
        <p:nvSpPr>
          <p:cNvPr id="336" name="Google Shape;336;p16"/>
          <p:cNvSpPr/>
          <p:nvPr/>
        </p:nvSpPr>
        <p:spPr>
          <a:xfrm>
            <a:off x="7240429" y="2420660"/>
            <a:ext cx="1718191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(1, 2, 3)</a:t>
            </a:r>
            <a:endParaRPr b="0" i="0" sz="1500" u="none" cap="none" strike="noStrike"/>
          </a:p>
        </p:txBody>
      </p:sp>
      <p:sp>
        <p:nvSpPr>
          <p:cNvPr id="337" name="Google Shape;337;p16"/>
          <p:cNvSpPr/>
          <p:nvPr/>
        </p:nvSpPr>
        <p:spPr>
          <a:xfrm>
            <a:off x="9357003" y="2420660"/>
            <a:ext cx="1718191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{1, 2, 3}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set([...])</a:t>
            </a:r>
            <a:endParaRPr b="0" i="0" sz="1500" u="none" cap="none" strike="noStrike"/>
          </a:p>
        </p:txBody>
      </p:sp>
      <p:sp>
        <p:nvSpPr>
          <p:cNvPr id="338" name="Google Shape;338;p16"/>
          <p:cNvSpPr/>
          <p:nvPr/>
        </p:nvSpPr>
        <p:spPr>
          <a:xfrm>
            <a:off x="11473577" y="2420660"/>
            <a:ext cx="1722001" cy="98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{"key": 1, "another": 2}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dict()</a:t>
            </a:r>
            <a:endParaRPr b="0" i="0" sz="1500" u="none" cap="none" strike="noStrike"/>
          </a:p>
        </p:txBody>
      </p:sp>
      <p:sp>
        <p:nvSpPr>
          <p:cNvPr id="339" name="Google Shape;339;p16"/>
          <p:cNvSpPr/>
          <p:nvPr/>
        </p:nvSpPr>
        <p:spPr>
          <a:xfrm>
            <a:off x="691515" y="3528774"/>
            <a:ext cx="12699444" cy="118717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886897" y="3653552"/>
            <a:ext cx="172200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Duplicates</a:t>
            </a:r>
            <a:endParaRPr b="0" i="0" sz="1500" u="none" cap="none" strike="noStrike"/>
          </a:p>
        </p:txBody>
      </p:sp>
      <p:sp>
        <p:nvSpPr>
          <p:cNvPr id="341" name="Google Shape;341;p16"/>
          <p:cNvSpPr/>
          <p:nvPr/>
        </p:nvSpPr>
        <p:spPr>
          <a:xfrm>
            <a:off x="3007281" y="3653552"/>
            <a:ext cx="1718191" cy="937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Allowed (characters can repeat)</a:t>
            </a:r>
            <a:endParaRPr b="0" i="0" sz="1500" u="none" cap="none" strike="noStrike"/>
          </a:p>
        </p:txBody>
      </p:sp>
      <p:sp>
        <p:nvSpPr>
          <p:cNvPr id="342" name="Google Shape;342;p16"/>
          <p:cNvSpPr/>
          <p:nvPr/>
        </p:nvSpPr>
        <p:spPr>
          <a:xfrm>
            <a:off x="5123855" y="3653552"/>
            <a:ext cx="171819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Allowed</a:t>
            </a:r>
            <a:endParaRPr b="0" i="0" sz="1500" u="none" cap="none" strike="noStrike"/>
          </a:p>
        </p:txBody>
      </p:sp>
      <p:sp>
        <p:nvSpPr>
          <p:cNvPr id="343" name="Google Shape;343;p16"/>
          <p:cNvSpPr/>
          <p:nvPr/>
        </p:nvSpPr>
        <p:spPr>
          <a:xfrm>
            <a:off x="7240429" y="3653552"/>
            <a:ext cx="171819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Allowed</a:t>
            </a:r>
            <a:endParaRPr b="0" i="0" sz="1500" u="none" cap="none" strike="noStrike"/>
          </a:p>
        </p:txBody>
      </p:sp>
      <p:sp>
        <p:nvSpPr>
          <p:cNvPr id="344" name="Google Shape;344;p16"/>
          <p:cNvSpPr/>
          <p:nvPr/>
        </p:nvSpPr>
        <p:spPr>
          <a:xfrm>
            <a:off x="9357003" y="3653552"/>
            <a:ext cx="171819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allowed</a:t>
            </a:r>
            <a:endParaRPr b="0" i="0" sz="1500" u="none" cap="none" strike="noStrike"/>
          </a:p>
        </p:txBody>
      </p:sp>
      <p:sp>
        <p:nvSpPr>
          <p:cNvPr id="345" name="Google Shape;345;p16"/>
          <p:cNvSpPr/>
          <p:nvPr/>
        </p:nvSpPr>
        <p:spPr>
          <a:xfrm>
            <a:off x="11473577" y="3653552"/>
            <a:ext cx="1722001" cy="937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Keys must be unique; values can repeat</a:t>
            </a:r>
            <a:endParaRPr b="0" i="0" sz="1500" u="none" cap="none" strike="noStrike"/>
          </a:p>
        </p:txBody>
      </p:sp>
      <p:sp>
        <p:nvSpPr>
          <p:cNvPr id="346" name="Google Shape;346;p16"/>
          <p:cNvSpPr/>
          <p:nvPr/>
        </p:nvSpPr>
        <p:spPr>
          <a:xfrm>
            <a:off x="691515" y="4715947"/>
            <a:ext cx="12699444" cy="118717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886897" y="4840724"/>
            <a:ext cx="172200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Mutability</a:t>
            </a:r>
            <a:endParaRPr b="0" i="0" sz="1500" u="none" cap="none" strike="noStrike"/>
          </a:p>
        </p:txBody>
      </p:sp>
      <p:sp>
        <p:nvSpPr>
          <p:cNvPr id="348" name="Google Shape;348;p16"/>
          <p:cNvSpPr/>
          <p:nvPr/>
        </p:nvSpPr>
        <p:spPr>
          <a:xfrm>
            <a:off x="3007281" y="4840724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Immutable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(cannot change)</a:t>
            </a:r>
            <a:endParaRPr b="0" i="0" sz="1500" u="none" cap="none" strike="noStrike"/>
          </a:p>
        </p:txBody>
      </p:sp>
      <p:sp>
        <p:nvSpPr>
          <p:cNvPr id="349" name="Google Shape;349;p16"/>
          <p:cNvSpPr/>
          <p:nvPr/>
        </p:nvSpPr>
        <p:spPr>
          <a:xfrm>
            <a:off x="5123855" y="4840724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Mutable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(can change)</a:t>
            </a:r>
            <a:endParaRPr b="0" i="0" sz="1500" u="none" cap="none" strike="noStrike"/>
          </a:p>
        </p:txBody>
      </p:sp>
      <p:sp>
        <p:nvSpPr>
          <p:cNvPr id="350" name="Google Shape;350;p16"/>
          <p:cNvSpPr/>
          <p:nvPr/>
        </p:nvSpPr>
        <p:spPr>
          <a:xfrm>
            <a:off x="7240429" y="4840724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Immutable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(cannot change)</a:t>
            </a:r>
            <a:endParaRPr b="0" i="0" sz="1500" u="none" cap="none" strike="noStrike"/>
          </a:p>
        </p:txBody>
      </p:sp>
      <p:sp>
        <p:nvSpPr>
          <p:cNvPr id="351" name="Google Shape;351;p16"/>
          <p:cNvSpPr/>
          <p:nvPr/>
        </p:nvSpPr>
        <p:spPr>
          <a:xfrm>
            <a:off x="9357003" y="4840724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Mutable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(can add/remove)</a:t>
            </a:r>
            <a:endParaRPr b="0" i="0" sz="1500" u="none" cap="none" strike="noStrike"/>
          </a:p>
        </p:txBody>
      </p:sp>
      <p:sp>
        <p:nvSpPr>
          <p:cNvPr id="352" name="Google Shape;352;p16"/>
          <p:cNvSpPr/>
          <p:nvPr/>
        </p:nvSpPr>
        <p:spPr>
          <a:xfrm>
            <a:off x="11473577" y="4840724"/>
            <a:ext cx="1722001" cy="937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Mutable</a:t>
            </a: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(can add/remove/update)</a:t>
            </a:r>
            <a:endParaRPr b="0" i="0" sz="1500" u="none" cap="none" strike="noStrike"/>
          </a:p>
        </p:txBody>
      </p:sp>
      <p:sp>
        <p:nvSpPr>
          <p:cNvPr id="353" name="Google Shape;353;p16"/>
          <p:cNvSpPr/>
          <p:nvPr/>
        </p:nvSpPr>
        <p:spPr>
          <a:xfrm>
            <a:off x="691515" y="5903119"/>
            <a:ext cx="12699444" cy="874633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886897" y="6027896"/>
            <a:ext cx="172200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Ordering</a:t>
            </a:r>
            <a:endParaRPr b="0" i="0" sz="1500" u="none" cap="none" strike="noStrike"/>
          </a:p>
        </p:txBody>
      </p:sp>
      <p:sp>
        <p:nvSpPr>
          <p:cNvPr id="355" name="Google Shape;355;p16"/>
          <p:cNvSpPr/>
          <p:nvPr/>
        </p:nvSpPr>
        <p:spPr>
          <a:xfrm>
            <a:off x="3007281" y="6027896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Indexed by character positions</a:t>
            </a:r>
            <a:endParaRPr b="0" i="0" sz="1500" u="none" cap="none" strike="noStrike"/>
          </a:p>
        </p:txBody>
      </p:sp>
      <p:sp>
        <p:nvSpPr>
          <p:cNvPr id="356" name="Google Shape;356;p16"/>
          <p:cNvSpPr/>
          <p:nvPr/>
        </p:nvSpPr>
        <p:spPr>
          <a:xfrm>
            <a:off x="5123855" y="6027896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Maintains insertion order</a:t>
            </a:r>
            <a:endParaRPr b="0" i="0" sz="1500" u="none" cap="none" strike="noStrike"/>
          </a:p>
        </p:txBody>
      </p:sp>
      <p:sp>
        <p:nvSpPr>
          <p:cNvPr id="357" name="Google Shape;357;p16"/>
          <p:cNvSpPr/>
          <p:nvPr/>
        </p:nvSpPr>
        <p:spPr>
          <a:xfrm>
            <a:off x="7240429" y="6027896"/>
            <a:ext cx="171819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Maintains insertion order</a:t>
            </a:r>
            <a:endParaRPr b="0" i="0" sz="1500" u="none" cap="none" strike="noStrike"/>
          </a:p>
        </p:txBody>
      </p:sp>
      <p:sp>
        <p:nvSpPr>
          <p:cNvPr id="358" name="Google Shape;358;p16"/>
          <p:cNvSpPr/>
          <p:nvPr/>
        </p:nvSpPr>
        <p:spPr>
          <a:xfrm>
            <a:off x="9357003" y="6027896"/>
            <a:ext cx="171819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 fixed order</a:t>
            </a:r>
            <a:endParaRPr b="0" i="0" sz="1500" u="none" cap="none" strike="noStrike"/>
          </a:p>
        </p:txBody>
      </p:sp>
      <p:sp>
        <p:nvSpPr>
          <p:cNvPr id="359" name="Google Shape;359;p16"/>
          <p:cNvSpPr/>
          <p:nvPr/>
        </p:nvSpPr>
        <p:spPr>
          <a:xfrm>
            <a:off x="11473577" y="6027896"/>
            <a:ext cx="1722001" cy="625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Keys in insertion order (Python 3.7+)</a:t>
            </a:r>
            <a:endParaRPr b="0" i="0" sz="1500" u="none" cap="none" strike="noStrike"/>
          </a:p>
        </p:txBody>
      </p:sp>
      <p:sp>
        <p:nvSpPr>
          <p:cNvPr id="360" name="Google Shape;360;p16"/>
          <p:cNvSpPr/>
          <p:nvPr/>
        </p:nvSpPr>
        <p:spPr>
          <a:xfrm>
            <a:off x="691515" y="6777752"/>
            <a:ext cx="12699444" cy="90511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886897" y="6902529"/>
            <a:ext cx="1722001" cy="31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500" u="none" cap="none" strike="noStrike"/>
          </a:p>
        </p:txBody>
      </p:sp>
      <p:sp>
        <p:nvSpPr>
          <p:cNvPr id="362" name="Google Shape;362;p16"/>
          <p:cNvSpPr/>
          <p:nvPr/>
        </p:nvSpPr>
        <p:spPr>
          <a:xfrm>
            <a:off x="3007281" y="6902529"/>
            <a:ext cx="1718191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"Python"</a:t>
            </a:r>
            <a:endParaRPr b="0" i="0" sz="1500" u="none" cap="none" strike="noStrike"/>
          </a:p>
        </p:txBody>
      </p:sp>
      <p:sp>
        <p:nvSpPr>
          <p:cNvPr id="363" name="Google Shape;363;p16"/>
          <p:cNvSpPr/>
          <p:nvPr/>
        </p:nvSpPr>
        <p:spPr>
          <a:xfrm>
            <a:off x="5123855" y="6902529"/>
            <a:ext cx="1718191" cy="327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[10, "apple", 3.14]</a:t>
            </a:r>
            <a:endParaRPr b="0" i="0" sz="1500" u="none" cap="none" strike="noStrike"/>
          </a:p>
        </p:txBody>
      </p:sp>
      <p:sp>
        <p:nvSpPr>
          <p:cNvPr id="364" name="Google Shape;364;p16"/>
          <p:cNvSpPr/>
          <p:nvPr/>
        </p:nvSpPr>
        <p:spPr>
          <a:xfrm>
            <a:off x="7240429" y="6902529"/>
            <a:ext cx="1718191" cy="655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("red", "green", "blue")</a:t>
            </a:r>
            <a:endParaRPr b="0" i="0" sz="1500" u="none" cap="none" strike="noStrike"/>
          </a:p>
        </p:txBody>
      </p:sp>
      <p:sp>
        <p:nvSpPr>
          <p:cNvPr id="365" name="Google Shape;365;p16"/>
          <p:cNvSpPr/>
          <p:nvPr/>
        </p:nvSpPr>
        <p:spPr>
          <a:xfrm>
            <a:off x="9357003" y="6902529"/>
            <a:ext cx="1718191" cy="655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{"red", "green", "blue"}</a:t>
            </a:r>
            <a:endParaRPr b="0" i="0" sz="1500" u="none" cap="none" strike="noStrike"/>
          </a:p>
        </p:txBody>
      </p:sp>
      <p:sp>
        <p:nvSpPr>
          <p:cNvPr id="366" name="Google Shape;366;p16"/>
          <p:cNvSpPr/>
          <p:nvPr/>
        </p:nvSpPr>
        <p:spPr>
          <a:xfrm>
            <a:off x="11473577" y="6902529"/>
            <a:ext cx="1722001" cy="655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{"name": "Bob", "age": 30}</a:t>
            </a:r>
            <a:endParaRPr b="0" i="0" sz="1500" u="none" cap="none" strike="noStrike"/>
          </a:p>
        </p:txBody>
      </p:sp>
      <p:pic>
        <p:nvPicPr>
          <p:cNvPr descr="preencoded.png" id="367" name="Google Shape;3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"/>
          <p:cNvSpPr/>
          <p:nvPr/>
        </p:nvSpPr>
        <p:spPr>
          <a:xfrm>
            <a:off x="793790" y="194881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Summary</a:t>
            </a:r>
            <a:endParaRPr b="0" i="0" sz="4450" u="none" cap="none" strike="noStrike"/>
          </a:p>
        </p:txBody>
      </p:sp>
      <p:sp>
        <p:nvSpPr>
          <p:cNvPr id="374" name="Google Shape;374;p17"/>
          <p:cNvSpPr/>
          <p:nvPr/>
        </p:nvSpPr>
        <p:spPr>
          <a:xfrm>
            <a:off x="793790" y="3366373"/>
            <a:ext cx="396835" cy="396835"/>
          </a:xfrm>
          <a:prstGeom prst="roundRect">
            <a:avLst>
              <a:gd fmla="val 85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1417439" y="336637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Basic Data Types</a:t>
            </a:r>
            <a:endParaRPr b="0" i="0" sz="2200" u="none" cap="none" strike="noStrike"/>
          </a:p>
        </p:txBody>
      </p:sp>
      <p:sp>
        <p:nvSpPr>
          <p:cNvPr id="376" name="Google Shape;376;p17"/>
          <p:cNvSpPr/>
          <p:nvPr/>
        </p:nvSpPr>
        <p:spPr>
          <a:xfrm>
            <a:off x="1417439" y="3856792"/>
            <a:ext cx="342590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Integer, Float, Complex, Boolean, None</a:t>
            </a:r>
            <a:endParaRPr b="0" i="0" sz="1750" u="none" cap="none" strike="noStrike"/>
          </a:p>
        </p:txBody>
      </p:sp>
      <p:sp>
        <p:nvSpPr>
          <p:cNvPr id="377" name="Google Shape;377;p17"/>
          <p:cNvSpPr/>
          <p:nvPr/>
        </p:nvSpPr>
        <p:spPr>
          <a:xfrm>
            <a:off x="5070157" y="3366373"/>
            <a:ext cx="396835" cy="396835"/>
          </a:xfrm>
          <a:prstGeom prst="roundRect">
            <a:avLst>
              <a:gd fmla="val 85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5693807" y="336637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Text Type</a:t>
            </a:r>
            <a:endParaRPr b="0" i="0" sz="2200" u="none" cap="none" strike="noStrike"/>
          </a:p>
        </p:txBody>
      </p:sp>
      <p:sp>
        <p:nvSpPr>
          <p:cNvPr id="379" name="Google Shape;379;p17"/>
          <p:cNvSpPr/>
          <p:nvPr/>
        </p:nvSpPr>
        <p:spPr>
          <a:xfrm>
            <a:off x="5693807" y="3856792"/>
            <a:ext cx="342590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Strings: sequences of characters with operations</a:t>
            </a:r>
            <a:endParaRPr b="0" i="0" sz="1750" u="none" cap="none" strike="noStrike"/>
          </a:p>
        </p:txBody>
      </p:sp>
      <p:sp>
        <p:nvSpPr>
          <p:cNvPr id="380" name="Google Shape;380;p17"/>
          <p:cNvSpPr/>
          <p:nvPr/>
        </p:nvSpPr>
        <p:spPr>
          <a:xfrm>
            <a:off x="9346525" y="3366373"/>
            <a:ext cx="396835" cy="396835"/>
          </a:xfrm>
          <a:prstGeom prst="roundRect">
            <a:avLst>
              <a:gd fmla="val 85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9970175" y="3366373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Sequence Types</a:t>
            </a:r>
            <a:endParaRPr b="0" i="0" sz="2200" u="none" cap="none" strike="noStrike"/>
          </a:p>
        </p:txBody>
      </p:sp>
      <p:sp>
        <p:nvSpPr>
          <p:cNvPr id="382" name="Google Shape;382;p17"/>
          <p:cNvSpPr/>
          <p:nvPr/>
        </p:nvSpPr>
        <p:spPr>
          <a:xfrm>
            <a:off x="9970175" y="3856792"/>
            <a:ext cx="3425904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Lists (mutable) and Tuples (immutable)</a:t>
            </a:r>
            <a:endParaRPr b="0" i="0" sz="1750" u="none" cap="none" strike="noStrike"/>
          </a:p>
        </p:txBody>
      </p:sp>
      <p:sp>
        <p:nvSpPr>
          <p:cNvPr id="383" name="Google Shape;383;p17"/>
          <p:cNvSpPr/>
          <p:nvPr/>
        </p:nvSpPr>
        <p:spPr>
          <a:xfrm>
            <a:off x="793790" y="5064562"/>
            <a:ext cx="396835" cy="396835"/>
          </a:xfrm>
          <a:prstGeom prst="roundRect">
            <a:avLst>
              <a:gd fmla="val 85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>
            <a:off x="1417439" y="50645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Collection Types</a:t>
            </a:r>
            <a:endParaRPr b="0" i="0" sz="2200" u="none" cap="none" strike="noStrike"/>
          </a:p>
        </p:txBody>
      </p:sp>
      <p:sp>
        <p:nvSpPr>
          <p:cNvPr id="385" name="Google Shape;385;p17"/>
          <p:cNvSpPr/>
          <p:nvPr/>
        </p:nvSpPr>
        <p:spPr>
          <a:xfrm>
            <a:off x="1417439" y="5554980"/>
            <a:ext cx="5564148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Sets (unique elements) and Dictionaries (key-value pairs)</a:t>
            </a:r>
            <a:endParaRPr b="0" i="0" sz="1750" u="none" cap="none" strike="noStrike"/>
          </a:p>
        </p:txBody>
      </p:sp>
      <p:sp>
        <p:nvSpPr>
          <p:cNvPr id="386" name="Google Shape;386;p17"/>
          <p:cNvSpPr/>
          <p:nvPr/>
        </p:nvSpPr>
        <p:spPr>
          <a:xfrm>
            <a:off x="7208401" y="5064562"/>
            <a:ext cx="396835" cy="396835"/>
          </a:xfrm>
          <a:prstGeom prst="roundRect">
            <a:avLst>
              <a:gd fmla="val 8574" name="adj"/>
            </a:avLst>
          </a:prstGeom>
          <a:solidFill>
            <a:srgbClr val="F9F7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7832050" y="506456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2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Type Conversion</a:t>
            </a:r>
            <a:endParaRPr b="0" i="0" sz="2200" u="none" cap="none" strike="noStrike"/>
          </a:p>
        </p:txBody>
      </p:sp>
      <p:sp>
        <p:nvSpPr>
          <p:cNvPr id="388" name="Google Shape;388;p17"/>
          <p:cNvSpPr/>
          <p:nvPr/>
        </p:nvSpPr>
        <p:spPr>
          <a:xfrm>
            <a:off x="7832050" y="5554980"/>
            <a:ext cx="5564148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17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Convert using int(), str(), float()</a:t>
            </a:r>
            <a:endParaRPr b="0" i="0" sz="1750" u="none" cap="none" strike="noStrike"/>
          </a:p>
        </p:txBody>
      </p:sp>
      <p:pic>
        <p:nvPicPr>
          <p:cNvPr descr="preencoded.png" id="389" name="Google Shape;3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2025-02-19T11:14:18Z</dcterms:created>
  <dc:creator>PptxGenJS</dc:creator>
</cp:coreProperties>
</file>