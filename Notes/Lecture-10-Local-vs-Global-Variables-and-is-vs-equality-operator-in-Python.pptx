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8229600" cx="14630400"/>
  <p:notesSz cx="8229600" cy="14630400"/>
  <p:embeddedFontLst>
    <p:embeddedFont>
      <p:font typeface="Platypi Medium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gDCMdDRIMQCE32yOt6kXjT8wCz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typiMedium-bold.fntdata"/><Relationship Id="rId11" Type="http://schemas.openxmlformats.org/officeDocument/2006/relationships/slide" Target="slides/slide7.xml"/><Relationship Id="rId22" Type="http://schemas.openxmlformats.org/officeDocument/2006/relationships/font" Target="fonts/PlatypiMedium-boldItalic.fntdata"/><Relationship Id="rId10" Type="http://schemas.openxmlformats.org/officeDocument/2006/relationships/slide" Target="slides/slide6.xml"/><Relationship Id="rId21" Type="http://schemas.openxmlformats.org/officeDocument/2006/relationships/font" Target="fonts/PlatypiMedium-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PlatypiMedium-regular.fnt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bg>
      <p:bgPr>
        <a:solidFill>
          <a:srgbClr val="000000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bg>
      <p:bgPr>
        <a:solidFill>
          <a:srgbClr val="000000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bg>
      <p:bgPr>
        <a:solidFill>
          <a:srgbClr val="000000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bg>
      <p:bgPr>
        <a:solidFill>
          <a:srgbClr val="000000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bg>
      <p:bgPr>
        <a:solidFill>
          <a:srgbClr val="000000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bg>
      <p:bgPr>
        <a:solidFill>
          <a:srgbClr val="000000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bg>
      <p:bgPr>
        <a:solidFill>
          <a:srgbClr val="000000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1 master">
  <p:cSld name="Slide 11 master">
    <p:bg>
      <p:bgPr>
        <a:solidFill>
          <a:srgbClr val="000000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2 master">
  <p:cSld name="Slide 12 master">
    <p:bg>
      <p:bgPr>
        <a:solidFill>
          <a:srgbClr val="000000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3 master">
  <p:cSld name="Slide 13 master">
    <p:bg>
      <p:bgPr>
        <a:solidFill>
          <a:srgbClr val="000000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4 master">
  <p:cSld name="Slide 14 master">
    <p:bg>
      <p:bgPr>
        <a:solidFill>
          <a:srgbClr val="000000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2.png"/><Relationship Id="rId4" Type="http://schemas.openxmlformats.org/officeDocument/2006/relationships/image" Target="../media/image7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Relationship Id="rId4" Type="http://schemas.openxmlformats.org/officeDocument/2006/relationships/image" Target="../media/image6.png"/><Relationship Id="rId5" Type="http://schemas.openxmlformats.org/officeDocument/2006/relationships/image" Target="../media/image19.png"/><Relationship Id="rId6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3.png"/><Relationship Id="rId4" Type="http://schemas.openxmlformats.org/officeDocument/2006/relationships/image" Target="../media/image1.png"/><Relationship Id="rId5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9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6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5.png"/><Relationship Id="rId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4.png"/><Relationship Id="rId4" Type="http://schemas.openxmlformats.org/officeDocument/2006/relationships/image" Target="../media/image28.png"/><Relationship Id="rId5" Type="http://schemas.openxmlformats.org/officeDocument/2006/relationships/image" Target="../media/image30.png"/><Relationship Id="rId6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8" name="Google Shape;5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"/>
          <p:cNvSpPr/>
          <p:nvPr/>
        </p:nvSpPr>
        <p:spPr>
          <a:xfrm>
            <a:off x="6280190" y="1827728"/>
            <a:ext cx="7556421" cy="28351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Lecture 10:</a:t>
            </a:r>
            <a:b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</a:b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Local vs Global Variables &amp; is vs equality operator in Python</a:t>
            </a:r>
            <a:endParaRPr b="0" i="0" sz="4450" u="none" cap="none" strike="noStrike"/>
          </a:p>
        </p:txBody>
      </p:sp>
      <p:pic>
        <p:nvPicPr>
          <p:cNvPr descr="preencoded.png" id="60" name="Google Shape;60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0190" y="5003006"/>
            <a:ext cx="1398746" cy="13987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1" name="Google Shape;61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7" name="Google Shape;6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2"/>
          <p:cNvSpPr/>
          <p:nvPr/>
        </p:nvSpPr>
        <p:spPr>
          <a:xfrm>
            <a:off x="6280190" y="2318742"/>
            <a:ext cx="75564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Understanding Local and Global Variables</a:t>
            </a:r>
            <a:endParaRPr b="0" i="0" sz="4450" u="none" cap="none" strike="noStrike"/>
          </a:p>
        </p:txBody>
      </p:sp>
      <p:sp>
        <p:nvSpPr>
          <p:cNvPr id="69" name="Google Shape;69;p2"/>
          <p:cNvSpPr/>
          <p:nvPr/>
        </p:nvSpPr>
        <p:spPr>
          <a:xfrm>
            <a:off x="6280190" y="4331613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0" name="Google Shape;70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65260" y="4374118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2"/>
          <p:cNvSpPr/>
          <p:nvPr/>
        </p:nvSpPr>
        <p:spPr>
          <a:xfrm>
            <a:off x="7017306" y="433161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Local Variables</a:t>
            </a:r>
            <a:endParaRPr b="0" i="0" sz="2200" u="none" cap="none" strike="noStrike"/>
          </a:p>
        </p:txBody>
      </p:sp>
      <p:sp>
        <p:nvSpPr>
          <p:cNvPr id="72" name="Google Shape;72;p2"/>
          <p:cNvSpPr/>
          <p:nvPr/>
        </p:nvSpPr>
        <p:spPr>
          <a:xfrm>
            <a:off x="7017306" y="4822031"/>
            <a:ext cx="2927747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Defined inside a function and cannot be accessed outside.</a:t>
            </a:r>
            <a:endParaRPr b="0" i="0" sz="1750" u="none" cap="none" strike="noStrike"/>
          </a:p>
        </p:txBody>
      </p:sp>
      <p:sp>
        <p:nvSpPr>
          <p:cNvPr id="73" name="Google Shape;73;p2"/>
          <p:cNvSpPr/>
          <p:nvPr/>
        </p:nvSpPr>
        <p:spPr>
          <a:xfrm>
            <a:off x="10171867" y="4331613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4" name="Google Shape;74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256937" y="4374118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2"/>
          <p:cNvSpPr/>
          <p:nvPr/>
        </p:nvSpPr>
        <p:spPr>
          <a:xfrm>
            <a:off x="10908983" y="433161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Global Variables</a:t>
            </a:r>
            <a:endParaRPr b="0" i="0" sz="2200" u="none" cap="none" strike="noStrike"/>
          </a:p>
        </p:txBody>
      </p:sp>
      <p:sp>
        <p:nvSpPr>
          <p:cNvPr id="76" name="Google Shape;76;p2"/>
          <p:cNvSpPr/>
          <p:nvPr/>
        </p:nvSpPr>
        <p:spPr>
          <a:xfrm>
            <a:off x="10908983" y="4822031"/>
            <a:ext cx="2927747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Defined outside functions and can be accessed anywhere.</a:t>
            </a:r>
            <a:endParaRPr b="0" i="0" sz="1750" u="none" cap="none" strike="noStrike"/>
          </a:p>
        </p:txBody>
      </p:sp>
      <p:pic>
        <p:nvPicPr>
          <p:cNvPr descr="preencoded.png" id="77" name="Google Shape;77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"/>
          <p:cNvSpPr/>
          <p:nvPr/>
        </p:nvSpPr>
        <p:spPr>
          <a:xfrm>
            <a:off x="793790" y="791527"/>
            <a:ext cx="7556421" cy="1204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33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3750"/>
              <a:buFont typeface="Platypi Medium"/>
              <a:buNone/>
            </a:pPr>
            <a:r>
              <a:rPr b="0" i="0" lang="en-US" sz="37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How Python Handles Variable Scope?</a:t>
            </a:r>
            <a:endParaRPr b="0" i="0" sz="3750" u="none" cap="none" strike="noStrike"/>
          </a:p>
        </p:txBody>
      </p:sp>
      <p:sp>
        <p:nvSpPr>
          <p:cNvPr id="84" name="Google Shape;84;p3"/>
          <p:cNvSpPr/>
          <p:nvPr/>
        </p:nvSpPr>
        <p:spPr>
          <a:xfrm>
            <a:off x="793790" y="2285643"/>
            <a:ext cx="7556421" cy="3083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Python uses the </a:t>
            </a:r>
            <a:r>
              <a:rPr b="1" i="0" lang="en-US" sz="15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LEGB rule</a:t>
            </a:r>
            <a:r>
              <a:rPr b="0" i="0" lang="en-US" sz="15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 to determine variable scope.</a:t>
            </a:r>
            <a:endParaRPr b="0" i="0" sz="1500" u="none" cap="none" strike="noStrike"/>
          </a:p>
        </p:txBody>
      </p:sp>
      <p:pic>
        <p:nvPicPr>
          <p:cNvPr descr="preencoded.png" id="85" name="Google Shape;8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2810828"/>
            <a:ext cx="963930" cy="1156811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3"/>
          <p:cNvSpPr/>
          <p:nvPr/>
        </p:nvSpPr>
        <p:spPr>
          <a:xfrm>
            <a:off x="2046922" y="3003590"/>
            <a:ext cx="2409944" cy="301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850"/>
              <a:buFont typeface="Platypi Medium"/>
              <a:buNone/>
            </a:pPr>
            <a:r>
              <a:rPr b="0" i="0" lang="en-US" sz="18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Local (L)</a:t>
            </a:r>
            <a:endParaRPr b="0" i="0" sz="1850" u="none" cap="none" strike="noStrike"/>
          </a:p>
        </p:txBody>
      </p:sp>
      <p:sp>
        <p:nvSpPr>
          <p:cNvPr id="87" name="Google Shape;87;p3"/>
          <p:cNvSpPr/>
          <p:nvPr/>
        </p:nvSpPr>
        <p:spPr>
          <a:xfrm>
            <a:off x="2046922" y="3420428"/>
            <a:ext cx="6303288" cy="3083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Variables declared inside a function.</a:t>
            </a:r>
            <a:endParaRPr b="0" i="0" sz="1500" u="none" cap="none" strike="noStrike"/>
          </a:p>
        </p:txBody>
      </p:sp>
      <p:pic>
        <p:nvPicPr>
          <p:cNvPr descr="preencoded.png" id="88" name="Google Shape;8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3967639"/>
            <a:ext cx="963930" cy="1156811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3"/>
          <p:cNvSpPr/>
          <p:nvPr/>
        </p:nvSpPr>
        <p:spPr>
          <a:xfrm>
            <a:off x="2046922" y="4160401"/>
            <a:ext cx="2409944" cy="301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850"/>
              <a:buFont typeface="Platypi Medium"/>
              <a:buNone/>
            </a:pPr>
            <a:r>
              <a:rPr b="0" i="0" lang="en-US" sz="18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Enclosing (E)</a:t>
            </a:r>
            <a:endParaRPr b="0" i="0" sz="1850" u="none" cap="none" strike="noStrike"/>
          </a:p>
        </p:txBody>
      </p:sp>
      <p:sp>
        <p:nvSpPr>
          <p:cNvPr id="90" name="Google Shape;90;p3"/>
          <p:cNvSpPr/>
          <p:nvPr/>
        </p:nvSpPr>
        <p:spPr>
          <a:xfrm>
            <a:off x="2046922" y="4577239"/>
            <a:ext cx="6303288" cy="3083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Variables in enclosing functions (nested functions).</a:t>
            </a:r>
            <a:endParaRPr b="0" i="0" sz="1500" u="none" cap="none" strike="noStrike"/>
          </a:p>
        </p:txBody>
      </p:sp>
      <p:pic>
        <p:nvPicPr>
          <p:cNvPr descr="preencoded.png" id="91" name="Google Shape;9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5124450"/>
            <a:ext cx="963930" cy="1156811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3"/>
          <p:cNvSpPr/>
          <p:nvPr/>
        </p:nvSpPr>
        <p:spPr>
          <a:xfrm>
            <a:off x="2046922" y="5317212"/>
            <a:ext cx="2409944" cy="301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850"/>
              <a:buFont typeface="Platypi Medium"/>
              <a:buNone/>
            </a:pPr>
            <a:r>
              <a:rPr b="0" i="0" lang="en-US" sz="18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Global (G)</a:t>
            </a:r>
            <a:endParaRPr b="0" i="0" sz="1850" u="none" cap="none" strike="noStrike"/>
          </a:p>
        </p:txBody>
      </p:sp>
      <p:sp>
        <p:nvSpPr>
          <p:cNvPr id="93" name="Google Shape;93;p3"/>
          <p:cNvSpPr/>
          <p:nvPr/>
        </p:nvSpPr>
        <p:spPr>
          <a:xfrm>
            <a:off x="2046922" y="5734050"/>
            <a:ext cx="6303288" cy="3083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Variables declared at the top level of a script.</a:t>
            </a:r>
            <a:endParaRPr b="0" i="0" sz="1500" u="none" cap="none" strike="noStrike"/>
          </a:p>
        </p:txBody>
      </p:sp>
      <p:pic>
        <p:nvPicPr>
          <p:cNvPr descr="preencoded.png" id="94" name="Google Shape;9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6281261"/>
            <a:ext cx="963930" cy="1156811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3"/>
          <p:cNvSpPr/>
          <p:nvPr/>
        </p:nvSpPr>
        <p:spPr>
          <a:xfrm>
            <a:off x="2046922" y="6474023"/>
            <a:ext cx="2409944" cy="301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850"/>
              <a:buFont typeface="Platypi Medium"/>
              <a:buNone/>
            </a:pPr>
            <a:r>
              <a:rPr b="0" i="0" lang="en-US" sz="18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Built-in (B)</a:t>
            </a:r>
            <a:endParaRPr b="0" i="0" sz="1850" u="none" cap="none" strike="noStrike"/>
          </a:p>
        </p:txBody>
      </p:sp>
      <p:sp>
        <p:nvSpPr>
          <p:cNvPr id="96" name="Google Shape;96;p3"/>
          <p:cNvSpPr/>
          <p:nvPr/>
        </p:nvSpPr>
        <p:spPr>
          <a:xfrm>
            <a:off x="2046922" y="6890861"/>
            <a:ext cx="6303288" cy="3083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Predefined variables in Python.</a:t>
            </a:r>
            <a:endParaRPr b="0" i="0" sz="1500" u="none" cap="none" strike="noStrike"/>
          </a:p>
        </p:txBody>
      </p:sp>
      <p:pic>
        <p:nvPicPr>
          <p:cNvPr descr="preencoded.png" id="97" name="Google Shape;9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3" title="legb rul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655011" y="1558356"/>
            <a:ext cx="5975389" cy="59753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/>
          <p:nvPr/>
        </p:nvSpPr>
        <p:spPr>
          <a:xfrm>
            <a:off x="793790" y="1183243"/>
            <a:ext cx="12253555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Modifying Global Variables Inside Functions</a:t>
            </a:r>
            <a:endParaRPr b="0" i="0" sz="4450" u="none" cap="none" strike="noStrike"/>
          </a:p>
        </p:txBody>
      </p:sp>
      <p:pic>
        <p:nvPicPr>
          <p:cNvPr descr="preencoded.png" id="105" name="Google Shape;10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2345650"/>
            <a:ext cx="1134070" cy="1360884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4"/>
          <p:cNvSpPr/>
          <p:nvPr/>
        </p:nvSpPr>
        <p:spPr>
          <a:xfrm>
            <a:off x="2268022" y="2572464"/>
            <a:ext cx="3242667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Use the global keyword</a:t>
            </a:r>
            <a:endParaRPr b="0" i="0" sz="2200" u="none" cap="none" strike="noStrike"/>
          </a:p>
        </p:txBody>
      </p:sp>
      <p:sp>
        <p:nvSpPr>
          <p:cNvPr id="107" name="Google Shape;107;p4"/>
          <p:cNvSpPr/>
          <p:nvPr/>
        </p:nvSpPr>
        <p:spPr>
          <a:xfrm>
            <a:off x="2268022" y="3062883"/>
            <a:ext cx="1156858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To modify a </a:t>
            </a:r>
            <a:r>
              <a:rPr b="1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global variable</a:t>
            </a: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 inside a function, use the global keyword.</a:t>
            </a:r>
            <a:endParaRPr b="0" i="0" sz="1750" u="none" cap="none" strike="noStrike"/>
          </a:p>
        </p:txBody>
      </p:sp>
      <p:pic>
        <p:nvPicPr>
          <p:cNvPr descr="preencoded.png" id="108" name="Google Shape;10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3706535"/>
            <a:ext cx="1134070" cy="136088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4"/>
          <p:cNvSpPr/>
          <p:nvPr/>
        </p:nvSpPr>
        <p:spPr>
          <a:xfrm>
            <a:off x="2268022" y="393334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Access and modify</a:t>
            </a:r>
            <a:endParaRPr b="0" i="0" sz="2200" u="none" cap="none" strike="noStrike"/>
          </a:p>
        </p:txBody>
      </p:sp>
      <p:sp>
        <p:nvSpPr>
          <p:cNvPr id="110" name="Google Shape;110;p4"/>
          <p:cNvSpPr/>
          <p:nvPr/>
        </p:nvSpPr>
        <p:spPr>
          <a:xfrm>
            <a:off x="2268022" y="4423767"/>
            <a:ext cx="1156858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The global keyword gives you permission to modify the variable.</a:t>
            </a:r>
            <a:endParaRPr b="0" i="0" sz="1750" u="none" cap="none" strike="noStrike"/>
          </a:p>
        </p:txBody>
      </p:sp>
      <p:pic>
        <p:nvPicPr>
          <p:cNvPr descr="preencoded.png" id="111" name="Google Shape;11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5067419"/>
            <a:ext cx="1134070" cy="1360884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4"/>
          <p:cNvSpPr/>
          <p:nvPr/>
        </p:nvSpPr>
        <p:spPr>
          <a:xfrm>
            <a:off x="2268022" y="529423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Changes persist</a:t>
            </a:r>
            <a:endParaRPr b="0" i="0" sz="2200" u="none" cap="none" strike="noStrike"/>
          </a:p>
        </p:txBody>
      </p:sp>
      <p:sp>
        <p:nvSpPr>
          <p:cNvPr id="113" name="Google Shape;113;p4"/>
          <p:cNvSpPr/>
          <p:nvPr/>
        </p:nvSpPr>
        <p:spPr>
          <a:xfrm>
            <a:off x="2268022" y="5784652"/>
            <a:ext cx="1156858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Changes to the global variable remain after the function exits.</a:t>
            </a:r>
            <a:endParaRPr b="0" i="0" sz="1750" u="none" cap="none" strike="noStrike"/>
          </a:p>
        </p:txBody>
      </p:sp>
      <p:sp>
        <p:nvSpPr>
          <p:cNvPr id="114" name="Google Shape;114;p4"/>
          <p:cNvSpPr/>
          <p:nvPr/>
        </p:nvSpPr>
        <p:spPr>
          <a:xfrm>
            <a:off x="793790" y="6683454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1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: Using the global keyword to update a global counter.</a:t>
            </a:r>
            <a:endParaRPr b="0" i="0" sz="1750" u="none" cap="none" strike="noStrike"/>
          </a:p>
        </p:txBody>
      </p:sp>
      <p:pic>
        <p:nvPicPr>
          <p:cNvPr descr="preencoded.png" id="115" name="Google Shape;11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1" name="Google Shape;12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5"/>
          <p:cNvSpPr/>
          <p:nvPr/>
        </p:nvSpPr>
        <p:spPr>
          <a:xfrm>
            <a:off x="6280190" y="1456968"/>
            <a:ext cx="75564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Best Practices for Using Global and Local Variables</a:t>
            </a:r>
            <a:endParaRPr b="0" i="0" sz="4450" u="none" cap="none" strike="noStrike"/>
          </a:p>
        </p:txBody>
      </p:sp>
      <p:sp>
        <p:nvSpPr>
          <p:cNvPr id="123" name="Google Shape;123;p5"/>
          <p:cNvSpPr/>
          <p:nvPr/>
        </p:nvSpPr>
        <p:spPr>
          <a:xfrm>
            <a:off x="6280190" y="3214688"/>
            <a:ext cx="3664863" cy="2024182"/>
          </a:xfrm>
          <a:prstGeom prst="roundRect">
            <a:avLst>
              <a:gd fmla="val 1681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"/>
          <p:cNvSpPr/>
          <p:nvPr/>
        </p:nvSpPr>
        <p:spPr>
          <a:xfrm>
            <a:off x="6507004" y="344150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Use local variables</a:t>
            </a:r>
            <a:endParaRPr b="0" i="0" sz="2200" u="none" cap="none" strike="noStrike"/>
          </a:p>
        </p:txBody>
      </p:sp>
      <p:sp>
        <p:nvSpPr>
          <p:cNvPr id="125" name="Google Shape;125;p5"/>
          <p:cNvSpPr/>
          <p:nvPr/>
        </p:nvSpPr>
        <p:spPr>
          <a:xfrm>
            <a:off x="6507004" y="3931920"/>
            <a:ext cx="321123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To avoid unintended side effects.</a:t>
            </a:r>
            <a:endParaRPr b="0" i="0" sz="1750" u="none" cap="none" strike="noStrike"/>
          </a:p>
        </p:txBody>
      </p:sp>
      <p:sp>
        <p:nvSpPr>
          <p:cNvPr id="126" name="Google Shape;126;p5"/>
          <p:cNvSpPr/>
          <p:nvPr/>
        </p:nvSpPr>
        <p:spPr>
          <a:xfrm>
            <a:off x="10171867" y="3214688"/>
            <a:ext cx="3664863" cy="2024182"/>
          </a:xfrm>
          <a:prstGeom prst="roundRect">
            <a:avLst>
              <a:gd fmla="val 1681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"/>
          <p:cNvSpPr/>
          <p:nvPr/>
        </p:nvSpPr>
        <p:spPr>
          <a:xfrm>
            <a:off x="10398681" y="3441502"/>
            <a:ext cx="3211235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Minimize global variables</a:t>
            </a:r>
            <a:endParaRPr b="0" i="0" sz="2200" u="none" cap="none" strike="noStrike"/>
          </a:p>
        </p:txBody>
      </p:sp>
      <p:sp>
        <p:nvSpPr>
          <p:cNvPr id="128" name="Google Shape;128;p5"/>
          <p:cNvSpPr/>
          <p:nvPr/>
        </p:nvSpPr>
        <p:spPr>
          <a:xfrm>
            <a:off x="10398681" y="4286250"/>
            <a:ext cx="321123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Keep code modular by limiting global variable usage.</a:t>
            </a:r>
            <a:endParaRPr b="0" i="0" sz="1750" u="none" cap="none" strike="noStrike"/>
          </a:p>
        </p:txBody>
      </p:sp>
      <p:sp>
        <p:nvSpPr>
          <p:cNvPr id="129" name="Google Shape;129;p5"/>
          <p:cNvSpPr/>
          <p:nvPr/>
        </p:nvSpPr>
        <p:spPr>
          <a:xfrm>
            <a:off x="6280190" y="5465683"/>
            <a:ext cx="7556421" cy="1306949"/>
          </a:xfrm>
          <a:prstGeom prst="roundRect">
            <a:avLst>
              <a:gd fmla="val 2603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"/>
          <p:cNvSpPr/>
          <p:nvPr/>
        </p:nvSpPr>
        <p:spPr>
          <a:xfrm>
            <a:off x="6507004" y="5692497"/>
            <a:ext cx="3359348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Use function arguments</a:t>
            </a:r>
            <a:endParaRPr b="0" i="0" sz="2200" u="none" cap="none" strike="noStrike"/>
          </a:p>
        </p:txBody>
      </p:sp>
      <p:sp>
        <p:nvSpPr>
          <p:cNvPr id="131" name="Google Shape;131;p5"/>
          <p:cNvSpPr/>
          <p:nvPr/>
        </p:nvSpPr>
        <p:spPr>
          <a:xfrm>
            <a:off x="6507004" y="6182916"/>
            <a:ext cx="710279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Pass values instead of relying on global variables.</a:t>
            </a:r>
            <a:endParaRPr b="0" i="0" sz="1750" u="none" cap="none" strike="noStrike"/>
          </a:p>
        </p:txBody>
      </p:sp>
      <p:pic>
        <p:nvPicPr>
          <p:cNvPr descr="preencoded.png" id="132" name="Google Shape;13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"/>
          <p:cNvSpPr/>
          <p:nvPr/>
        </p:nvSpPr>
        <p:spPr>
          <a:xfrm>
            <a:off x="793790" y="875824"/>
            <a:ext cx="11021497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Understanding is (Identity Comparison)</a:t>
            </a:r>
            <a:endParaRPr b="0" i="0" sz="4450" u="none" cap="none" strike="noStrike"/>
          </a:p>
        </p:txBody>
      </p:sp>
      <p:sp>
        <p:nvSpPr>
          <p:cNvPr id="139" name="Google Shape;139;p6"/>
          <p:cNvSpPr/>
          <p:nvPr/>
        </p:nvSpPr>
        <p:spPr>
          <a:xfrm>
            <a:off x="793790" y="192476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Object Identity</a:t>
            </a:r>
            <a:endParaRPr b="0" i="0" sz="2200" u="none" cap="none" strike="noStrike"/>
          </a:p>
        </p:txBody>
      </p:sp>
      <p:sp>
        <p:nvSpPr>
          <p:cNvPr id="140" name="Google Shape;140;p6"/>
          <p:cNvSpPr/>
          <p:nvPr/>
        </p:nvSpPr>
        <p:spPr>
          <a:xfrm>
            <a:off x="793790" y="2619256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The is operator compares whether two variables refer to the </a:t>
            </a:r>
            <a:r>
              <a:rPr b="1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same object</a:t>
            </a: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 in memory.</a:t>
            </a:r>
            <a:endParaRPr b="0" i="0" sz="1750" u="none" cap="none" strike="noStrike"/>
          </a:p>
        </p:txBody>
      </p:sp>
      <p:sp>
        <p:nvSpPr>
          <p:cNvPr id="141" name="Google Shape;141;p6"/>
          <p:cNvSpPr/>
          <p:nvPr/>
        </p:nvSpPr>
        <p:spPr>
          <a:xfrm>
            <a:off x="793790" y="3237309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It checks if both variables point to the exact same memory location.</a:t>
            </a:r>
            <a:endParaRPr b="0" i="0" sz="1750" u="none" cap="none" strike="noStrike"/>
          </a:p>
        </p:txBody>
      </p:sp>
      <p:sp>
        <p:nvSpPr>
          <p:cNvPr id="142" name="Google Shape;142;p6"/>
          <p:cNvSpPr/>
          <p:nvPr/>
        </p:nvSpPr>
        <p:spPr>
          <a:xfrm>
            <a:off x="793790" y="3855363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1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: is checking object identity.</a:t>
            </a:r>
            <a:endParaRPr b="0" i="0" sz="1750" u="none" cap="none" strike="noStrike"/>
          </a:p>
        </p:txBody>
      </p:sp>
      <p:sp>
        <p:nvSpPr>
          <p:cNvPr id="143" name="Google Shape;143;p6"/>
          <p:cNvSpPr/>
          <p:nvPr/>
        </p:nvSpPr>
        <p:spPr>
          <a:xfrm>
            <a:off x="793790" y="4473416"/>
            <a:ext cx="13042821" cy="2880360"/>
          </a:xfrm>
          <a:prstGeom prst="roundRect">
            <a:avLst>
              <a:gd fmla="val 1181" name="adj"/>
            </a:avLst>
          </a:prstGeom>
          <a:solidFill>
            <a:srgbClr val="F3E3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"/>
          <p:cNvSpPr/>
          <p:nvPr/>
        </p:nvSpPr>
        <p:spPr>
          <a:xfrm>
            <a:off x="782479" y="4473416"/>
            <a:ext cx="13065443" cy="2880360"/>
          </a:xfrm>
          <a:prstGeom prst="roundRect">
            <a:avLst>
              <a:gd fmla="val 1181" name="adj"/>
            </a:avLst>
          </a:prstGeom>
          <a:solidFill>
            <a:srgbClr val="F3E3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"/>
          <p:cNvSpPr/>
          <p:nvPr/>
        </p:nvSpPr>
        <p:spPr>
          <a:xfrm>
            <a:off x="1009293" y="4643438"/>
            <a:ext cx="12611814" cy="25403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a = [1, 2, 3]</a:t>
            </a:r>
            <a:b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b = a</a:t>
            </a:r>
            <a:b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c = [1, 2, 3]</a:t>
            </a:r>
            <a:b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print(a is b)  # True - same object</a:t>
            </a:r>
            <a:b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print(a is c)  # False - different objects</a:t>
            </a:r>
            <a:b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</a:br>
            <a:endParaRPr b="0" i="0" sz="1750" u="none" cap="none" strike="noStrike"/>
          </a:p>
        </p:txBody>
      </p:sp>
      <p:pic>
        <p:nvPicPr>
          <p:cNvPr descr="preencoded.png" id="146" name="Google Shape;14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"/>
          <p:cNvSpPr/>
          <p:nvPr/>
        </p:nvSpPr>
        <p:spPr>
          <a:xfrm>
            <a:off x="793790" y="875824"/>
            <a:ext cx="1043690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Understanding == (Value Comparison)</a:t>
            </a:r>
            <a:endParaRPr b="0" i="0" sz="4450" u="none" cap="none" strike="noStrike"/>
          </a:p>
        </p:txBody>
      </p:sp>
      <p:sp>
        <p:nvSpPr>
          <p:cNvPr id="153" name="Google Shape;153;p7"/>
          <p:cNvSpPr/>
          <p:nvPr/>
        </p:nvSpPr>
        <p:spPr>
          <a:xfrm>
            <a:off x="793790" y="192476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Value Equality</a:t>
            </a:r>
            <a:endParaRPr b="0" i="0" sz="2200" u="none" cap="none" strike="noStrike"/>
          </a:p>
        </p:txBody>
      </p:sp>
      <p:sp>
        <p:nvSpPr>
          <p:cNvPr id="154" name="Google Shape;154;p7"/>
          <p:cNvSpPr/>
          <p:nvPr/>
        </p:nvSpPr>
        <p:spPr>
          <a:xfrm>
            <a:off x="793790" y="2619256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The == operator compares the </a:t>
            </a:r>
            <a:r>
              <a:rPr b="1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values</a:t>
            </a: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 of two objects.</a:t>
            </a:r>
            <a:endParaRPr b="0" i="0" sz="1750" u="none" cap="none" strike="noStrike"/>
          </a:p>
        </p:txBody>
      </p:sp>
      <p:sp>
        <p:nvSpPr>
          <p:cNvPr id="155" name="Google Shape;155;p7"/>
          <p:cNvSpPr/>
          <p:nvPr/>
        </p:nvSpPr>
        <p:spPr>
          <a:xfrm>
            <a:off x="793790" y="3237309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It checks if both objects contain the same data, regardless of where they are stored in memory.</a:t>
            </a:r>
            <a:endParaRPr b="0" i="0" sz="1750" u="none" cap="none" strike="noStrike"/>
          </a:p>
        </p:txBody>
      </p:sp>
      <p:sp>
        <p:nvSpPr>
          <p:cNvPr id="156" name="Google Shape;156;p7"/>
          <p:cNvSpPr/>
          <p:nvPr/>
        </p:nvSpPr>
        <p:spPr>
          <a:xfrm>
            <a:off x="793790" y="3855363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1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: == checking value equality.</a:t>
            </a:r>
            <a:endParaRPr b="0" i="0" sz="1750" u="none" cap="none" strike="noStrike"/>
          </a:p>
        </p:txBody>
      </p:sp>
      <p:sp>
        <p:nvSpPr>
          <p:cNvPr id="157" name="Google Shape;157;p7"/>
          <p:cNvSpPr/>
          <p:nvPr/>
        </p:nvSpPr>
        <p:spPr>
          <a:xfrm>
            <a:off x="793790" y="4473416"/>
            <a:ext cx="13042821" cy="2880360"/>
          </a:xfrm>
          <a:prstGeom prst="roundRect">
            <a:avLst>
              <a:gd fmla="val 1181" name="adj"/>
            </a:avLst>
          </a:prstGeom>
          <a:solidFill>
            <a:srgbClr val="F3E3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"/>
          <p:cNvSpPr/>
          <p:nvPr/>
        </p:nvSpPr>
        <p:spPr>
          <a:xfrm>
            <a:off x="782479" y="4473416"/>
            <a:ext cx="13065443" cy="2880360"/>
          </a:xfrm>
          <a:prstGeom prst="roundRect">
            <a:avLst>
              <a:gd fmla="val 1181" name="adj"/>
            </a:avLst>
          </a:prstGeom>
          <a:solidFill>
            <a:srgbClr val="F3E3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"/>
          <p:cNvSpPr/>
          <p:nvPr/>
        </p:nvSpPr>
        <p:spPr>
          <a:xfrm>
            <a:off x="1009293" y="4643438"/>
            <a:ext cx="12611814" cy="25403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a = [1, 2, 3]</a:t>
            </a:r>
            <a:b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b = a</a:t>
            </a:r>
            <a:b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c = [1, 2, 3]</a:t>
            </a:r>
            <a:b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print(a == b)  # True - same values</a:t>
            </a:r>
            <a:b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print(a == c)  # True - same values</a:t>
            </a:r>
            <a:b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</a:br>
            <a:endParaRPr b="0" i="0" sz="1750" u="none" cap="none" strike="noStrike"/>
          </a:p>
        </p:txBody>
      </p:sp>
      <p:pic>
        <p:nvPicPr>
          <p:cNvPr descr="preencoded.png" id="160" name="Google Shape;16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"/>
          <p:cNvSpPr/>
          <p:nvPr/>
        </p:nvSpPr>
        <p:spPr>
          <a:xfrm>
            <a:off x="793790" y="2607231"/>
            <a:ext cx="9452134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Key Differences Between is and ==</a:t>
            </a:r>
            <a:endParaRPr b="0" i="0" sz="4450" u="none" cap="none" strike="noStrike"/>
          </a:p>
        </p:txBody>
      </p:sp>
      <p:sp>
        <p:nvSpPr>
          <p:cNvPr id="167" name="Google Shape;167;p8"/>
          <p:cNvSpPr/>
          <p:nvPr/>
        </p:nvSpPr>
        <p:spPr>
          <a:xfrm>
            <a:off x="793790" y="3656171"/>
            <a:ext cx="13042821" cy="1966198"/>
          </a:xfrm>
          <a:prstGeom prst="roundRect">
            <a:avLst>
              <a:gd fmla="val 1730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8"/>
          <p:cNvSpPr/>
          <p:nvPr/>
        </p:nvSpPr>
        <p:spPr>
          <a:xfrm>
            <a:off x="801410" y="3663791"/>
            <a:ext cx="13027581" cy="650319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"/>
          <p:cNvSpPr/>
          <p:nvPr/>
        </p:nvSpPr>
        <p:spPr>
          <a:xfrm>
            <a:off x="1028224" y="3807500"/>
            <a:ext cx="6056352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Operator</a:t>
            </a:r>
            <a:endParaRPr b="0" i="0" sz="1750" u="none" cap="none" strike="noStrike"/>
          </a:p>
        </p:txBody>
      </p:sp>
      <p:sp>
        <p:nvSpPr>
          <p:cNvPr id="170" name="Google Shape;170;p8"/>
          <p:cNvSpPr/>
          <p:nvPr/>
        </p:nvSpPr>
        <p:spPr>
          <a:xfrm>
            <a:off x="7545824" y="3807500"/>
            <a:ext cx="6056352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Purpose</a:t>
            </a:r>
            <a:endParaRPr b="0" i="0" sz="1750" u="none" cap="none" strike="noStrike"/>
          </a:p>
        </p:txBody>
      </p:sp>
      <p:sp>
        <p:nvSpPr>
          <p:cNvPr id="171" name="Google Shape;171;p8"/>
          <p:cNvSpPr/>
          <p:nvPr/>
        </p:nvSpPr>
        <p:spPr>
          <a:xfrm>
            <a:off x="801410" y="4314111"/>
            <a:ext cx="13027581" cy="650319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"/>
          <p:cNvSpPr/>
          <p:nvPr/>
        </p:nvSpPr>
        <p:spPr>
          <a:xfrm>
            <a:off x="1028224" y="4457819"/>
            <a:ext cx="6056352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is</a:t>
            </a:r>
            <a:endParaRPr b="0" i="0" sz="1750" u="none" cap="none" strike="noStrike"/>
          </a:p>
        </p:txBody>
      </p:sp>
      <p:sp>
        <p:nvSpPr>
          <p:cNvPr id="173" name="Google Shape;173;p8"/>
          <p:cNvSpPr/>
          <p:nvPr/>
        </p:nvSpPr>
        <p:spPr>
          <a:xfrm>
            <a:off x="7545824" y="4457819"/>
            <a:ext cx="6056352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Checks if two objects occupy the same memory location</a:t>
            </a:r>
            <a:endParaRPr b="0" i="0" sz="1750" u="none" cap="none" strike="noStrike"/>
          </a:p>
        </p:txBody>
      </p:sp>
      <p:sp>
        <p:nvSpPr>
          <p:cNvPr id="174" name="Google Shape;174;p8"/>
          <p:cNvSpPr/>
          <p:nvPr/>
        </p:nvSpPr>
        <p:spPr>
          <a:xfrm>
            <a:off x="801410" y="4964430"/>
            <a:ext cx="13027581" cy="650319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8"/>
          <p:cNvSpPr/>
          <p:nvPr/>
        </p:nvSpPr>
        <p:spPr>
          <a:xfrm>
            <a:off x="1028224" y="5108138"/>
            <a:ext cx="6056352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==</a:t>
            </a:r>
            <a:endParaRPr b="0" i="0" sz="1750" u="none" cap="none" strike="noStrike"/>
          </a:p>
        </p:txBody>
      </p:sp>
      <p:sp>
        <p:nvSpPr>
          <p:cNvPr id="176" name="Google Shape;176;p8"/>
          <p:cNvSpPr/>
          <p:nvPr/>
        </p:nvSpPr>
        <p:spPr>
          <a:xfrm>
            <a:off x="7545824" y="5108138"/>
            <a:ext cx="6056352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Checks if two objects have the same values</a:t>
            </a:r>
            <a:endParaRPr b="0" i="0" sz="1750" u="none" cap="none" strike="noStrike"/>
          </a:p>
        </p:txBody>
      </p:sp>
      <p:pic>
        <p:nvPicPr>
          <p:cNvPr descr="preencoded.png" id="177" name="Google Shape;17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"/>
          <p:cNvSpPr/>
          <p:nvPr/>
        </p:nvSpPr>
        <p:spPr>
          <a:xfrm>
            <a:off x="793790" y="2244804"/>
            <a:ext cx="12564189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Real-World Scenarios Where is and == Matter</a:t>
            </a:r>
            <a:endParaRPr b="0" i="0" sz="4450" u="none" cap="none" strike="noStrike"/>
          </a:p>
        </p:txBody>
      </p:sp>
      <p:sp>
        <p:nvSpPr>
          <p:cNvPr id="184" name="Google Shape;184;p9"/>
          <p:cNvSpPr/>
          <p:nvPr/>
        </p:nvSpPr>
        <p:spPr>
          <a:xfrm>
            <a:off x="793790" y="3407212"/>
            <a:ext cx="6408063" cy="2577465"/>
          </a:xfrm>
          <a:prstGeom prst="roundRect">
            <a:avLst>
              <a:gd fmla="val 1320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9"/>
          <p:cNvSpPr/>
          <p:nvPr/>
        </p:nvSpPr>
        <p:spPr>
          <a:xfrm>
            <a:off x="1020604" y="3634026"/>
            <a:ext cx="4277201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Comparing Immutable Objects</a:t>
            </a:r>
            <a:endParaRPr b="0" i="0" sz="2200" u="none" cap="none" strike="noStrike"/>
          </a:p>
        </p:txBody>
      </p:sp>
      <p:sp>
        <p:nvSpPr>
          <p:cNvPr id="186" name="Google Shape;186;p9"/>
          <p:cNvSpPr/>
          <p:nvPr/>
        </p:nvSpPr>
        <p:spPr>
          <a:xfrm>
            <a:off x="1020604" y="4124444"/>
            <a:ext cx="595443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Python caches small integers (-5 to 256) and short strings. This affects "is" comparison results.</a:t>
            </a:r>
            <a:endParaRPr b="0" i="0" sz="1750" u="none" cap="none" strike="noStrike"/>
          </a:p>
        </p:txBody>
      </p:sp>
      <p:sp>
        <p:nvSpPr>
          <p:cNvPr id="187" name="Google Shape;187;p9"/>
          <p:cNvSpPr/>
          <p:nvPr/>
        </p:nvSpPr>
        <p:spPr>
          <a:xfrm>
            <a:off x="1020604" y="4986338"/>
            <a:ext cx="595443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Example: </a:t>
            </a:r>
            <a: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a = 5; b = 5; a is b</a:t>
            </a: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 returns True, but </a:t>
            </a:r>
            <a: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a = 500; b = 500; a is b</a:t>
            </a: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 returns False.</a:t>
            </a:r>
            <a:endParaRPr b="0" i="0" sz="1750" u="none" cap="none" strike="noStrike"/>
          </a:p>
        </p:txBody>
      </p:sp>
      <p:sp>
        <p:nvSpPr>
          <p:cNvPr id="188" name="Google Shape;188;p9"/>
          <p:cNvSpPr/>
          <p:nvPr/>
        </p:nvSpPr>
        <p:spPr>
          <a:xfrm>
            <a:off x="7428667" y="3407212"/>
            <a:ext cx="6408063" cy="2577465"/>
          </a:xfrm>
          <a:prstGeom prst="roundRect">
            <a:avLst>
              <a:gd fmla="val 1320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9"/>
          <p:cNvSpPr/>
          <p:nvPr/>
        </p:nvSpPr>
        <p:spPr>
          <a:xfrm>
            <a:off x="7655481" y="3634026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Working with None</a:t>
            </a:r>
            <a:endParaRPr b="0" i="0" sz="2200" u="none" cap="none" strike="noStrike"/>
          </a:p>
        </p:txBody>
      </p:sp>
      <p:sp>
        <p:nvSpPr>
          <p:cNvPr id="190" name="Google Shape;190;p9"/>
          <p:cNvSpPr/>
          <p:nvPr/>
        </p:nvSpPr>
        <p:spPr>
          <a:xfrm>
            <a:off x="7655481" y="4124444"/>
            <a:ext cx="595443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Always use "is None" instead of "== None" for clarity and performance.</a:t>
            </a:r>
            <a:endParaRPr b="0" i="0" sz="1750" u="none" cap="none" strike="noStrike"/>
          </a:p>
        </p:txBody>
      </p:sp>
      <p:sp>
        <p:nvSpPr>
          <p:cNvPr id="191" name="Google Shape;191;p9"/>
          <p:cNvSpPr/>
          <p:nvPr/>
        </p:nvSpPr>
        <p:spPr>
          <a:xfrm>
            <a:off x="7655481" y="4986338"/>
            <a:ext cx="5954435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Example: </a:t>
            </a:r>
            <a: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if result is None:</a:t>
            </a:r>
            <a:endParaRPr b="0" i="0" sz="1750" u="none" cap="none" strike="noStrike"/>
          </a:p>
        </p:txBody>
      </p:sp>
      <p:pic>
        <p:nvPicPr>
          <p:cNvPr descr="preencoded.png" id="192" name="Google Shape;19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"/>
          <p:cNvSpPr/>
          <p:nvPr/>
        </p:nvSpPr>
        <p:spPr>
          <a:xfrm>
            <a:off x="793790" y="898208"/>
            <a:ext cx="1110365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Real-World Scenario: Checking for None</a:t>
            </a:r>
            <a:endParaRPr b="0" i="0" sz="4450" u="none" cap="none" strike="noStrike"/>
          </a:p>
        </p:txBody>
      </p:sp>
      <p:sp>
        <p:nvSpPr>
          <p:cNvPr id="199" name="Google Shape;199;p10"/>
          <p:cNvSpPr/>
          <p:nvPr/>
        </p:nvSpPr>
        <p:spPr>
          <a:xfrm>
            <a:off x="793790" y="2315766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0"/>
          <p:cNvSpPr/>
          <p:nvPr/>
        </p:nvSpPr>
        <p:spPr>
          <a:xfrm>
            <a:off x="1530906" y="2315766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Preferred Method</a:t>
            </a:r>
            <a:endParaRPr b="0" i="0" sz="2200" u="none" cap="none" strike="noStrike"/>
          </a:p>
        </p:txBody>
      </p:sp>
      <p:sp>
        <p:nvSpPr>
          <p:cNvPr id="201" name="Google Shape;201;p10"/>
          <p:cNvSpPr/>
          <p:nvPr/>
        </p:nvSpPr>
        <p:spPr>
          <a:xfrm>
            <a:off x="1530906" y="2806184"/>
            <a:ext cx="3459242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is</a:t>
            </a: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 operator is the recommended way to check if a variable is </a:t>
            </a:r>
            <a:r>
              <a:rPr b="1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None</a:t>
            </a: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 because it verifies identity, not just equality.</a:t>
            </a:r>
            <a:endParaRPr b="0" i="0" sz="1750" u="none" cap="none" strike="noStrike"/>
          </a:p>
        </p:txBody>
      </p:sp>
      <p:sp>
        <p:nvSpPr>
          <p:cNvPr id="202" name="Google Shape;202;p10"/>
          <p:cNvSpPr/>
          <p:nvPr/>
        </p:nvSpPr>
        <p:spPr>
          <a:xfrm>
            <a:off x="5216962" y="2315766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0"/>
          <p:cNvSpPr/>
          <p:nvPr/>
        </p:nvSpPr>
        <p:spPr>
          <a:xfrm>
            <a:off x="5954078" y="2315766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Correct Syntax</a:t>
            </a:r>
            <a:endParaRPr b="0" i="0" sz="2200" u="none" cap="none" strike="noStrike"/>
          </a:p>
        </p:txBody>
      </p:sp>
      <p:sp>
        <p:nvSpPr>
          <p:cNvPr id="204" name="Google Shape;204;p10"/>
          <p:cNvSpPr/>
          <p:nvPr/>
        </p:nvSpPr>
        <p:spPr>
          <a:xfrm>
            <a:off x="5954078" y="2806184"/>
            <a:ext cx="3459242" cy="1474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if variable is None:</a:t>
            </a: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 ensures you're checking for the exact None object, not just a value that might be equivalent.</a:t>
            </a:r>
            <a:endParaRPr b="0" i="0" sz="1750" u="none" cap="none" strike="noStrike"/>
          </a:p>
        </p:txBody>
      </p:sp>
      <p:sp>
        <p:nvSpPr>
          <p:cNvPr id="205" name="Google Shape;205;p10"/>
          <p:cNvSpPr/>
          <p:nvPr/>
        </p:nvSpPr>
        <p:spPr>
          <a:xfrm>
            <a:off x="9640133" y="2315766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0"/>
          <p:cNvSpPr/>
          <p:nvPr/>
        </p:nvSpPr>
        <p:spPr>
          <a:xfrm>
            <a:off x="10377249" y="2315766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Avoid == with None</a:t>
            </a:r>
            <a:endParaRPr b="0" i="0" sz="2200" u="none" cap="none" strike="noStrike"/>
          </a:p>
        </p:txBody>
      </p:sp>
      <p:sp>
        <p:nvSpPr>
          <p:cNvPr id="207" name="Google Shape;207;p10"/>
          <p:cNvSpPr/>
          <p:nvPr/>
        </p:nvSpPr>
        <p:spPr>
          <a:xfrm>
            <a:off x="10377249" y="2806184"/>
            <a:ext cx="3459242" cy="1497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Using </a:t>
            </a:r>
            <a: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==</a:t>
            </a: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 for None checks is discouraged as it relies on the </a:t>
            </a:r>
            <a: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__eq__</a:t>
            </a: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 method which could be overridden in custom classes.</a:t>
            </a:r>
            <a:endParaRPr b="0" i="0" sz="1750" u="none" cap="none" strike="noStrike"/>
          </a:p>
        </p:txBody>
      </p:sp>
      <p:sp>
        <p:nvSpPr>
          <p:cNvPr id="208" name="Google Shape;208;p10"/>
          <p:cNvSpPr/>
          <p:nvPr/>
        </p:nvSpPr>
        <p:spPr>
          <a:xfrm>
            <a:off x="793790" y="4558665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1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: Properly checking for None in a function.</a:t>
            </a:r>
            <a:endParaRPr b="0" i="0" sz="1750" u="none" cap="none" strike="noStrike"/>
          </a:p>
        </p:txBody>
      </p:sp>
      <p:sp>
        <p:nvSpPr>
          <p:cNvPr id="209" name="Google Shape;209;p10"/>
          <p:cNvSpPr/>
          <p:nvPr/>
        </p:nvSpPr>
        <p:spPr>
          <a:xfrm>
            <a:off x="793790" y="5176718"/>
            <a:ext cx="13042821" cy="2154555"/>
          </a:xfrm>
          <a:prstGeom prst="roundRect">
            <a:avLst>
              <a:gd fmla="val 1579" name="adj"/>
            </a:avLst>
          </a:prstGeom>
          <a:solidFill>
            <a:srgbClr val="F3E3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0"/>
          <p:cNvSpPr/>
          <p:nvPr/>
        </p:nvSpPr>
        <p:spPr>
          <a:xfrm>
            <a:off x="782479" y="5176718"/>
            <a:ext cx="13065443" cy="2154555"/>
          </a:xfrm>
          <a:prstGeom prst="roundRect">
            <a:avLst>
              <a:gd fmla="val 1579" name="adj"/>
            </a:avLst>
          </a:prstGeom>
          <a:solidFill>
            <a:srgbClr val="F3E3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0"/>
          <p:cNvSpPr/>
          <p:nvPr/>
        </p:nvSpPr>
        <p:spPr>
          <a:xfrm>
            <a:off x="1009293" y="5346740"/>
            <a:ext cx="12611814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def process_data(data=None):</a:t>
            </a:r>
            <a:b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    if data is None:</a:t>
            </a:r>
            <a:b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        return "No data provided"</a:t>
            </a:r>
            <a:b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    return "Processing: " + str(data)</a:t>
            </a:r>
            <a:b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</a:br>
            <a:endParaRPr b="0" i="0" sz="1750" u="none" cap="none" strike="noStrike"/>
          </a:p>
        </p:txBody>
      </p:sp>
      <p:pic>
        <p:nvPicPr>
          <p:cNvPr descr="preencoded.png" id="212" name="Google Shape;21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18" name="Google Shape;21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1"/>
          <p:cNvSpPr/>
          <p:nvPr/>
        </p:nvSpPr>
        <p:spPr>
          <a:xfrm>
            <a:off x="6280190" y="983456"/>
            <a:ext cx="75564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Practice Exercise – Local vs Global Variables</a:t>
            </a:r>
            <a:endParaRPr b="0" i="0" sz="4450" u="none" cap="none" strike="noStrike"/>
          </a:p>
        </p:txBody>
      </p:sp>
      <p:sp>
        <p:nvSpPr>
          <p:cNvPr id="220" name="Google Shape;220;p11"/>
          <p:cNvSpPr/>
          <p:nvPr/>
        </p:nvSpPr>
        <p:spPr>
          <a:xfrm>
            <a:off x="6280190" y="2996327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1"/>
          <p:cNvSpPr/>
          <p:nvPr/>
        </p:nvSpPr>
        <p:spPr>
          <a:xfrm>
            <a:off x="7017306" y="299632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Exercise 1</a:t>
            </a:r>
            <a:endParaRPr b="0" i="0" sz="2200" u="none" cap="none" strike="noStrike"/>
          </a:p>
        </p:txBody>
      </p:sp>
      <p:sp>
        <p:nvSpPr>
          <p:cNvPr id="222" name="Google Shape;222;p11"/>
          <p:cNvSpPr/>
          <p:nvPr/>
        </p:nvSpPr>
        <p:spPr>
          <a:xfrm>
            <a:off x="7017306" y="3486745"/>
            <a:ext cx="681930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1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Write a function</a:t>
            </a: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 that modifies a global variable inside a function using global.</a:t>
            </a:r>
            <a:endParaRPr b="0" i="0" sz="1750" u="none" cap="none" strike="noStrike"/>
          </a:p>
        </p:txBody>
      </p:sp>
      <p:sp>
        <p:nvSpPr>
          <p:cNvPr id="223" name="Google Shape;223;p11"/>
          <p:cNvSpPr/>
          <p:nvPr/>
        </p:nvSpPr>
        <p:spPr>
          <a:xfrm>
            <a:off x="6280190" y="4694515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1"/>
          <p:cNvSpPr/>
          <p:nvPr/>
        </p:nvSpPr>
        <p:spPr>
          <a:xfrm>
            <a:off x="7017306" y="4694515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Exercise 2</a:t>
            </a:r>
            <a:endParaRPr b="0" i="0" sz="2200" u="none" cap="none" strike="noStrike"/>
          </a:p>
        </p:txBody>
      </p:sp>
      <p:sp>
        <p:nvSpPr>
          <p:cNvPr id="225" name="Google Shape;225;p11"/>
          <p:cNvSpPr/>
          <p:nvPr/>
        </p:nvSpPr>
        <p:spPr>
          <a:xfrm>
            <a:off x="7017306" y="5184934"/>
            <a:ext cx="681930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1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Implement a nested function</a:t>
            </a: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 that accesses an enclosing variable using nonlocal.</a:t>
            </a:r>
            <a:endParaRPr b="0" i="0" sz="1750" u="none" cap="none" strike="noStrike"/>
          </a:p>
        </p:txBody>
      </p:sp>
      <p:sp>
        <p:nvSpPr>
          <p:cNvPr id="226" name="Google Shape;226;p11"/>
          <p:cNvSpPr/>
          <p:nvPr/>
        </p:nvSpPr>
        <p:spPr>
          <a:xfrm>
            <a:off x="6280190" y="6392704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1"/>
          <p:cNvSpPr/>
          <p:nvPr/>
        </p:nvSpPr>
        <p:spPr>
          <a:xfrm>
            <a:off x="7017306" y="639270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Test Your Code</a:t>
            </a:r>
            <a:endParaRPr b="0" i="0" sz="2200" u="none" cap="none" strike="noStrike"/>
          </a:p>
        </p:txBody>
      </p:sp>
      <p:sp>
        <p:nvSpPr>
          <p:cNvPr id="228" name="Google Shape;228;p11"/>
          <p:cNvSpPr/>
          <p:nvPr/>
        </p:nvSpPr>
        <p:spPr>
          <a:xfrm>
            <a:off x="7017306" y="6883122"/>
            <a:ext cx="681930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Run your functions and observe how the variables change.</a:t>
            </a:r>
            <a:endParaRPr b="0" i="0" sz="1750" u="none" cap="none" strike="noStrike"/>
          </a:p>
        </p:txBody>
      </p:sp>
      <p:pic>
        <p:nvPicPr>
          <p:cNvPr descr="preencoded.png" id="229" name="Google Shape;229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2"/>
          <p:cNvSpPr/>
          <p:nvPr/>
        </p:nvSpPr>
        <p:spPr>
          <a:xfrm>
            <a:off x="793790" y="2130266"/>
            <a:ext cx="7276624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Practice Exercise – is vs ==</a:t>
            </a:r>
            <a:endParaRPr b="0" i="0" sz="4450" u="none" cap="none" strike="noStrike"/>
          </a:p>
        </p:txBody>
      </p:sp>
      <p:sp>
        <p:nvSpPr>
          <p:cNvPr id="236" name="Google Shape;236;p12"/>
          <p:cNvSpPr/>
          <p:nvPr/>
        </p:nvSpPr>
        <p:spPr>
          <a:xfrm>
            <a:off x="793790" y="3547824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2"/>
          <p:cNvSpPr/>
          <p:nvPr/>
        </p:nvSpPr>
        <p:spPr>
          <a:xfrm>
            <a:off x="1530906" y="354782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Exercise 1</a:t>
            </a:r>
            <a:endParaRPr b="0" i="0" sz="2200" u="none" cap="none" strike="noStrike"/>
          </a:p>
        </p:txBody>
      </p:sp>
      <p:sp>
        <p:nvSpPr>
          <p:cNvPr id="238" name="Google Shape;238;p12"/>
          <p:cNvSpPr/>
          <p:nvPr/>
        </p:nvSpPr>
        <p:spPr>
          <a:xfrm>
            <a:off x="1530906" y="4038243"/>
            <a:ext cx="5670947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1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Write a program</a:t>
            </a: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 that creates two identical lists and compares them using is and ==.</a:t>
            </a:r>
            <a:endParaRPr b="0" i="0" sz="1750" u="none" cap="none" strike="noStrike"/>
          </a:p>
        </p:txBody>
      </p:sp>
      <p:sp>
        <p:nvSpPr>
          <p:cNvPr id="239" name="Google Shape;239;p12"/>
          <p:cNvSpPr/>
          <p:nvPr/>
        </p:nvSpPr>
        <p:spPr>
          <a:xfrm>
            <a:off x="7428667" y="3547824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2"/>
          <p:cNvSpPr/>
          <p:nvPr/>
        </p:nvSpPr>
        <p:spPr>
          <a:xfrm>
            <a:off x="8165783" y="354782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Exercise 2</a:t>
            </a:r>
            <a:endParaRPr b="0" i="0" sz="2200" u="none" cap="none" strike="noStrike"/>
          </a:p>
        </p:txBody>
      </p:sp>
      <p:sp>
        <p:nvSpPr>
          <p:cNvPr id="241" name="Google Shape;241;p12"/>
          <p:cNvSpPr/>
          <p:nvPr/>
        </p:nvSpPr>
        <p:spPr>
          <a:xfrm>
            <a:off x="8165783" y="4038243"/>
            <a:ext cx="5670947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1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Check if Python caches small integers</a:t>
            </a: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 (-5 to 256) using is.</a:t>
            </a:r>
            <a:endParaRPr b="0" i="0" sz="1750" u="none" cap="none" strike="noStrike"/>
          </a:p>
        </p:txBody>
      </p:sp>
      <p:sp>
        <p:nvSpPr>
          <p:cNvPr id="242" name="Google Shape;242;p12"/>
          <p:cNvSpPr/>
          <p:nvPr/>
        </p:nvSpPr>
        <p:spPr>
          <a:xfrm>
            <a:off x="793790" y="5246013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2"/>
          <p:cNvSpPr/>
          <p:nvPr/>
        </p:nvSpPr>
        <p:spPr>
          <a:xfrm>
            <a:off x="1530906" y="524601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Verify Results</a:t>
            </a:r>
            <a:endParaRPr b="0" i="0" sz="2200" u="none" cap="none" strike="noStrike"/>
          </a:p>
        </p:txBody>
      </p:sp>
      <p:sp>
        <p:nvSpPr>
          <p:cNvPr id="244" name="Google Shape;244;p12"/>
          <p:cNvSpPr/>
          <p:nvPr/>
        </p:nvSpPr>
        <p:spPr>
          <a:xfrm>
            <a:off x="1530906" y="5736431"/>
            <a:ext cx="1230570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Explain the output of your comparisons.</a:t>
            </a:r>
            <a:endParaRPr b="0" i="0" sz="1750" u="none" cap="none" strike="noStrike"/>
          </a:p>
        </p:txBody>
      </p:sp>
      <p:pic>
        <p:nvPicPr>
          <p:cNvPr descr="preencoded.png" id="245" name="Google Shape;24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3"/>
          <p:cNvSpPr/>
          <p:nvPr/>
        </p:nvSpPr>
        <p:spPr>
          <a:xfrm>
            <a:off x="793790" y="2186940"/>
            <a:ext cx="7375803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Summary of Key Concepts</a:t>
            </a:r>
            <a:endParaRPr b="0" i="0" sz="4450" u="none" cap="none" strike="noStrike"/>
          </a:p>
        </p:txBody>
      </p:sp>
      <p:sp>
        <p:nvSpPr>
          <p:cNvPr id="252" name="Google Shape;252;p13"/>
          <p:cNvSpPr/>
          <p:nvPr/>
        </p:nvSpPr>
        <p:spPr>
          <a:xfrm>
            <a:off x="793790" y="3491032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3"/>
          <p:cNvSpPr/>
          <p:nvPr/>
        </p:nvSpPr>
        <p:spPr>
          <a:xfrm>
            <a:off x="1530906" y="349103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Variable Scope</a:t>
            </a:r>
            <a:endParaRPr b="0" i="0" sz="2200" u="none" cap="none" strike="noStrike"/>
          </a:p>
        </p:txBody>
      </p:sp>
      <p:sp>
        <p:nvSpPr>
          <p:cNvPr id="254" name="Google Shape;254;p13"/>
          <p:cNvSpPr/>
          <p:nvPr/>
        </p:nvSpPr>
        <p:spPr>
          <a:xfrm>
            <a:off x="1530906" y="3981450"/>
            <a:ext cx="5670947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1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Global variables</a:t>
            </a: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 can be accessed everywhere, </a:t>
            </a:r>
            <a:r>
              <a:rPr b="1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local variables</a:t>
            </a: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 are function-specific.</a:t>
            </a:r>
            <a:endParaRPr b="0" i="0" sz="1750" u="none" cap="none" strike="noStrike"/>
          </a:p>
        </p:txBody>
      </p:sp>
      <p:sp>
        <p:nvSpPr>
          <p:cNvPr id="255" name="Google Shape;255;p13"/>
          <p:cNvSpPr/>
          <p:nvPr/>
        </p:nvSpPr>
        <p:spPr>
          <a:xfrm>
            <a:off x="7428667" y="3491032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3"/>
          <p:cNvSpPr/>
          <p:nvPr/>
        </p:nvSpPr>
        <p:spPr>
          <a:xfrm>
            <a:off x="8165783" y="3491032"/>
            <a:ext cx="3187422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Comparison Operators</a:t>
            </a:r>
            <a:endParaRPr b="0" i="0" sz="2200" u="none" cap="none" strike="noStrike"/>
          </a:p>
        </p:txBody>
      </p:sp>
      <p:sp>
        <p:nvSpPr>
          <p:cNvPr id="257" name="Google Shape;257;p13"/>
          <p:cNvSpPr/>
          <p:nvPr/>
        </p:nvSpPr>
        <p:spPr>
          <a:xfrm>
            <a:off x="8165783" y="3981450"/>
            <a:ext cx="567094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1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is</a:t>
            </a: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 compares </a:t>
            </a:r>
            <a:r>
              <a:rPr b="1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object identity</a:t>
            </a: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==</a:t>
            </a: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 compares </a:t>
            </a:r>
            <a:r>
              <a:rPr b="1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values</a:t>
            </a: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750" u="none" cap="none" strike="noStrike"/>
          </a:p>
        </p:txBody>
      </p:sp>
      <p:sp>
        <p:nvSpPr>
          <p:cNvPr id="258" name="Google Shape;258;p13"/>
          <p:cNvSpPr/>
          <p:nvPr/>
        </p:nvSpPr>
        <p:spPr>
          <a:xfrm>
            <a:off x="793790" y="5189220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3"/>
          <p:cNvSpPr/>
          <p:nvPr/>
        </p:nvSpPr>
        <p:spPr>
          <a:xfrm>
            <a:off x="1530906" y="518922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Modifying Globals</a:t>
            </a:r>
            <a:endParaRPr b="0" i="0" sz="2200" u="none" cap="none" strike="noStrike"/>
          </a:p>
        </p:txBody>
      </p:sp>
      <p:sp>
        <p:nvSpPr>
          <p:cNvPr id="260" name="Google Shape;260;p13"/>
          <p:cNvSpPr/>
          <p:nvPr/>
        </p:nvSpPr>
        <p:spPr>
          <a:xfrm>
            <a:off x="1530906" y="5679638"/>
            <a:ext cx="567094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1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Use global</a:t>
            </a: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 to modify global variables inside a function.</a:t>
            </a:r>
            <a:endParaRPr b="0" i="0" sz="1750" u="none" cap="none" strike="noStrike"/>
          </a:p>
        </p:txBody>
      </p:sp>
      <p:sp>
        <p:nvSpPr>
          <p:cNvPr id="261" name="Google Shape;261;p13"/>
          <p:cNvSpPr/>
          <p:nvPr/>
        </p:nvSpPr>
        <p:spPr>
          <a:xfrm>
            <a:off x="7428667" y="5189220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3"/>
          <p:cNvSpPr/>
          <p:nvPr/>
        </p:nvSpPr>
        <p:spPr>
          <a:xfrm>
            <a:off x="8165783" y="518922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Best Practices</a:t>
            </a:r>
            <a:endParaRPr b="0" i="0" sz="2200" u="none" cap="none" strike="noStrike"/>
          </a:p>
        </p:txBody>
      </p:sp>
      <p:sp>
        <p:nvSpPr>
          <p:cNvPr id="263" name="Google Shape;263;p13"/>
          <p:cNvSpPr/>
          <p:nvPr/>
        </p:nvSpPr>
        <p:spPr>
          <a:xfrm>
            <a:off x="8165783" y="5679638"/>
            <a:ext cx="567094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Prefer local variables, minimize global ones.</a:t>
            </a:r>
            <a:endParaRPr b="0" i="0" sz="1750" u="none" cap="none" strike="noStrike"/>
          </a:p>
        </p:txBody>
      </p:sp>
      <p:pic>
        <p:nvPicPr>
          <p:cNvPr descr="preencoded.png" id="264" name="Google Shape;26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4"/>
          <p:cNvSpPr/>
          <p:nvPr/>
        </p:nvSpPr>
        <p:spPr>
          <a:xfrm>
            <a:off x="793790" y="1510308"/>
            <a:ext cx="683895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Conclusion &amp; Next Steps</a:t>
            </a:r>
            <a:endParaRPr b="0" i="0" sz="4450" u="none" cap="none" strike="noStrike"/>
          </a:p>
        </p:txBody>
      </p:sp>
      <p:pic>
        <p:nvPicPr>
          <p:cNvPr descr="preencoded.png" id="271" name="Google Shape;27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2672715"/>
            <a:ext cx="4120753" cy="2546747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14"/>
          <p:cNvSpPr/>
          <p:nvPr/>
        </p:nvSpPr>
        <p:spPr>
          <a:xfrm>
            <a:off x="793790" y="5502950"/>
            <a:ext cx="2892981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Master the Concepts</a:t>
            </a:r>
            <a:endParaRPr b="0" i="0" sz="2200" u="none" cap="none" strike="noStrike"/>
          </a:p>
        </p:txBody>
      </p:sp>
      <p:sp>
        <p:nvSpPr>
          <p:cNvPr id="273" name="Google Shape;273;p14"/>
          <p:cNvSpPr/>
          <p:nvPr/>
        </p:nvSpPr>
        <p:spPr>
          <a:xfrm>
            <a:off x="793790" y="5993368"/>
            <a:ext cx="4120753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Master variable scope and comparison operators in Python.</a:t>
            </a:r>
            <a:endParaRPr b="0" i="0" sz="1750" u="none" cap="none" strike="noStrike"/>
          </a:p>
        </p:txBody>
      </p:sp>
      <p:pic>
        <p:nvPicPr>
          <p:cNvPr descr="preencoded.png" id="274" name="Google Shape;27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54704" y="2672715"/>
            <a:ext cx="4120872" cy="2546866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14"/>
          <p:cNvSpPr/>
          <p:nvPr/>
        </p:nvSpPr>
        <p:spPr>
          <a:xfrm>
            <a:off x="5254704" y="5503069"/>
            <a:ext cx="3166110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Practice Makes Perfect</a:t>
            </a:r>
            <a:endParaRPr b="0" i="0" sz="2200" u="none" cap="none" strike="noStrike"/>
          </a:p>
        </p:txBody>
      </p:sp>
      <p:sp>
        <p:nvSpPr>
          <p:cNvPr id="276" name="Google Shape;276;p14"/>
          <p:cNvSpPr/>
          <p:nvPr/>
        </p:nvSpPr>
        <p:spPr>
          <a:xfrm>
            <a:off x="5254704" y="5993487"/>
            <a:ext cx="4120872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1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Next Step:</a:t>
            </a: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 Practice writing code using is, ==, and managing variables.</a:t>
            </a:r>
            <a:endParaRPr b="0" i="0" sz="1750" u="none" cap="none" strike="noStrike"/>
          </a:p>
        </p:txBody>
      </p:sp>
      <p:pic>
        <p:nvPicPr>
          <p:cNvPr descr="preencoded.png" id="277" name="Google Shape;27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15738" y="2672715"/>
            <a:ext cx="4120753" cy="2546747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14"/>
          <p:cNvSpPr/>
          <p:nvPr/>
        </p:nvSpPr>
        <p:spPr>
          <a:xfrm>
            <a:off x="9715738" y="5502950"/>
            <a:ext cx="2843093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Keep Experimenting</a:t>
            </a:r>
            <a:endParaRPr b="0" i="0" sz="2200" u="none" cap="none" strike="noStrike"/>
          </a:p>
        </p:txBody>
      </p:sp>
      <p:sp>
        <p:nvSpPr>
          <p:cNvPr id="279" name="Google Shape;279;p14"/>
          <p:cNvSpPr/>
          <p:nvPr/>
        </p:nvSpPr>
        <p:spPr>
          <a:xfrm>
            <a:off x="9715738" y="5993368"/>
            <a:ext cx="412075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Keep experimenting with Python!</a:t>
            </a:r>
            <a:endParaRPr b="0" i="0" sz="1750" u="none" cap="none" strike="noStrike"/>
          </a:p>
        </p:txBody>
      </p:sp>
      <p:pic>
        <p:nvPicPr>
          <p:cNvPr descr="preencoded.png" id="280" name="Google Shape;28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2025-03-19T07:11:31Z</dcterms:created>
  <dc:creator>PptxGenJS</dc:creator>
</cp:coreProperties>
</file>